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embeddedFontLst>
    <p:embeddedFont>
      <p:font typeface="Geist"/>
      <p:regular r:id="rId31"/>
    </p:embeddedFont>
    <p:embeddedFont>
      <p:font typeface="Unbounded"/>
      <p:regular r:id="rId32"/>
    </p:embeddedFont>
    <p:embeddedFont>
      <p:font typeface="Inter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rId31.fntdata"/><Relationship Id="rId32" Type="http://schemas.openxmlformats.org/officeDocument/2006/relationships/font" Target="fonts/rId32.fntdata"/><Relationship Id="rId33" Type="http://schemas.openxmlformats.org/officeDocument/2006/relationships/font" Target="fonts/rId3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162" y="0"/>
            <a:ext cx="9124949" cy="5133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1589" t="0" b="3571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509837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9144000" y="-2509837"/>
            <a:ext cx="2857500" cy="2857500"/>
          </a:xfrm>
          <a:prstGeom prst="ellipse">
            <a:avLst/>
          </a:prstGeom>
          <a:solidFill>
            <a:srgbClr val="FF00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1490663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633663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657225"/>
            <a:ext cx="8382000" cy="661988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81000" y="657225"/>
            <a:ext cx="21478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98" b="1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ARQUITETURA INICIAL - SPRINT 1</a:t>
            </a:r>
            <a:endParaRPr lang="en-US" sz="998" dirty="0"/>
          </a:p>
        </p:txBody>
      </p:sp>
      <p:sp>
        <p:nvSpPr>
          <p:cNvPr id="8" name="Text 6"/>
          <p:cNvSpPr/>
          <p:nvPr/>
        </p:nvSpPr>
        <p:spPr>
          <a:xfrm>
            <a:off x="381000" y="904875"/>
            <a:ext cx="8382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2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Oque construímos inicialmente</a:t>
            </a:r>
            <a:endParaRPr lang="en-US" sz="2494" dirty="0"/>
          </a:p>
        </p:txBody>
      </p:sp>
      <p:sp>
        <p:nvSpPr>
          <p:cNvPr id="9" name="Shape 7"/>
          <p:cNvSpPr/>
          <p:nvPr/>
        </p:nvSpPr>
        <p:spPr>
          <a:xfrm>
            <a:off x="1626394" y="1700213"/>
            <a:ext cx="1381125" cy="1085850"/>
          </a:xfrm>
          <a:prstGeom prst="roundRect">
            <a:avLst>
              <a:gd name="adj" fmla="val 13474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2656" y="1852612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22222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59806" y="1909762"/>
            <a:ext cx="114300" cy="1143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26394" y="2157413"/>
            <a:ext cx="1381125" cy="476250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1626394" y="2157413"/>
            <a:ext cx="1381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7"/>
              </a:lnSpc>
              <a:buNone/>
            </a:pP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Api Gateway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3150394" y="2205038"/>
            <a:ext cx="495300" cy="762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3150394" y="2243138"/>
            <a:ext cx="381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69494" y="2205038"/>
            <a:ext cx="76200" cy="762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788569" y="1700213"/>
            <a:ext cx="1476375" cy="1085850"/>
          </a:xfrm>
          <a:prstGeom prst="roundRect">
            <a:avLst>
              <a:gd name="adj" fmla="val 13474"/>
            </a:avLst>
          </a:prstGeom>
          <a:solidFill>
            <a:srgbClr val="111115"/>
          </a:solidFill>
          <a:ln w="4524">
            <a:solidFill>
              <a:srgbClr val="FF00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2456" y="1852612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33000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69606" y="1909762"/>
            <a:ext cx="114300" cy="1143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71963" y="2157413"/>
            <a:ext cx="5095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buNone/>
            </a:pP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SQS</a:t>
            </a:r>
            <a:endParaRPr lang="en-US" sz="1425" dirty="0"/>
          </a:p>
        </p:txBody>
      </p:sp>
      <p:sp>
        <p:nvSpPr>
          <p:cNvPr id="21" name="Shape 16"/>
          <p:cNvSpPr/>
          <p:nvPr/>
        </p:nvSpPr>
        <p:spPr>
          <a:xfrm>
            <a:off x="5407819" y="2205038"/>
            <a:ext cx="495300" cy="76200"/>
          </a:xfrm>
          <a:prstGeom prst="rect">
            <a:avLst/>
          </a:prstGeom>
          <a:noFill/>
          <a:ln/>
        </p:spPr>
      </p:sp>
      <p:sp>
        <p:nvSpPr>
          <p:cNvPr id="22" name="Shape 17"/>
          <p:cNvSpPr/>
          <p:nvPr/>
        </p:nvSpPr>
        <p:spPr>
          <a:xfrm>
            <a:off x="5407819" y="2243138"/>
            <a:ext cx="381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26919" y="2205038"/>
            <a:ext cx="76200" cy="76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045994" y="1700213"/>
            <a:ext cx="1466850" cy="1085850"/>
          </a:xfrm>
          <a:prstGeom prst="roundRect">
            <a:avLst>
              <a:gd name="adj" fmla="val 13474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65119" y="1852612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22222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22269" y="1909762"/>
            <a:ext cx="114300" cy="1143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260306" y="2157413"/>
            <a:ext cx="1038225" cy="476250"/>
          </a:xfrm>
          <a:prstGeom prst="rect">
            <a:avLst/>
          </a:prstGeom>
          <a:noFill/>
          <a:ln/>
        </p:spPr>
      </p:sp>
      <p:sp>
        <p:nvSpPr>
          <p:cNvPr id="28" name="Text 21"/>
          <p:cNvSpPr/>
          <p:nvPr/>
        </p:nvSpPr>
        <p:spPr>
          <a:xfrm>
            <a:off x="6260306" y="2157413"/>
            <a:ext cx="1038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buNone/>
            </a:pP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Fargate Worker</a:t>
            </a:r>
            <a:endParaRPr lang="en-US" sz="1425" dirty="0"/>
          </a:p>
        </p:txBody>
      </p:sp>
      <p:sp>
        <p:nvSpPr>
          <p:cNvPr id="29" name="Shape 22"/>
          <p:cNvSpPr/>
          <p:nvPr/>
        </p:nvSpPr>
        <p:spPr>
          <a:xfrm>
            <a:off x="1519238" y="3500438"/>
            <a:ext cx="1595438" cy="781050"/>
          </a:xfrm>
          <a:prstGeom prst="roundRect">
            <a:avLst>
              <a:gd name="adj" fmla="val 18732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202656" y="3652838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22222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259806" y="3709988"/>
            <a:ext cx="114300" cy="1143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624013" y="3957638"/>
            <a:ext cx="1385888" cy="476250"/>
          </a:xfrm>
          <a:prstGeom prst="rect">
            <a:avLst/>
          </a:prstGeom>
          <a:noFill/>
          <a:ln/>
        </p:spPr>
      </p:sp>
      <p:sp>
        <p:nvSpPr>
          <p:cNvPr id="33" name="Text 25"/>
          <p:cNvSpPr/>
          <p:nvPr/>
        </p:nvSpPr>
        <p:spPr>
          <a:xfrm>
            <a:off x="1624013" y="3957638"/>
            <a:ext cx="138588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7"/>
              </a:lnSpc>
              <a:buNone/>
            </a:pP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DynamoDB</a:t>
            </a:r>
            <a:endParaRPr lang="en-US" sz="1425" dirty="0"/>
          </a:p>
        </p:txBody>
      </p:sp>
      <p:sp>
        <p:nvSpPr>
          <p:cNvPr id="34" name="Shape 26"/>
          <p:cNvSpPr/>
          <p:nvPr/>
        </p:nvSpPr>
        <p:spPr>
          <a:xfrm>
            <a:off x="3257550" y="3852863"/>
            <a:ext cx="495300" cy="76200"/>
          </a:xfrm>
          <a:prstGeom prst="rect">
            <a:avLst/>
          </a:prstGeom>
          <a:noFill/>
          <a:ln/>
        </p:spPr>
      </p:sp>
      <p:sp>
        <p:nvSpPr>
          <p:cNvPr id="35" name="Shape 27"/>
          <p:cNvSpPr/>
          <p:nvPr/>
        </p:nvSpPr>
        <p:spPr>
          <a:xfrm>
            <a:off x="3257550" y="3890962"/>
            <a:ext cx="381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676650" y="3852863"/>
            <a:ext cx="76200" cy="76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3895725" y="3348038"/>
            <a:ext cx="1476375" cy="1085850"/>
          </a:xfrm>
          <a:prstGeom prst="roundRect">
            <a:avLst>
              <a:gd name="adj" fmla="val 13474"/>
            </a:avLst>
          </a:prstGeom>
          <a:solidFill>
            <a:srgbClr val="111115"/>
          </a:solidFill>
          <a:ln w="4524">
            <a:solidFill>
              <a:srgbClr val="FF0000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4519613" y="3500438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222228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76763" y="3557588"/>
            <a:ext cx="114300" cy="1143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133850" y="3805237"/>
            <a:ext cx="1000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buNone/>
            </a:pP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Lambda</a:t>
            </a:r>
            <a:endParaRPr lang="en-US" sz="1425" dirty="0"/>
          </a:p>
        </p:txBody>
      </p:sp>
      <p:sp>
        <p:nvSpPr>
          <p:cNvPr id="41" name="Shape 31"/>
          <p:cNvSpPr/>
          <p:nvPr/>
        </p:nvSpPr>
        <p:spPr>
          <a:xfrm>
            <a:off x="5514975" y="3852863"/>
            <a:ext cx="495300" cy="76200"/>
          </a:xfrm>
          <a:prstGeom prst="rect">
            <a:avLst/>
          </a:prstGeom>
          <a:noFill/>
          <a:ln/>
        </p:spPr>
      </p:sp>
      <p:sp>
        <p:nvSpPr>
          <p:cNvPr id="42" name="Shape 32"/>
          <p:cNvSpPr/>
          <p:nvPr/>
        </p:nvSpPr>
        <p:spPr>
          <a:xfrm>
            <a:off x="5514975" y="3890962"/>
            <a:ext cx="381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934075" y="3852863"/>
            <a:ext cx="76200" cy="762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6153150" y="3348038"/>
            <a:ext cx="1466850" cy="1085850"/>
          </a:xfrm>
          <a:prstGeom prst="roundRect">
            <a:avLst>
              <a:gd name="adj" fmla="val 13474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6772275" y="3500438"/>
            <a:ext cx="228600" cy="228600"/>
          </a:xfrm>
          <a:prstGeom prst="roundRect">
            <a:avLst>
              <a:gd name="adj" fmla="val 96000"/>
            </a:avLst>
          </a:prstGeom>
          <a:solidFill>
            <a:srgbClr val="222228"/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829425" y="3557588"/>
            <a:ext cx="114300" cy="11430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324600" y="3805237"/>
            <a:ext cx="11239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buNone/>
            </a:pP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</a:t>
            </a:r>
            <a:endParaRPr lang="en-US" sz="1425" dirty="0"/>
          </a:p>
        </p:txBody>
      </p:sp>
      <p:sp>
        <p:nvSpPr>
          <p:cNvPr id="48" name="Shape 36"/>
          <p:cNvSpPr/>
          <p:nvPr/>
        </p:nvSpPr>
        <p:spPr>
          <a:xfrm rot="5400000">
            <a:off x="2176463" y="3243263"/>
            <a:ext cx="400050" cy="76200"/>
          </a:xfrm>
          <a:prstGeom prst="rect">
            <a:avLst/>
          </a:prstGeom>
          <a:noFill/>
          <a:ln/>
        </p:spPr>
      </p:sp>
      <p:sp>
        <p:nvSpPr>
          <p:cNvPr id="49" name="Shape 37"/>
          <p:cNvSpPr/>
          <p:nvPr/>
        </p:nvSpPr>
        <p:spPr>
          <a:xfrm rot="5400000">
            <a:off x="2185988" y="3271838"/>
            <a:ext cx="381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338388" y="3500438"/>
            <a:ext cx="76200" cy="76200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 rot="-11149">
            <a:off x="2376488" y="3071813"/>
            <a:ext cx="4405336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5600700" y="3871913"/>
            <a:ext cx="6915150" cy="3810000"/>
          </a:xfrm>
          <a:prstGeom prst="ellipse">
            <a:avLst/>
          </a:prstGeom>
          <a:solidFill>
            <a:srgbClr val="FF0000">
              <a:alpha val="15000"/>
            </a:srgbClr>
          </a:solidFill>
          <a:ln/>
        </p:spPr>
      </p:sp>
      <p:sp>
        <p:nvSpPr>
          <p:cNvPr id="53" name="Shape 40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54" name="Shape 41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56" name="Shape 42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57" name="Text 43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58" name="Text 44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59" name="Shape 45"/>
          <p:cNvSpPr/>
          <p:nvPr/>
        </p:nvSpPr>
        <p:spPr>
          <a:xfrm>
            <a:off x="6781800" y="2690813"/>
            <a:ext cx="0" cy="381000"/>
          </a:xfrm>
          <a:prstGeom prst="rect">
            <a:avLst/>
          </a:prstGeom>
          <a:noFill/>
          <a:ln/>
        </p:spPr>
      </p:sp>
      <p:sp>
        <p:nvSpPr>
          <p:cNvPr id="60" name="Shape 46"/>
          <p:cNvSpPr/>
          <p:nvPr/>
        </p:nvSpPr>
        <p:spPr>
          <a:xfrm rot="5400000">
            <a:off x="6591300" y="2881313"/>
            <a:ext cx="381000" cy="0"/>
          </a:xfrm>
          <a:prstGeom prst="rect">
            <a:avLst/>
          </a:prstGeom>
          <a:noFill/>
          <a:ln/>
        </p:spPr>
      </p:sp>
      <p:sp>
        <p:nvSpPr>
          <p:cNvPr id="61" name="Shape 47"/>
          <p:cNvSpPr/>
          <p:nvPr/>
        </p:nvSpPr>
        <p:spPr>
          <a:xfrm rot="5400000">
            <a:off x="6591300" y="2881313"/>
            <a:ext cx="381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71688" y="252413"/>
            <a:ext cx="5133975" cy="4891088"/>
          </a:xfrm>
          <a:prstGeom prst="ellipse">
            <a:avLst/>
          </a:prstGeom>
          <a:solidFill>
            <a:srgbClr val="FF00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19300" y="423863"/>
            <a:ext cx="5238750" cy="216217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2019300" y="995363"/>
            <a:ext cx="523875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43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Reformulação da Arquitetura</a:t>
            </a:r>
            <a:endParaRPr lang="en-US" sz="2494" dirty="0"/>
          </a:p>
        </p:txBody>
      </p:sp>
      <p:sp>
        <p:nvSpPr>
          <p:cNvPr id="5" name="Shape 3"/>
          <p:cNvSpPr/>
          <p:nvPr/>
        </p:nvSpPr>
        <p:spPr>
          <a:xfrm>
            <a:off x="2019300" y="1957388"/>
            <a:ext cx="5238750" cy="5715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4095750" y="1985963"/>
            <a:ext cx="47625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0100" y="1957388"/>
            <a:ext cx="57150" cy="5715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705350" y="1985963"/>
            <a:ext cx="47625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52700" y="2119313"/>
            <a:ext cx="4167188" cy="22669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2917031" y="2309813"/>
            <a:ext cx="1538288" cy="1885950"/>
          </a:xfrm>
          <a:prstGeom prst="roundRect">
            <a:avLst>
              <a:gd name="adj" fmla="val 9511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9431" y="2462213"/>
            <a:ext cx="123348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8"/>
              </a:lnSpc>
              <a:buNone/>
            </a:pPr>
            <a:r>
              <a:rPr lang="en-US" sz="160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Sprint 1</a:t>
            </a:r>
            <a:endParaRPr lang="en-US" sz="1603" dirty="0"/>
          </a:p>
        </p:txBody>
      </p:sp>
      <p:sp>
        <p:nvSpPr>
          <p:cNvPr id="12" name="Text 10"/>
          <p:cNvSpPr/>
          <p:nvPr/>
        </p:nvSpPr>
        <p:spPr>
          <a:xfrm>
            <a:off x="3069431" y="3014663"/>
            <a:ext cx="1233488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Infraestrutura para coleta de dados</a:t>
            </a:r>
            <a:endParaRPr lang="en-US" sz="1354" dirty="0"/>
          </a:p>
        </p:txBody>
      </p:sp>
      <p:sp>
        <p:nvSpPr>
          <p:cNvPr id="13" name="Shape 11"/>
          <p:cNvSpPr/>
          <p:nvPr/>
        </p:nvSpPr>
        <p:spPr>
          <a:xfrm>
            <a:off x="4598194" y="3214688"/>
            <a:ext cx="76200" cy="76200"/>
          </a:xfrm>
          <a:prstGeom prst="rect">
            <a:avLst/>
          </a:prstGeom>
          <a:noFill/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98194" y="3214688"/>
            <a:ext cx="76200" cy="76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817269" y="2309813"/>
            <a:ext cx="1538288" cy="1885950"/>
          </a:xfrm>
          <a:prstGeom prst="roundRect">
            <a:avLst>
              <a:gd name="adj" fmla="val 9511"/>
            </a:avLst>
          </a:prstGeom>
          <a:solidFill>
            <a:srgbClr val="111115"/>
          </a:solidFill>
          <a:ln/>
        </p:spPr>
      </p:sp>
      <p:sp>
        <p:nvSpPr>
          <p:cNvPr id="16" name="Text 13"/>
          <p:cNvSpPr/>
          <p:nvPr/>
        </p:nvSpPr>
        <p:spPr>
          <a:xfrm>
            <a:off x="5048250" y="2443163"/>
            <a:ext cx="1071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60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Sprint 2</a:t>
            </a:r>
            <a:endParaRPr lang="en-US" sz="1603" dirty="0"/>
          </a:p>
        </p:txBody>
      </p:sp>
      <p:sp>
        <p:nvSpPr>
          <p:cNvPr id="17" name="Text 14"/>
          <p:cNvSpPr/>
          <p:nvPr/>
        </p:nvSpPr>
        <p:spPr>
          <a:xfrm>
            <a:off x="4991100" y="3071813"/>
            <a:ext cx="12334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Dados já está em produção</a:t>
            </a:r>
            <a:endParaRPr lang="en-US" sz="1354" dirty="0"/>
          </a:p>
        </p:txBody>
      </p:sp>
      <p:sp>
        <p:nvSpPr>
          <p:cNvPr id="18" name="Shape 15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19" name="Shape 16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22" name="Text 18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23" name="Text 19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0" y="666750"/>
            <a:ext cx="3810000" cy="3810000"/>
          </a:xfrm>
          <a:prstGeom prst="ellipse">
            <a:avLst/>
          </a:prstGeom>
          <a:solidFill>
            <a:srgbClr val="FF00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288" y="0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14288" y="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88" y="467591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88" y="935182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88" y="1402773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88" y="1870364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88" y="2337954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88" y="280554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288" y="3273136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88" y="3740727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88" y="4208318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288" y="4675909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88" y="514350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838325"/>
            <a:ext cx="6853238" cy="1800225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1712119" y="1838325"/>
            <a:ext cx="57150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43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pergunta-solução mudou.</a:t>
            </a:r>
            <a:endParaRPr lang="en-US" sz="2494" dirty="0"/>
          </a:p>
        </p:txBody>
      </p:sp>
      <p:sp>
        <p:nvSpPr>
          <p:cNvPr id="18" name="Shape 16"/>
          <p:cNvSpPr/>
          <p:nvPr/>
        </p:nvSpPr>
        <p:spPr>
          <a:xfrm>
            <a:off x="1143000" y="2724150"/>
            <a:ext cx="6853238" cy="5715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3740944" y="2752725"/>
            <a:ext cx="762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41044" y="2724150"/>
            <a:ext cx="57150" cy="5715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294" y="2752725"/>
            <a:ext cx="762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933700"/>
            <a:ext cx="685323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1"/>
              </a:lnSpc>
              <a:buNone/>
            </a:pPr>
            <a:r>
              <a:rPr lang="en-US" sz="213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Como vamos receber e armazenar esses dados?</a:t>
            </a:r>
            <a:endParaRPr lang="en-US" sz="2138" dirty="0"/>
          </a:p>
        </p:txBody>
      </p:sp>
      <p:sp>
        <p:nvSpPr>
          <p:cNvPr id="23" name="Shape 2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27" name="Text 2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28" name="Text 2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-952500"/>
            <a:ext cx="2857500" cy="2857500"/>
          </a:xfrm>
          <a:prstGeom prst="ellipse">
            <a:avLst/>
          </a:prstGeom>
          <a:solidFill>
            <a:srgbClr val="FF00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1950" y="490538"/>
            <a:ext cx="8382000" cy="4162425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61950" y="490538"/>
            <a:ext cx="8382000" cy="504825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623888" y="661988"/>
            <a:ext cx="8382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2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Como o Argus realmente funciona?</a:t>
            </a:r>
            <a:endParaRPr lang="en-US" sz="2494" dirty="0"/>
          </a:p>
        </p:txBody>
      </p:sp>
      <p:sp>
        <p:nvSpPr>
          <p:cNvPr id="6" name="Shape 4"/>
          <p:cNvSpPr/>
          <p:nvPr/>
        </p:nvSpPr>
        <p:spPr>
          <a:xfrm>
            <a:off x="1076325" y="1319213"/>
            <a:ext cx="1471613" cy="305276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676775" y="2181225"/>
            <a:ext cx="1471613" cy="1271588"/>
          </a:xfrm>
          <a:prstGeom prst="roundRect">
            <a:avLst/>
          </a:prstGeom>
          <a:noFill/>
          <a:ln w="18097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95625" y="2352675"/>
            <a:ext cx="1347788" cy="919162"/>
          </a:xfrm>
          <a:prstGeom prst="roundRect">
            <a:avLst/>
          </a:prstGeom>
          <a:noFill/>
          <a:ln w="18097">
            <a:solidFill>
              <a:srgbClr val="60FB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81750" y="2376488"/>
            <a:ext cx="1814513" cy="919162"/>
          </a:xfrm>
          <a:prstGeom prst="roundRect">
            <a:avLst/>
          </a:prstGeom>
          <a:noFill/>
          <a:ln w="18097">
            <a:solidFill>
              <a:srgbClr val="FF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2376487" y="1404938"/>
            <a:ext cx="83820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FONTES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-419100" y="1895475"/>
            <a:ext cx="8382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3"/>
              </a:lnSpc>
              <a:buNone/>
            </a:pPr>
            <a:r>
              <a:rPr lang="en-US" sz="962" dirty="0">
                <a:solidFill>
                  <a:srgbClr val="00FF6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CAMADA CANÔNICA</a:t>
            </a:r>
            <a:endParaRPr lang="en-US" sz="962" dirty="0"/>
          </a:p>
        </p:txBody>
      </p:sp>
      <p:sp>
        <p:nvSpPr>
          <p:cNvPr id="12" name="Text 10"/>
          <p:cNvSpPr/>
          <p:nvPr/>
        </p:nvSpPr>
        <p:spPr>
          <a:xfrm>
            <a:off x="1223963" y="1943100"/>
            <a:ext cx="8382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3"/>
              </a:lnSpc>
              <a:buNone/>
            </a:pPr>
            <a:r>
              <a:rPr lang="en-US" sz="962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GROUND TRUTH</a:t>
            </a:r>
            <a:endParaRPr lang="en-US" sz="962" dirty="0"/>
          </a:p>
        </p:txBody>
      </p:sp>
      <p:sp>
        <p:nvSpPr>
          <p:cNvPr id="13" name="Text 11"/>
          <p:cNvSpPr/>
          <p:nvPr/>
        </p:nvSpPr>
        <p:spPr>
          <a:xfrm>
            <a:off x="3100388" y="2157413"/>
            <a:ext cx="8382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3"/>
              </a:lnSpc>
              <a:buNone/>
            </a:pPr>
            <a:r>
              <a:rPr lang="en-US" sz="962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SAÍDA</a:t>
            </a:r>
            <a:endParaRPr lang="en-US" sz="962" dirty="0"/>
          </a:p>
        </p:txBody>
      </p:sp>
      <p:sp>
        <p:nvSpPr>
          <p:cNvPr id="14" name="Text 12"/>
          <p:cNvSpPr/>
          <p:nvPr/>
        </p:nvSpPr>
        <p:spPr>
          <a:xfrm>
            <a:off x="1281113" y="2000250"/>
            <a:ext cx="1047750" cy="1233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Prometheus</a:t>
            </a:r>
            <a:endParaRPr lang="en-US" sz="1069" dirty="0"/>
          </a:p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Apollo</a:t>
            </a:r>
            <a:endParaRPr lang="en-US" sz="1069" dirty="0"/>
          </a:p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New Relic</a:t>
            </a:r>
            <a:endParaRPr lang="en-US" sz="1069" dirty="0"/>
          </a:p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RPaaS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3186113" y="2524125"/>
            <a:ext cx="1171575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signal_point</a:t>
            </a:r>
            <a:endParaRPr lang="en-US" sz="1069" dirty="0"/>
          </a:p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signal_bucket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4852988" y="2528888"/>
            <a:ext cx="1157288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incidents</a:t>
            </a:r>
            <a:endParaRPr lang="en-US" sz="1069" dirty="0"/>
          </a:p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endParaRPr lang="en-US" sz="1069" dirty="0"/>
          </a:p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incident_label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6448425" y="2747963"/>
            <a:ext cx="168592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5"/>
              </a:lnSpc>
              <a:buNone/>
            </a:pPr>
            <a:r>
              <a:rPr lang="en-US" sz="1069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dashboard_artifact</a:t>
            </a:r>
            <a:endParaRPr lang="en-US" sz="1069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09825" y="1766888"/>
            <a:ext cx="461963" cy="2181225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62263" y="2788444"/>
            <a:ext cx="235334" cy="84687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43413" y="2795588"/>
            <a:ext cx="235334" cy="84687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48388" y="2819400"/>
            <a:ext cx="235334" cy="8468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-1276350" y="3629025"/>
            <a:ext cx="5267325" cy="2857500"/>
          </a:xfrm>
          <a:prstGeom prst="ellipse">
            <a:avLst/>
          </a:prstGeom>
          <a:solidFill>
            <a:srgbClr val="FF0000">
              <a:alpha val="12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24" name="Shape 18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27" name="Text 20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28" name="Text 21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00" y="3238500"/>
            <a:ext cx="2857500" cy="2857500"/>
          </a:xfrm>
          <a:prstGeom prst="ellipse">
            <a:avLst/>
          </a:prstGeom>
          <a:solidFill>
            <a:srgbClr val="FF00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995363"/>
            <a:ext cx="8382000" cy="157638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509587" y="538163"/>
            <a:ext cx="8382000" cy="909638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509587" y="714375"/>
            <a:ext cx="8382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2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nova arquitetura.</a:t>
            </a:r>
            <a:endParaRPr lang="en-US" sz="2494" dirty="0"/>
          </a:p>
        </p:txBody>
      </p:sp>
      <p:sp>
        <p:nvSpPr>
          <p:cNvPr id="6" name="Shape 4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11" name="Text 8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12" name="Shape 9"/>
          <p:cNvSpPr/>
          <p:nvPr/>
        </p:nvSpPr>
        <p:spPr>
          <a:xfrm>
            <a:off x="1952625" y="923925"/>
            <a:ext cx="5786438" cy="7453312"/>
          </a:xfrm>
          <a:prstGeom prst="rect">
            <a:avLst/>
          </a:prstGeom>
          <a:noFill/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71788" y="1562100"/>
            <a:ext cx="3517106" cy="6834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38575" y="1609725"/>
            <a:ext cx="1762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9"/>
              </a:lnSpc>
              <a:buNone/>
            </a:pPr>
            <a:r>
              <a:rPr lang="en-US" sz="178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Produtores</a:t>
            </a:r>
            <a:endParaRPr lang="en-US" sz="1781" dirty="0"/>
          </a:p>
        </p:txBody>
      </p:sp>
      <p:sp>
        <p:nvSpPr>
          <p:cNvPr id="15" name="Text 11"/>
          <p:cNvSpPr/>
          <p:nvPr/>
        </p:nvSpPr>
        <p:spPr>
          <a:xfrm>
            <a:off x="3314495" y="1905000"/>
            <a:ext cx="276019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40" dirty="0">
                <a:solidFill>
                  <a:srgbClr val="5F5E5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ECS: loader (carga inicial) + simulator</a:t>
            </a:r>
            <a:endParaRPr lang="en-US" sz="114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52850" y="2905125"/>
            <a:ext cx="2019933" cy="59864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24375" y="3262313"/>
            <a:ext cx="3905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40" dirty="0">
                <a:solidFill>
                  <a:srgbClr val="5F5E5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Fila</a:t>
            </a:r>
            <a:endParaRPr lang="en-US" sz="1140" dirty="0"/>
          </a:p>
        </p:txBody>
      </p:sp>
      <p:sp>
        <p:nvSpPr>
          <p:cNvPr id="18" name="Text 13"/>
          <p:cNvSpPr/>
          <p:nvPr/>
        </p:nvSpPr>
        <p:spPr>
          <a:xfrm>
            <a:off x="4333875" y="2967038"/>
            <a:ext cx="76676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9"/>
              </a:lnSpc>
              <a:buNone/>
            </a:pPr>
            <a:r>
              <a:rPr lang="en-US" sz="178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SQS</a:t>
            </a:r>
            <a:endParaRPr lang="en-US" sz="1781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67088" y="4057650"/>
            <a:ext cx="2626519" cy="59864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552825" y="4414838"/>
            <a:ext cx="23288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3"/>
              </a:lnSpc>
              <a:buNone/>
            </a:pPr>
            <a:r>
              <a:rPr lang="en-US" sz="1069" dirty="0">
                <a:solidFill>
                  <a:srgbClr val="0F6E56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 da fila (ECS)</a:t>
            </a:r>
            <a:endParaRPr lang="en-US" sz="1069" dirty="0"/>
          </a:p>
        </p:txBody>
      </p:sp>
      <p:sp>
        <p:nvSpPr>
          <p:cNvPr id="21" name="Text 15"/>
          <p:cNvSpPr/>
          <p:nvPr/>
        </p:nvSpPr>
        <p:spPr>
          <a:xfrm>
            <a:off x="4045953" y="5949587"/>
            <a:ext cx="159978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dirty="0">
                <a:solidFill>
                  <a:srgbClr val="0C447C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RDS PostgreSQL 16</a:t>
            </a:r>
            <a:endParaRPr lang="en-US" sz="499" dirty="0"/>
          </a:p>
        </p:txBody>
      </p:sp>
      <p:sp>
        <p:nvSpPr>
          <p:cNvPr id="22" name="Text 16"/>
          <p:cNvSpPr/>
          <p:nvPr/>
        </p:nvSpPr>
        <p:spPr>
          <a:xfrm>
            <a:off x="4288473" y="6162539"/>
            <a:ext cx="1114740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185FA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→ silver → gold</a:t>
            </a:r>
            <a:endParaRPr lang="en-US" sz="427" dirty="0"/>
          </a:p>
        </p:txBody>
      </p:sp>
      <p:sp>
        <p:nvSpPr>
          <p:cNvPr id="23" name="Text 17"/>
          <p:cNvSpPr/>
          <p:nvPr/>
        </p:nvSpPr>
        <p:spPr>
          <a:xfrm>
            <a:off x="3177987" y="7397660"/>
            <a:ext cx="867966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dirty="0">
                <a:solidFill>
                  <a:srgbClr val="3C348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 processing</a:t>
            </a:r>
            <a:endParaRPr lang="en-US" sz="499" dirty="0"/>
          </a:p>
        </p:txBody>
      </p:sp>
      <p:sp>
        <p:nvSpPr>
          <p:cNvPr id="24" name="Text 18"/>
          <p:cNvSpPr/>
          <p:nvPr/>
        </p:nvSpPr>
        <p:spPr>
          <a:xfrm>
            <a:off x="3029076" y="7610611"/>
            <a:ext cx="1165797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534AB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 silver/gold (ECS)</a:t>
            </a:r>
            <a:endParaRPr lang="en-US" sz="427" dirty="0"/>
          </a:p>
        </p:txBody>
      </p:sp>
      <p:sp>
        <p:nvSpPr>
          <p:cNvPr id="25" name="Text 19"/>
          <p:cNvSpPr/>
          <p:nvPr/>
        </p:nvSpPr>
        <p:spPr>
          <a:xfrm>
            <a:off x="5420227" y="7397660"/>
            <a:ext cx="1318967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4"/>
              </a:lnSpc>
              <a:buNone/>
            </a:pPr>
            <a:r>
              <a:rPr lang="en-US" sz="499" dirty="0">
                <a:solidFill>
                  <a:srgbClr val="3C348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leitura + dashboard</a:t>
            </a:r>
            <a:endParaRPr lang="en-US" sz="499" dirty="0"/>
          </a:p>
        </p:txBody>
      </p:sp>
      <p:sp>
        <p:nvSpPr>
          <p:cNvPr id="26" name="Text 20"/>
          <p:cNvSpPr/>
          <p:nvPr/>
        </p:nvSpPr>
        <p:spPr>
          <a:xfrm>
            <a:off x="5573399" y="7610611"/>
            <a:ext cx="1012627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17"/>
              </a:lnSpc>
              <a:buNone/>
            </a:pPr>
            <a:r>
              <a:rPr lang="en-US" sz="427" dirty="0">
                <a:solidFill>
                  <a:srgbClr val="534AB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Lambda + Next.js/S3</a:t>
            </a:r>
            <a:endParaRPr lang="en-US" sz="427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19638" y="2243137"/>
            <a:ext cx="23813" cy="662125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19638" y="3500438"/>
            <a:ext cx="19050" cy="557213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97917" t="0" b="11966"/>
          <a:stretch/>
        </p:blipFill>
        <p:spPr>
          <a:xfrm>
            <a:off x="4719638" y="4652963"/>
            <a:ext cx="19050" cy="49053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848100" y="4119562"/>
            <a:ext cx="15097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9"/>
              </a:lnSpc>
              <a:buNone/>
            </a:pPr>
            <a:r>
              <a:rPr lang="en-US" sz="178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WORKER</a:t>
            </a:r>
            <a:endParaRPr lang="en-US" sz="178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09625" y="3238500"/>
            <a:ext cx="2857500" cy="2857500"/>
          </a:xfrm>
          <a:prstGeom prst="ellipse">
            <a:avLst/>
          </a:prstGeom>
          <a:solidFill>
            <a:srgbClr val="FF0000">
              <a:alpha val="1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18661" y="0"/>
            <a:ext cx="20027" cy="48579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33625" y="487272"/>
            <a:ext cx="4767681" cy="5986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885098" y="547688"/>
            <a:ext cx="3667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9"/>
              </a:lnSpc>
              <a:buNone/>
            </a:pPr>
            <a:r>
              <a:rPr lang="en-US" sz="1781" dirty="0">
                <a:solidFill>
                  <a:srgbClr val="0C447C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ETL</a:t>
            </a:r>
            <a:endParaRPr lang="en-US" sz="1781" dirty="0"/>
          </a:p>
        </p:txBody>
      </p:sp>
      <p:sp>
        <p:nvSpPr>
          <p:cNvPr id="6" name="Text 2"/>
          <p:cNvSpPr/>
          <p:nvPr/>
        </p:nvSpPr>
        <p:spPr>
          <a:xfrm>
            <a:off x="3200400" y="842963"/>
            <a:ext cx="3028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9"/>
              </a:lnSpc>
              <a:buNone/>
            </a:pPr>
            <a:r>
              <a:rPr lang="en-US" sz="1247" dirty="0">
                <a:solidFill>
                  <a:srgbClr val="5F5E5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RDS (Bronze → Silver → Gold)</a:t>
            </a:r>
            <a:endParaRPr lang="en-US" sz="124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46936" y="1000125"/>
            <a:ext cx="4762500" cy="178355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970948" y="1204913"/>
            <a:ext cx="1495425" cy="414338"/>
          </a:xfrm>
          <a:prstGeom prst="roundRect">
            <a:avLst/>
          </a:prstGeom>
          <a:solidFill>
            <a:srgbClr val="CD7F32"/>
          </a:solidFill>
          <a:ln/>
        </p:spPr>
      </p:sp>
      <p:sp>
        <p:nvSpPr>
          <p:cNvPr id="9" name="Text 4"/>
          <p:cNvSpPr/>
          <p:nvPr/>
        </p:nvSpPr>
        <p:spPr>
          <a:xfrm>
            <a:off x="4332898" y="1300163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42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</a:t>
            </a:r>
            <a:endParaRPr lang="en-US" sz="142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21042" y="1081088"/>
            <a:ext cx="70135" cy="135731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966186" y="1743075"/>
            <a:ext cx="1495425" cy="414338"/>
          </a:xfrm>
          <a:prstGeom prst="roundRect">
            <a:avLst/>
          </a:prstGeom>
          <a:solidFill>
            <a:srgbClr val="C0C0C0"/>
          </a:solidFill>
          <a:ln/>
        </p:spPr>
      </p:sp>
      <p:sp>
        <p:nvSpPr>
          <p:cNvPr id="12" name="Text 6"/>
          <p:cNvSpPr/>
          <p:nvPr/>
        </p:nvSpPr>
        <p:spPr>
          <a:xfrm>
            <a:off x="4328136" y="1838325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</a:t>
            </a:r>
            <a:endParaRPr lang="en-US" sz="1425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16280" y="1619250"/>
            <a:ext cx="70135" cy="13573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966186" y="2281238"/>
            <a:ext cx="1495425" cy="414338"/>
          </a:xfrm>
          <a:prstGeom prst="roundRect">
            <a:avLst/>
          </a:prstGeom>
          <a:solidFill>
            <a:srgbClr val="FFD700"/>
          </a:solidFill>
          <a:ln/>
        </p:spPr>
      </p:sp>
      <p:sp>
        <p:nvSpPr>
          <p:cNvPr id="15" name="Text 8"/>
          <p:cNvSpPr/>
          <p:nvPr/>
        </p:nvSpPr>
        <p:spPr>
          <a:xfrm>
            <a:off x="4328136" y="2376488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</a:t>
            </a:r>
            <a:endParaRPr lang="en-US" sz="142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16280" y="2157413"/>
            <a:ext cx="70135" cy="135731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714875" y="2695575"/>
            <a:ext cx="9525" cy="8572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33462" y="3638550"/>
            <a:ext cx="2631281" cy="70818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738313" y="4029075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425" dirty="0">
                <a:solidFill>
                  <a:srgbClr val="5F5E5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</a:t>
            </a:r>
            <a:endParaRPr lang="en-US" sz="1425" dirty="0"/>
          </a:p>
        </p:txBody>
      </p:sp>
      <p:sp>
        <p:nvSpPr>
          <p:cNvPr id="20" name="Text 10"/>
          <p:cNvSpPr/>
          <p:nvPr/>
        </p:nvSpPr>
        <p:spPr>
          <a:xfrm>
            <a:off x="1033462" y="3734386"/>
            <a:ext cx="26289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9"/>
              </a:lnSpc>
              <a:buNone/>
            </a:pPr>
            <a:r>
              <a:rPr lang="en-US" sz="178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Processamento</a:t>
            </a:r>
            <a:endParaRPr lang="en-US" sz="1781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786438" y="3614738"/>
            <a:ext cx="2631281" cy="1126331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443663" y="4005262"/>
            <a:ext cx="1314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425" dirty="0">
                <a:solidFill>
                  <a:srgbClr val="3E3E3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Lambda</a:t>
            </a:r>
            <a:endParaRPr lang="en-US" sz="1425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sz="1425" dirty="0">
                <a:solidFill>
                  <a:srgbClr val="3E3E3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Gateway</a:t>
            </a:r>
            <a:endParaRPr lang="en-US" sz="1425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sz="1425" dirty="0">
                <a:solidFill>
                  <a:srgbClr val="3E3E3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</a:t>
            </a:r>
            <a:endParaRPr lang="en-US" sz="1425" dirty="0"/>
          </a:p>
        </p:txBody>
      </p:sp>
      <p:sp>
        <p:nvSpPr>
          <p:cNvPr id="23" name="Text 12"/>
          <p:cNvSpPr/>
          <p:nvPr/>
        </p:nvSpPr>
        <p:spPr>
          <a:xfrm>
            <a:off x="5786438" y="3709988"/>
            <a:ext cx="26289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9"/>
              </a:lnSpc>
              <a:buNone/>
            </a:pPr>
            <a:r>
              <a:rPr lang="en-US" sz="178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</a:t>
            </a:r>
            <a:endParaRPr lang="en-US" sz="1781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345531" y="2781300"/>
            <a:ext cx="2170407" cy="86677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9096375" y="7772400"/>
            <a:ext cx="15097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9"/>
              </a:lnSpc>
              <a:buNone/>
            </a:pPr>
            <a:r>
              <a:rPr lang="en-US" sz="178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WORKER</a:t>
            </a:r>
            <a:endParaRPr lang="en-US" sz="1781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967288" y="2781300"/>
            <a:ext cx="2213270" cy="8334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0" y="666750"/>
            <a:ext cx="3810000" cy="3810000"/>
          </a:xfrm>
          <a:prstGeom prst="ellipse">
            <a:avLst/>
          </a:prstGeom>
          <a:solidFill>
            <a:srgbClr val="FF00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2100263"/>
            <a:ext cx="6853238" cy="942975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1712119" y="2100263"/>
            <a:ext cx="57150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43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Então onde entra nossa inteligência?</a:t>
            </a:r>
            <a:endParaRPr lang="en-US" sz="2494" dirty="0"/>
          </a:p>
        </p:txBody>
      </p:sp>
      <p:sp>
        <p:nvSpPr>
          <p:cNvPr id="5" name="Shape 3"/>
          <p:cNvSpPr/>
          <p:nvPr/>
        </p:nvSpPr>
        <p:spPr>
          <a:xfrm>
            <a:off x="1143000" y="2986088"/>
            <a:ext cx="6853238" cy="5715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740944" y="3014663"/>
            <a:ext cx="762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41044" y="2986088"/>
            <a:ext cx="57150" cy="5715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636294" y="3014663"/>
            <a:ext cx="7620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14" name="Text 11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-952500"/>
            <a:ext cx="2857500" cy="2857500"/>
          </a:xfrm>
          <a:prstGeom prst="ellipse">
            <a:avLst/>
          </a:prstGeom>
          <a:solidFill>
            <a:srgbClr val="FF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876300"/>
            <a:ext cx="2857500" cy="2857500"/>
          </a:xfrm>
          <a:prstGeom prst="ellipse">
            <a:avLst/>
          </a:prstGeom>
          <a:solidFill>
            <a:srgbClr val="FF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514350"/>
            <a:ext cx="8382000" cy="416242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81000" y="702469"/>
            <a:ext cx="8382000" cy="3786188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81000" y="702469"/>
            <a:ext cx="8382000" cy="414338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81000" y="702469"/>
            <a:ext cx="8382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2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Correlação dos dados</a:t>
            </a:r>
            <a:endParaRPr lang="en-US" sz="2494" dirty="0"/>
          </a:p>
        </p:txBody>
      </p:sp>
      <p:sp>
        <p:nvSpPr>
          <p:cNvPr id="8" name="Shape 6"/>
          <p:cNvSpPr/>
          <p:nvPr/>
        </p:nvSpPr>
        <p:spPr>
          <a:xfrm>
            <a:off x="381000" y="1421606"/>
            <a:ext cx="8382000" cy="306705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81000" y="1421606"/>
            <a:ext cx="1619250" cy="30670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381000" y="1421606"/>
            <a:ext cx="1619250" cy="566738"/>
          </a:xfrm>
          <a:prstGeom prst="roundRect">
            <a:avLst>
              <a:gd name="adj" fmla="val 19361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250" y="1516856"/>
            <a:ext cx="685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2"/>
              </a:lnSpc>
              <a:buNone/>
            </a:pPr>
            <a:r>
              <a:rPr lang="en-US" sz="121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Tempo</a:t>
            </a:r>
            <a:endParaRPr lang="en-US" sz="1211" dirty="0"/>
          </a:p>
        </p:txBody>
      </p:sp>
      <p:sp>
        <p:nvSpPr>
          <p:cNvPr id="12" name="Text 10"/>
          <p:cNvSpPr/>
          <p:nvPr/>
        </p:nvSpPr>
        <p:spPr>
          <a:xfrm>
            <a:off x="476250" y="1735931"/>
            <a:ext cx="1428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8"/>
              </a:lnSpc>
              <a:buNone/>
            </a:pPr>
            <a:r>
              <a:rPr lang="en-US" sz="89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Coincidência temporal </a:t>
            </a:r>
            <a:endParaRPr lang="en-US" sz="891" dirty="0"/>
          </a:p>
        </p:txBody>
      </p:sp>
      <p:sp>
        <p:nvSpPr>
          <p:cNvPr id="13" name="Shape 11"/>
          <p:cNvSpPr/>
          <p:nvPr/>
        </p:nvSpPr>
        <p:spPr>
          <a:xfrm>
            <a:off x="381000" y="2078831"/>
            <a:ext cx="1619250" cy="723900"/>
          </a:xfrm>
          <a:prstGeom prst="roundRect">
            <a:avLst>
              <a:gd name="adj" fmla="val 15158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250" y="2174081"/>
            <a:ext cx="95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2"/>
              </a:lnSpc>
              <a:buNone/>
            </a:pPr>
            <a:r>
              <a:rPr lang="en-US" sz="121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Contexto</a:t>
            </a:r>
            <a:endParaRPr lang="en-US" sz="1211" dirty="0"/>
          </a:p>
        </p:txBody>
      </p:sp>
      <p:sp>
        <p:nvSpPr>
          <p:cNvPr id="15" name="Text 13"/>
          <p:cNvSpPr/>
          <p:nvPr/>
        </p:nvSpPr>
        <p:spPr>
          <a:xfrm>
            <a:off x="476250" y="2393156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8"/>
              </a:lnSpc>
              <a:buNone/>
            </a:pPr>
            <a:r>
              <a:rPr lang="en-US" sz="89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Região, CDN, Dispositivo, ISP</a:t>
            </a:r>
            <a:endParaRPr lang="en-US" sz="891" dirty="0"/>
          </a:p>
        </p:txBody>
      </p:sp>
      <p:sp>
        <p:nvSpPr>
          <p:cNvPr id="16" name="Shape 14"/>
          <p:cNvSpPr/>
          <p:nvPr/>
        </p:nvSpPr>
        <p:spPr>
          <a:xfrm>
            <a:off x="381000" y="2907506"/>
            <a:ext cx="1619250" cy="723900"/>
          </a:xfrm>
          <a:prstGeom prst="roundRect">
            <a:avLst>
              <a:gd name="adj" fmla="val 15158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" y="3002756"/>
            <a:ext cx="7143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2"/>
              </a:lnSpc>
              <a:buNone/>
            </a:pPr>
            <a:r>
              <a:rPr lang="en-US" sz="121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Fontes</a:t>
            </a:r>
            <a:endParaRPr lang="en-US" sz="1211" dirty="0"/>
          </a:p>
        </p:txBody>
      </p:sp>
      <p:sp>
        <p:nvSpPr>
          <p:cNvPr id="18" name="Text 16"/>
          <p:cNvSpPr/>
          <p:nvPr/>
        </p:nvSpPr>
        <p:spPr>
          <a:xfrm>
            <a:off x="476250" y="3221831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8"/>
              </a:lnSpc>
              <a:buNone/>
            </a:pPr>
            <a:r>
              <a:rPr lang="en-US" sz="89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Métricas de CDN, Gateway, Player</a:t>
            </a:r>
            <a:endParaRPr lang="en-US" sz="891" dirty="0"/>
          </a:p>
        </p:txBody>
      </p:sp>
      <p:sp>
        <p:nvSpPr>
          <p:cNvPr id="19" name="Shape 17"/>
          <p:cNvSpPr/>
          <p:nvPr/>
        </p:nvSpPr>
        <p:spPr>
          <a:xfrm>
            <a:off x="381000" y="3736181"/>
            <a:ext cx="1619250" cy="723900"/>
          </a:xfrm>
          <a:prstGeom prst="roundRect">
            <a:avLst>
              <a:gd name="adj" fmla="val 15158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250" y="3831431"/>
            <a:ext cx="1481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2"/>
              </a:lnSpc>
              <a:buNone/>
            </a:pPr>
            <a:r>
              <a:rPr lang="en-US" sz="1211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Concentração</a:t>
            </a:r>
            <a:endParaRPr lang="en-US" sz="1211" dirty="0"/>
          </a:p>
        </p:txBody>
      </p:sp>
      <p:sp>
        <p:nvSpPr>
          <p:cNvPr id="21" name="Text 19"/>
          <p:cNvSpPr/>
          <p:nvPr/>
        </p:nvSpPr>
        <p:spPr>
          <a:xfrm>
            <a:off x="476250" y="4050506"/>
            <a:ext cx="1428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8"/>
              </a:lnSpc>
              <a:buNone/>
            </a:pPr>
            <a:r>
              <a:rPr lang="en-US" sz="89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Mede se a degradação está em um segmento</a:t>
            </a:r>
            <a:endParaRPr lang="en-US" sz="891" dirty="0"/>
          </a:p>
        </p:txBody>
      </p:sp>
      <p:sp>
        <p:nvSpPr>
          <p:cNvPr id="22" name="Shape 20"/>
          <p:cNvSpPr/>
          <p:nvPr/>
        </p:nvSpPr>
        <p:spPr>
          <a:xfrm>
            <a:off x="2390775" y="1314450"/>
            <a:ext cx="3333750" cy="3176588"/>
          </a:xfrm>
          <a:prstGeom prst="ellipse">
            <a:avLst/>
          </a:prstGeom>
          <a:solidFill>
            <a:srgbClr val="FF0000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98648" y="1812131"/>
            <a:ext cx="2000250" cy="2286000"/>
          </a:xfrm>
          <a:prstGeom prst="roundRect">
            <a:avLst>
              <a:gd name="adj" fmla="val 9143"/>
            </a:avLst>
          </a:prstGeom>
          <a:solidFill>
            <a:srgbClr val="111115"/>
          </a:solidFill>
          <a:ln w="9049">
            <a:solidFill>
              <a:srgbClr val="FF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89148" y="2002631"/>
            <a:ext cx="1047750" cy="190500"/>
          </a:xfrm>
          <a:prstGeom prst="rect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3289148" y="2002631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Evidências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3290888" y="2562225"/>
            <a:ext cx="161925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31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Cruzamento algorítmico que agrupa </a:t>
            </a:r>
            <a:pPr algn="ctr" indent="0" marL="0">
              <a:lnSpc>
                <a:spcPts val="2031"/>
              </a:lnSpc>
              <a:buNone/>
            </a:pPr>
            <a:r>
              <a:rPr lang="en-US" sz="1354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comportamentos</a:t>
            </a:r>
            <a:pPr algn="ctr" indent="0" marL="0">
              <a:lnSpc>
                <a:spcPts val="2031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1354" dirty="0"/>
          </a:p>
        </p:txBody>
      </p:sp>
      <p:sp>
        <p:nvSpPr>
          <p:cNvPr id="27" name="Shape 25"/>
          <p:cNvSpPr/>
          <p:nvPr/>
        </p:nvSpPr>
        <p:spPr>
          <a:xfrm>
            <a:off x="5494186" y="2955131"/>
            <a:ext cx="641654" cy="0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5622513" y="2955131"/>
            <a:ext cx="384992" cy="0"/>
          </a:xfrm>
          <a:prstGeom prst="line">
            <a:avLst/>
          </a:prstGeom>
          <a:noFill/>
          <a:ln w="10503">
            <a:solidFill>
              <a:srgbClr val="FF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1127" y="1959769"/>
            <a:ext cx="2000250" cy="1990725"/>
          </a:xfrm>
          <a:prstGeom prst="roundRect">
            <a:avLst>
              <a:gd name="adj" fmla="val 9187"/>
            </a:avLst>
          </a:prstGeom>
          <a:solidFill>
            <a:srgbClr val="330000"/>
          </a:solidFill>
          <a:ln w="4524">
            <a:solidFill>
              <a:srgbClr val="FF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1627" y="2150269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Hipótese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6721627" y="2416969"/>
            <a:ext cx="1619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Geração automática do diagnóstico de causa-raiz provável enviado aos times de engenharia.</a:t>
            </a:r>
            <a:endParaRPr lang="en-US" sz="114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95525" y="2957513"/>
            <a:ext cx="526256" cy="140283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34" name="Shape 31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37" name="Text 33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38" name="Text 34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00" y="3238500"/>
            <a:ext cx="2857500" cy="2857500"/>
          </a:xfrm>
          <a:prstGeom prst="ellipse">
            <a:avLst/>
          </a:prstGeom>
          <a:solidFill>
            <a:srgbClr val="FF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7591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402773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870364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337954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80554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73136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740727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208318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75909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000" y="514350"/>
            <a:ext cx="8382000" cy="4162425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81000" y="1035844"/>
            <a:ext cx="8382000" cy="3119438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81000" y="1035844"/>
            <a:ext cx="8382000" cy="414338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381000" y="1035844"/>
            <a:ext cx="83820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2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Motor de hipóteses.</a:t>
            </a:r>
            <a:endParaRPr lang="en-US" sz="2494" dirty="0"/>
          </a:p>
        </p:txBody>
      </p:sp>
      <p:sp>
        <p:nvSpPr>
          <p:cNvPr id="20" name="Shape 18"/>
          <p:cNvSpPr/>
          <p:nvPr/>
        </p:nvSpPr>
        <p:spPr>
          <a:xfrm>
            <a:off x="381000" y="1678781"/>
            <a:ext cx="8382000" cy="24765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381000" y="1678781"/>
            <a:ext cx="1981200" cy="2257425"/>
          </a:xfrm>
          <a:prstGeom prst="roundRect">
            <a:avLst>
              <a:gd name="adj" fmla="val 7385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3400" y="1831181"/>
            <a:ext cx="1676400" cy="119063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533400" y="1831181"/>
            <a:ext cx="7239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3"/>
              </a:lnSpc>
              <a:buNone/>
            </a:pPr>
            <a:r>
              <a:rPr lang="en-US" sz="713" b="1" dirty="0">
                <a:solidFill>
                  <a:srgbClr val="88889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01. GATILHO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533400" y="2064544"/>
            <a:ext cx="12334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5"/>
              </a:lnSpc>
              <a:buNone/>
            </a:pPr>
            <a:r>
              <a:rPr lang="en-US" sz="149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Anomalia</a:t>
            </a:r>
            <a:endParaRPr lang="en-US" sz="1496" dirty="0"/>
          </a:p>
        </p:txBody>
      </p:sp>
      <p:sp>
        <p:nvSpPr>
          <p:cNvPr id="25" name="Text 23"/>
          <p:cNvSpPr/>
          <p:nvPr/>
        </p:nvSpPr>
        <p:spPr>
          <a:xfrm>
            <a:off x="533400" y="2426494"/>
            <a:ext cx="1676400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1"/>
              </a:lnSpc>
              <a:buNone/>
            </a:pPr>
            <a:r>
              <a:rPr lang="en-US" sz="1354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Qualquer desvio estatístico relevante nas métricas de telemetria.</a:t>
            </a:r>
            <a:endParaRPr lang="en-US" sz="1354" dirty="0"/>
          </a:p>
        </p:txBody>
      </p:sp>
      <p:sp>
        <p:nvSpPr>
          <p:cNvPr id="26" name="Shape 24"/>
          <p:cNvSpPr/>
          <p:nvPr/>
        </p:nvSpPr>
        <p:spPr>
          <a:xfrm>
            <a:off x="2514600" y="1678781"/>
            <a:ext cx="1981200" cy="1433513"/>
          </a:xfrm>
          <a:prstGeom prst="roundRect">
            <a:avLst>
              <a:gd name="adj" fmla="val 10206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67000" y="1831181"/>
            <a:ext cx="1676400" cy="119063"/>
          </a:xfrm>
          <a:prstGeom prst="rect">
            <a:avLst/>
          </a:prstGeom>
          <a:noFill/>
          <a:ln/>
        </p:spPr>
      </p:sp>
      <p:sp>
        <p:nvSpPr>
          <p:cNvPr id="28" name="Text 26"/>
          <p:cNvSpPr/>
          <p:nvPr/>
        </p:nvSpPr>
        <p:spPr>
          <a:xfrm>
            <a:off x="2667000" y="1831181"/>
            <a:ext cx="60483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3"/>
              </a:lnSpc>
              <a:buNone/>
            </a:pPr>
            <a:r>
              <a:rPr lang="en-US" sz="713" b="1" dirty="0">
                <a:solidFill>
                  <a:srgbClr val="88889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02. TESTE</a:t>
            </a:r>
            <a:endParaRPr lang="en-US" sz="713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48150" y="1843088"/>
            <a:ext cx="95250" cy="9525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667000" y="2045494"/>
            <a:ext cx="1400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5"/>
              </a:lnSpc>
              <a:buNone/>
            </a:pPr>
            <a:r>
              <a:rPr lang="en-US" sz="149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Evidências</a:t>
            </a:r>
            <a:endParaRPr lang="en-US" sz="1496" dirty="0"/>
          </a:p>
        </p:txBody>
      </p:sp>
      <p:sp>
        <p:nvSpPr>
          <p:cNvPr id="31" name="Shape 28"/>
          <p:cNvSpPr/>
          <p:nvPr/>
        </p:nvSpPr>
        <p:spPr>
          <a:xfrm>
            <a:off x="2667000" y="2388394"/>
            <a:ext cx="1676400" cy="571500"/>
          </a:xfrm>
          <a:prstGeom prst="rect">
            <a:avLst/>
          </a:prstGeom>
          <a:noFill/>
          <a:ln/>
        </p:spPr>
      </p:sp>
      <p:sp>
        <p:nvSpPr>
          <p:cNvPr id="32" name="Shape 29"/>
          <p:cNvSpPr/>
          <p:nvPr/>
        </p:nvSpPr>
        <p:spPr>
          <a:xfrm>
            <a:off x="2667000" y="2388394"/>
            <a:ext cx="1676400" cy="261937"/>
          </a:xfrm>
          <a:prstGeom prst="roundRect">
            <a:avLst>
              <a:gd name="adj" fmla="val 27927"/>
            </a:avLst>
          </a:prstGeom>
          <a:solidFill>
            <a:srgbClr val="003311"/>
          </a:solidFill>
          <a:ln w="4524">
            <a:solidFill>
              <a:srgbClr val="00FF6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24150" y="2483644"/>
            <a:ext cx="8572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"/>
              </a:lnSpc>
              <a:buNone/>
            </a:pPr>
            <a:r>
              <a:rPr lang="en-US" sz="427" b="1" dirty="0">
                <a:solidFill>
                  <a:srgbClr val="00FF6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[+]</a:t>
            </a:r>
            <a:endParaRPr lang="en-US" sz="427" dirty="0"/>
          </a:p>
        </p:txBody>
      </p:sp>
      <p:sp>
        <p:nvSpPr>
          <p:cNvPr id="34" name="Text 31"/>
          <p:cNvSpPr/>
          <p:nvPr/>
        </p:nvSpPr>
        <p:spPr>
          <a:xfrm>
            <a:off x="2847975" y="2445544"/>
            <a:ext cx="14382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CDN Latency Spike (SP)</a:t>
            </a:r>
            <a:endParaRPr lang="en-US" sz="855" dirty="0"/>
          </a:p>
        </p:txBody>
      </p:sp>
      <p:sp>
        <p:nvSpPr>
          <p:cNvPr id="35" name="Shape 32"/>
          <p:cNvSpPr/>
          <p:nvPr/>
        </p:nvSpPr>
        <p:spPr>
          <a:xfrm>
            <a:off x="2667000" y="2697956"/>
            <a:ext cx="1676400" cy="261937"/>
          </a:xfrm>
          <a:prstGeom prst="roundRect">
            <a:avLst>
              <a:gd name="adj" fmla="val 27927"/>
            </a:avLst>
          </a:prstGeom>
          <a:solidFill>
            <a:srgbClr val="330000"/>
          </a:solidFill>
          <a:ln w="4524">
            <a:solidFill>
              <a:srgbClr val="FF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24150" y="2793206"/>
            <a:ext cx="66675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"/>
              </a:lnSpc>
              <a:buNone/>
            </a:pPr>
            <a:r>
              <a:rPr lang="en-US" sz="427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[-]</a:t>
            </a:r>
            <a:endParaRPr lang="en-US" sz="427" dirty="0"/>
          </a:p>
        </p:txBody>
      </p:sp>
      <p:sp>
        <p:nvSpPr>
          <p:cNvPr id="37" name="Text 34"/>
          <p:cNvSpPr/>
          <p:nvPr/>
        </p:nvSpPr>
        <p:spPr>
          <a:xfrm>
            <a:off x="2828925" y="2755106"/>
            <a:ext cx="145732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 Server normal latency</a:t>
            </a:r>
            <a:endParaRPr lang="en-US" sz="855" dirty="0"/>
          </a:p>
        </p:txBody>
      </p:sp>
      <p:sp>
        <p:nvSpPr>
          <p:cNvPr id="38" name="Shape 35"/>
          <p:cNvSpPr/>
          <p:nvPr/>
        </p:nvSpPr>
        <p:spPr>
          <a:xfrm>
            <a:off x="4648200" y="1678781"/>
            <a:ext cx="1981200" cy="2157413"/>
          </a:xfrm>
          <a:prstGeom prst="roundRect">
            <a:avLst>
              <a:gd name="adj" fmla="val 7385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00600" y="1831181"/>
            <a:ext cx="1676400" cy="119063"/>
          </a:xfrm>
          <a:prstGeom prst="rect">
            <a:avLst/>
          </a:prstGeom>
          <a:noFill/>
          <a:ln/>
        </p:spPr>
      </p:sp>
      <p:sp>
        <p:nvSpPr>
          <p:cNvPr id="40" name="Text 37"/>
          <p:cNvSpPr/>
          <p:nvPr/>
        </p:nvSpPr>
        <p:spPr>
          <a:xfrm>
            <a:off x="4800600" y="1831181"/>
            <a:ext cx="5476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3"/>
              </a:lnSpc>
              <a:buNone/>
            </a:pPr>
            <a:r>
              <a:rPr lang="en-US" sz="713" b="1" dirty="0">
                <a:solidFill>
                  <a:srgbClr val="88889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03. PESO</a:t>
            </a:r>
            <a:endParaRPr lang="en-US" sz="713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7938" y="1831181"/>
            <a:ext cx="119063" cy="119063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4800600" y="2064544"/>
            <a:ext cx="1676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9"/>
              </a:lnSpc>
              <a:buNone/>
            </a:pPr>
            <a:r>
              <a:rPr lang="en-US" sz="135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Grau de confiabilidade</a:t>
            </a:r>
            <a:endParaRPr lang="en-US" sz="1354" dirty="0"/>
          </a:p>
        </p:txBody>
      </p:sp>
      <p:sp>
        <p:nvSpPr>
          <p:cNvPr id="43" name="Shape 39"/>
          <p:cNvSpPr/>
          <p:nvPr/>
        </p:nvSpPr>
        <p:spPr>
          <a:xfrm>
            <a:off x="4800600" y="2797969"/>
            <a:ext cx="1676400" cy="476250"/>
          </a:xfrm>
          <a:prstGeom prst="rect">
            <a:avLst/>
          </a:prstGeom>
          <a:noFill/>
          <a:ln/>
        </p:spPr>
      </p:sp>
      <p:sp>
        <p:nvSpPr>
          <p:cNvPr id="44" name="Shape 40"/>
          <p:cNvSpPr/>
          <p:nvPr/>
        </p:nvSpPr>
        <p:spPr>
          <a:xfrm>
            <a:off x="4800600" y="2797969"/>
            <a:ext cx="476250" cy="476250"/>
          </a:xfrm>
          <a:prstGeom prst="ellipse">
            <a:avLst/>
          </a:prstGeom>
          <a:solidFill>
            <a:srgbClr val="330000"/>
          </a:solidFill>
          <a:ln/>
        </p:spPr>
      </p:sp>
      <p:sp>
        <p:nvSpPr>
          <p:cNvPr id="45" name="Shape 41"/>
          <p:cNvSpPr/>
          <p:nvPr/>
        </p:nvSpPr>
        <p:spPr>
          <a:xfrm>
            <a:off x="4800600" y="2797969"/>
            <a:ext cx="476250" cy="47625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6" name="Text 42"/>
          <p:cNvSpPr/>
          <p:nvPr/>
        </p:nvSpPr>
        <p:spPr>
          <a:xfrm>
            <a:off x="5474494" y="2971800"/>
            <a:ext cx="3286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8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82%</a:t>
            </a:r>
            <a:endParaRPr lang="en-US" sz="784" dirty="0"/>
          </a:p>
        </p:txBody>
      </p:sp>
      <p:sp>
        <p:nvSpPr>
          <p:cNvPr id="47" name="Text 43"/>
          <p:cNvSpPr/>
          <p:nvPr/>
        </p:nvSpPr>
        <p:spPr>
          <a:xfrm>
            <a:off x="4800600" y="3388519"/>
            <a:ext cx="1676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Grau de confiabilidade do diagnóstico gerado.</a:t>
            </a:r>
            <a:endParaRPr lang="en-US" sz="855" dirty="0"/>
          </a:p>
        </p:txBody>
      </p:sp>
      <p:sp>
        <p:nvSpPr>
          <p:cNvPr id="48" name="Shape 44"/>
          <p:cNvSpPr/>
          <p:nvPr/>
        </p:nvSpPr>
        <p:spPr>
          <a:xfrm>
            <a:off x="6781800" y="1678781"/>
            <a:ext cx="1981200" cy="1595438"/>
          </a:xfrm>
          <a:prstGeom prst="roundRect">
            <a:avLst>
              <a:gd name="adj" fmla="val 9170"/>
            </a:avLst>
          </a:prstGeom>
          <a:solidFill>
            <a:srgbClr val="330000"/>
          </a:solidFill>
          <a:ln w="4524">
            <a:solidFill>
              <a:srgbClr val="FF0000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934200" y="1831181"/>
            <a:ext cx="1676400" cy="119063"/>
          </a:xfrm>
          <a:prstGeom prst="rect">
            <a:avLst/>
          </a:prstGeom>
          <a:noFill/>
          <a:ln/>
        </p:spPr>
      </p:sp>
      <p:sp>
        <p:nvSpPr>
          <p:cNvPr id="50" name="Text 46"/>
          <p:cNvSpPr/>
          <p:nvPr/>
        </p:nvSpPr>
        <p:spPr>
          <a:xfrm>
            <a:off x="6934200" y="1831181"/>
            <a:ext cx="12096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3"/>
              </a:lnSpc>
              <a:buNone/>
            </a:pPr>
            <a:r>
              <a:rPr lang="en-US" sz="71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04. CLASSIFICAÇÃO</a:t>
            </a:r>
            <a:endParaRPr lang="en-US" sz="713" dirty="0"/>
          </a:p>
        </p:txBody>
      </p:sp>
      <p:sp>
        <p:nvSpPr>
          <p:cNvPr id="51" name="Text 47"/>
          <p:cNvSpPr/>
          <p:nvPr/>
        </p:nvSpPr>
        <p:spPr>
          <a:xfrm>
            <a:off x="6934200" y="2045494"/>
            <a:ext cx="1042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5"/>
              </a:lnSpc>
              <a:buNone/>
            </a:pPr>
            <a:r>
              <a:rPr lang="en-US" sz="1496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Ranking</a:t>
            </a:r>
            <a:endParaRPr lang="en-US" sz="1496" dirty="0"/>
          </a:p>
        </p:txBody>
      </p:sp>
      <p:sp>
        <p:nvSpPr>
          <p:cNvPr id="52" name="Shape 48"/>
          <p:cNvSpPr/>
          <p:nvPr/>
        </p:nvSpPr>
        <p:spPr>
          <a:xfrm>
            <a:off x="6934200" y="2388394"/>
            <a:ext cx="1676400" cy="733425"/>
          </a:xfrm>
          <a:prstGeom prst="rect">
            <a:avLst/>
          </a:prstGeom>
          <a:noFill/>
          <a:ln/>
        </p:spPr>
      </p:sp>
      <p:sp>
        <p:nvSpPr>
          <p:cNvPr id="53" name="Shape 49"/>
          <p:cNvSpPr/>
          <p:nvPr/>
        </p:nvSpPr>
        <p:spPr>
          <a:xfrm>
            <a:off x="6934200" y="2388394"/>
            <a:ext cx="1676400" cy="219075"/>
          </a:xfrm>
          <a:prstGeom prst="roundRect">
            <a:avLst>
              <a:gd name="adj" fmla="val 25043"/>
            </a:avLst>
          </a:prstGeom>
          <a:solidFill>
            <a:srgbClr val="FF0000"/>
          </a:solidFill>
          <a:ln/>
        </p:spPr>
      </p:sp>
      <p:sp>
        <p:nvSpPr>
          <p:cNvPr id="54" name="Shape 50"/>
          <p:cNvSpPr/>
          <p:nvPr/>
        </p:nvSpPr>
        <p:spPr>
          <a:xfrm>
            <a:off x="6981825" y="2436019"/>
            <a:ext cx="1090613" cy="123825"/>
          </a:xfrm>
          <a:prstGeom prst="rect">
            <a:avLst/>
          </a:prstGeom>
          <a:noFill/>
          <a:ln/>
        </p:spPr>
      </p:sp>
      <p:sp>
        <p:nvSpPr>
          <p:cNvPr id="55" name="Text 51"/>
          <p:cNvSpPr/>
          <p:nvPr/>
        </p:nvSpPr>
        <p:spPr>
          <a:xfrm>
            <a:off x="6981825" y="2438400"/>
            <a:ext cx="180975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3"/>
              </a:lnSpc>
              <a:buNone/>
            </a:pPr>
            <a:r>
              <a:rPr lang="en-US" sz="713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1st</a:t>
            </a:r>
            <a:endParaRPr lang="en-US" sz="713" dirty="0"/>
          </a:p>
        </p:txBody>
      </p:sp>
      <p:sp>
        <p:nvSpPr>
          <p:cNvPr id="56" name="Text 52"/>
          <p:cNvSpPr/>
          <p:nvPr/>
        </p:nvSpPr>
        <p:spPr>
          <a:xfrm>
            <a:off x="7200900" y="2436019"/>
            <a:ext cx="8715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00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CDN Congestion SP</a:t>
            </a:r>
            <a:endParaRPr lang="en-US" sz="713" dirty="0"/>
          </a:p>
        </p:txBody>
      </p:sp>
      <p:sp>
        <p:nvSpPr>
          <p:cNvPr id="57" name="Text 53"/>
          <p:cNvSpPr/>
          <p:nvPr/>
        </p:nvSpPr>
        <p:spPr>
          <a:xfrm>
            <a:off x="8329613" y="2450306"/>
            <a:ext cx="2333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7"/>
              </a:lnSpc>
              <a:buNone/>
            </a:pPr>
            <a:r>
              <a:rPr lang="en-US" sz="570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82%</a:t>
            </a:r>
            <a:endParaRPr lang="en-US" sz="570" dirty="0"/>
          </a:p>
        </p:txBody>
      </p:sp>
      <p:sp>
        <p:nvSpPr>
          <p:cNvPr id="58" name="Shape 54"/>
          <p:cNvSpPr/>
          <p:nvPr/>
        </p:nvSpPr>
        <p:spPr>
          <a:xfrm>
            <a:off x="6934200" y="2645569"/>
            <a:ext cx="1676400" cy="219075"/>
          </a:xfrm>
          <a:prstGeom prst="roundRect">
            <a:avLst>
              <a:gd name="adj" fmla="val 25043"/>
            </a:avLst>
          </a:prstGeom>
          <a:solidFill>
            <a:srgbClr val="111115"/>
          </a:solidFill>
          <a:ln/>
        </p:spPr>
      </p:sp>
      <p:sp>
        <p:nvSpPr>
          <p:cNvPr id="59" name="Shape 55"/>
          <p:cNvSpPr/>
          <p:nvPr/>
        </p:nvSpPr>
        <p:spPr>
          <a:xfrm>
            <a:off x="6981825" y="2693194"/>
            <a:ext cx="1157288" cy="123825"/>
          </a:xfrm>
          <a:prstGeom prst="rect">
            <a:avLst/>
          </a:prstGeom>
          <a:noFill/>
          <a:ln/>
        </p:spPr>
      </p:sp>
      <p:sp>
        <p:nvSpPr>
          <p:cNvPr id="60" name="Text 56"/>
          <p:cNvSpPr/>
          <p:nvPr/>
        </p:nvSpPr>
        <p:spPr>
          <a:xfrm>
            <a:off x="6981825" y="2707481"/>
            <a:ext cx="190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7"/>
              </a:lnSpc>
              <a:buNone/>
            </a:pPr>
            <a:r>
              <a:rPr lang="en-US" sz="570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2nd</a:t>
            </a:r>
            <a:endParaRPr lang="en-US" sz="570" dirty="0"/>
          </a:p>
        </p:txBody>
      </p:sp>
      <p:sp>
        <p:nvSpPr>
          <p:cNvPr id="61" name="Text 57"/>
          <p:cNvSpPr/>
          <p:nvPr/>
        </p:nvSpPr>
        <p:spPr>
          <a:xfrm>
            <a:off x="7210425" y="2693194"/>
            <a:ext cx="9286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ISP Gateway Timeout</a:t>
            </a:r>
            <a:endParaRPr lang="en-US" sz="713" dirty="0"/>
          </a:p>
        </p:txBody>
      </p:sp>
      <p:sp>
        <p:nvSpPr>
          <p:cNvPr id="62" name="Text 58"/>
          <p:cNvSpPr/>
          <p:nvPr/>
        </p:nvSpPr>
        <p:spPr>
          <a:xfrm>
            <a:off x="8334375" y="2707481"/>
            <a:ext cx="228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7"/>
              </a:lnSpc>
              <a:buNone/>
            </a:pPr>
            <a:r>
              <a:rPr lang="en-US" sz="57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45%</a:t>
            </a:r>
            <a:endParaRPr lang="en-US" sz="570" dirty="0"/>
          </a:p>
        </p:txBody>
      </p:sp>
      <p:sp>
        <p:nvSpPr>
          <p:cNvPr id="63" name="Shape 59"/>
          <p:cNvSpPr/>
          <p:nvPr/>
        </p:nvSpPr>
        <p:spPr>
          <a:xfrm>
            <a:off x="6934200" y="2902744"/>
            <a:ext cx="1676400" cy="219075"/>
          </a:xfrm>
          <a:prstGeom prst="roundRect">
            <a:avLst>
              <a:gd name="adj" fmla="val 25043"/>
            </a:avLst>
          </a:prstGeom>
          <a:solidFill>
            <a:srgbClr val="111115"/>
          </a:solidFill>
          <a:ln/>
        </p:spPr>
      </p:sp>
      <p:sp>
        <p:nvSpPr>
          <p:cNvPr id="64" name="Shape 60"/>
          <p:cNvSpPr/>
          <p:nvPr/>
        </p:nvSpPr>
        <p:spPr>
          <a:xfrm>
            <a:off x="6981825" y="2950369"/>
            <a:ext cx="971550" cy="123825"/>
          </a:xfrm>
          <a:prstGeom prst="rect">
            <a:avLst/>
          </a:prstGeom>
          <a:noFill/>
          <a:ln/>
        </p:spPr>
      </p:sp>
      <p:sp>
        <p:nvSpPr>
          <p:cNvPr id="65" name="Text 61"/>
          <p:cNvSpPr/>
          <p:nvPr/>
        </p:nvSpPr>
        <p:spPr>
          <a:xfrm>
            <a:off x="6981825" y="2964656"/>
            <a:ext cx="1714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7"/>
              </a:lnSpc>
              <a:buNone/>
            </a:pPr>
            <a:r>
              <a:rPr lang="en-US" sz="570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3rd</a:t>
            </a:r>
            <a:endParaRPr lang="en-US" sz="570" dirty="0"/>
          </a:p>
        </p:txBody>
      </p:sp>
      <p:sp>
        <p:nvSpPr>
          <p:cNvPr id="66" name="Text 62"/>
          <p:cNvSpPr/>
          <p:nvPr/>
        </p:nvSpPr>
        <p:spPr>
          <a:xfrm>
            <a:off x="7191375" y="2950369"/>
            <a:ext cx="76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Player Buffer Bug</a:t>
            </a:r>
            <a:endParaRPr lang="en-US" sz="713" dirty="0"/>
          </a:p>
        </p:txBody>
      </p:sp>
      <p:sp>
        <p:nvSpPr>
          <p:cNvPr id="67" name="Text 63"/>
          <p:cNvSpPr/>
          <p:nvPr/>
        </p:nvSpPr>
        <p:spPr>
          <a:xfrm>
            <a:off x="8358188" y="2964656"/>
            <a:ext cx="2047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7"/>
              </a:lnSpc>
              <a:buNone/>
            </a:pPr>
            <a:r>
              <a:rPr lang="en-US" sz="57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12%</a:t>
            </a:r>
            <a:endParaRPr lang="en-US" sz="570" dirty="0"/>
          </a:p>
        </p:txBody>
      </p:sp>
      <p:sp>
        <p:nvSpPr>
          <p:cNvPr id="68" name="Shape 64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69" name="Shape 65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7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71" name="Shape 66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2" name="Text 67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73" name="Text 68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-952500"/>
            <a:ext cx="2857500" cy="2857500"/>
          </a:xfrm>
          <a:prstGeom prst="ellipse">
            <a:avLst/>
          </a:prstGeom>
          <a:solidFill>
            <a:srgbClr val="FF00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7591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402773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870364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337954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80554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73136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740727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208318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75909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0525" y="514350"/>
            <a:ext cx="8382000" cy="4162425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90525" y="1159669"/>
            <a:ext cx="8382000" cy="2871788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90525" y="1159669"/>
            <a:ext cx="8382000" cy="661988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390525" y="1159669"/>
            <a:ext cx="1285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98" b="1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CASO REAL DE USO</a:t>
            </a:r>
            <a:endParaRPr lang="en-US" sz="998" dirty="0"/>
          </a:p>
        </p:txBody>
      </p:sp>
      <p:sp>
        <p:nvSpPr>
          <p:cNvPr id="20" name="Shape 18"/>
          <p:cNvSpPr/>
          <p:nvPr/>
        </p:nvSpPr>
        <p:spPr>
          <a:xfrm>
            <a:off x="390525" y="1407319"/>
            <a:ext cx="8382000" cy="414338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390525" y="1407319"/>
            <a:ext cx="1809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2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Exemplo</a:t>
            </a:r>
            <a:endParaRPr lang="en-US" sz="2494" dirty="0"/>
          </a:p>
        </p:txBody>
      </p:sp>
      <p:sp>
        <p:nvSpPr>
          <p:cNvPr id="22" name="Shape 20"/>
          <p:cNvSpPr/>
          <p:nvPr/>
        </p:nvSpPr>
        <p:spPr>
          <a:xfrm>
            <a:off x="6543675" y="1502569"/>
            <a:ext cx="2228850" cy="223838"/>
          </a:xfrm>
          <a:prstGeom prst="roundRect">
            <a:avLst>
              <a:gd name="adj" fmla="val 32681"/>
            </a:avLst>
          </a:prstGeom>
          <a:solidFill>
            <a:srgbClr val="FF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19875" y="1540669"/>
            <a:ext cx="18192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4"/>
              </a:lnSpc>
              <a:buNone/>
            </a:pPr>
            <a:r>
              <a:rPr lang="en-US" sz="891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SCORE DE RELEVÂNCIA:</a:t>
            </a:r>
            <a:endParaRPr lang="en-US" sz="891" dirty="0"/>
          </a:p>
        </p:txBody>
      </p:sp>
      <p:sp>
        <p:nvSpPr>
          <p:cNvPr id="24" name="Text 22"/>
          <p:cNvSpPr/>
          <p:nvPr/>
        </p:nvSpPr>
        <p:spPr>
          <a:xfrm>
            <a:off x="8477250" y="1540669"/>
            <a:ext cx="2190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4"/>
              </a:lnSpc>
              <a:buNone/>
            </a:pPr>
            <a:r>
              <a:rPr lang="en-US" sz="891" b="1" dirty="0">
                <a:solidFill>
                  <a:srgbClr val="00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84</a:t>
            </a:r>
            <a:endParaRPr lang="en-US" sz="891" dirty="0"/>
          </a:p>
        </p:txBody>
      </p:sp>
      <p:sp>
        <p:nvSpPr>
          <p:cNvPr id="25" name="Shape 23"/>
          <p:cNvSpPr/>
          <p:nvPr/>
        </p:nvSpPr>
        <p:spPr>
          <a:xfrm>
            <a:off x="390525" y="2050256"/>
            <a:ext cx="8382000" cy="1981200"/>
          </a:xfrm>
          <a:prstGeom prst="roundRect">
            <a:avLst>
              <a:gd name="adj" fmla="val 11077"/>
            </a:avLst>
          </a:prstGeom>
          <a:solidFill>
            <a:srgbClr val="111115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1025" y="2240756"/>
            <a:ext cx="8001000" cy="28575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581025" y="2383631"/>
            <a:ext cx="7620000" cy="0"/>
          </a:xfrm>
          <a:prstGeom prst="line">
            <a:avLst/>
          </a:prstGeom>
          <a:noFill/>
          <a:ln w="18097">
            <a:solidFill>
              <a:srgbClr val="2222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95400" y="2240756"/>
            <a:ext cx="585788" cy="328613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1550194" y="2240756"/>
            <a:ext cx="76200" cy="76200"/>
          </a:xfrm>
          <a:prstGeom prst="ellipse">
            <a:avLst/>
          </a:prstGeom>
          <a:solidFill>
            <a:srgbClr val="00FF66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5400" y="2355056"/>
            <a:ext cx="5857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00FF6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19:58</a:t>
            </a:r>
            <a:endParaRPr lang="en-US" sz="1283" dirty="0"/>
          </a:p>
        </p:txBody>
      </p:sp>
      <p:sp>
        <p:nvSpPr>
          <p:cNvPr id="31" name="Shape 29"/>
          <p:cNvSpPr/>
          <p:nvPr/>
        </p:nvSpPr>
        <p:spPr>
          <a:xfrm>
            <a:off x="3200400" y="2240756"/>
            <a:ext cx="666750" cy="328613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3495675" y="2240756"/>
            <a:ext cx="76200" cy="76200"/>
          </a:xfrm>
          <a:prstGeom prst="ellipse">
            <a:avLst/>
          </a:prstGeom>
          <a:solidFill>
            <a:srgbClr val="FF0000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2355056"/>
            <a:ext cx="666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20:04</a:t>
            </a:r>
            <a:endParaRPr lang="en-US" sz="1283" dirty="0"/>
          </a:p>
        </p:txBody>
      </p:sp>
      <p:sp>
        <p:nvSpPr>
          <p:cNvPr id="34" name="Shape 32"/>
          <p:cNvSpPr/>
          <p:nvPr/>
        </p:nvSpPr>
        <p:spPr>
          <a:xfrm>
            <a:off x="5105400" y="2240756"/>
            <a:ext cx="657225" cy="328613"/>
          </a:xfrm>
          <a:prstGeom prst="rect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5395913" y="2240756"/>
            <a:ext cx="76200" cy="76200"/>
          </a:xfrm>
          <a:prstGeom prst="ellipse">
            <a:avLst/>
          </a:prstGeom>
          <a:solidFill>
            <a:srgbClr val="FF0000"/>
          </a:solidFill>
          <a:ln w="9049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5400" y="2355056"/>
            <a:ext cx="6572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20:05</a:t>
            </a:r>
            <a:endParaRPr lang="en-US" sz="1283" dirty="0"/>
          </a:p>
        </p:txBody>
      </p:sp>
      <p:sp>
        <p:nvSpPr>
          <p:cNvPr id="37" name="Shape 35"/>
          <p:cNvSpPr/>
          <p:nvPr/>
        </p:nvSpPr>
        <p:spPr>
          <a:xfrm>
            <a:off x="7010400" y="2240756"/>
            <a:ext cx="657225" cy="366713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7281863" y="2240756"/>
            <a:ext cx="114300" cy="114300"/>
          </a:xfrm>
          <a:prstGeom prst="ellipse">
            <a:avLst/>
          </a:prstGeom>
          <a:solidFill>
            <a:srgbClr val="FF0000"/>
          </a:solidFill>
          <a:ln w="18097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10400" y="2393156"/>
            <a:ext cx="6572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20:07</a:t>
            </a:r>
            <a:endParaRPr lang="en-US" sz="1283" dirty="0"/>
          </a:p>
        </p:txBody>
      </p:sp>
      <p:sp>
        <p:nvSpPr>
          <p:cNvPr id="40" name="Shape 38"/>
          <p:cNvSpPr/>
          <p:nvPr/>
        </p:nvSpPr>
        <p:spPr>
          <a:xfrm>
            <a:off x="581025" y="2717006"/>
            <a:ext cx="8001000" cy="1123950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581025" y="2717006"/>
            <a:ext cx="1914525" cy="1123950"/>
          </a:xfrm>
          <a:prstGeom prst="roundRect">
            <a:avLst>
              <a:gd name="adj" fmla="val 9763"/>
            </a:avLst>
          </a:prstGeom>
          <a:solidFill>
            <a:srgbClr val="000000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5325" y="2831306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00FF66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DEPLOY</a:t>
            </a:r>
            <a:endParaRPr lang="en-US" sz="1140" dirty="0"/>
          </a:p>
        </p:txBody>
      </p:sp>
      <p:sp>
        <p:nvSpPr>
          <p:cNvPr id="43" name="Text 41"/>
          <p:cNvSpPr/>
          <p:nvPr/>
        </p:nvSpPr>
        <p:spPr>
          <a:xfrm>
            <a:off x="695325" y="3078956"/>
            <a:ext cx="13906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Nova versão do Player TV</a:t>
            </a:r>
            <a:endParaRPr lang="en-US" sz="855" dirty="0"/>
          </a:p>
        </p:txBody>
      </p:sp>
      <p:sp>
        <p:nvSpPr>
          <p:cNvPr id="44" name="Text 42"/>
          <p:cNvSpPr/>
          <p:nvPr/>
        </p:nvSpPr>
        <p:spPr>
          <a:xfrm>
            <a:off x="695325" y="3283744"/>
            <a:ext cx="16859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dirty="0">
                <a:solidFill>
                  <a:srgbClr val="F1EFE8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Atualização de firmware em lote liberada para 5% dos usuários ativos.</a:t>
            </a:r>
            <a:endParaRPr lang="en-US" sz="855" dirty="0"/>
          </a:p>
        </p:txBody>
      </p:sp>
      <p:sp>
        <p:nvSpPr>
          <p:cNvPr id="45" name="Shape 43"/>
          <p:cNvSpPr/>
          <p:nvPr/>
        </p:nvSpPr>
        <p:spPr>
          <a:xfrm>
            <a:off x="2609850" y="2717006"/>
            <a:ext cx="1914525" cy="976312"/>
          </a:xfrm>
          <a:prstGeom prst="roundRect">
            <a:avLst>
              <a:gd name="adj" fmla="val 11239"/>
            </a:avLst>
          </a:prstGeom>
          <a:solidFill>
            <a:srgbClr val="000000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24150" y="2831306"/>
            <a:ext cx="13668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ERROS (SPIKE)</a:t>
            </a:r>
            <a:endParaRPr lang="en-US" sz="1140" dirty="0"/>
          </a:p>
        </p:txBody>
      </p:sp>
      <p:sp>
        <p:nvSpPr>
          <p:cNvPr id="47" name="Text 45"/>
          <p:cNvSpPr/>
          <p:nvPr/>
        </p:nvSpPr>
        <p:spPr>
          <a:xfrm>
            <a:off x="2724150" y="3078956"/>
            <a:ext cx="666750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Erro de auth</a:t>
            </a:r>
            <a:endParaRPr lang="en-US" sz="855" dirty="0"/>
          </a:p>
        </p:txBody>
      </p:sp>
      <p:sp>
        <p:nvSpPr>
          <p:cNvPr id="48" name="Text 46"/>
          <p:cNvSpPr/>
          <p:nvPr/>
        </p:nvSpPr>
        <p:spPr>
          <a:xfrm>
            <a:off x="2724150" y="3283744"/>
            <a:ext cx="1685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dirty="0">
                <a:solidFill>
                  <a:srgbClr val="F1EFE8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Dispositivos antigos falham na autenticação inicial da sessão.</a:t>
            </a:r>
            <a:endParaRPr lang="en-US" sz="855" dirty="0"/>
          </a:p>
        </p:txBody>
      </p:sp>
      <p:sp>
        <p:nvSpPr>
          <p:cNvPr id="49" name="Shape 47"/>
          <p:cNvSpPr/>
          <p:nvPr/>
        </p:nvSpPr>
        <p:spPr>
          <a:xfrm>
            <a:off x="4638675" y="2717006"/>
            <a:ext cx="1914525" cy="1123950"/>
          </a:xfrm>
          <a:prstGeom prst="roundRect">
            <a:avLst>
              <a:gd name="adj" fmla="val 9763"/>
            </a:avLst>
          </a:prstGeom>
          <a:solidFill>
            <a:srgbClr val="000000"/>
          </a:solidFill>
          <a:ln w="4524">
            <a:solidFill>
              <a:srgbClr val="2222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2975" y="2831306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LATÊNCIA</a:t>
            </a:r>
            <a:endParaRPr lang="en-US" sz="1140" dirty="0"/>
          </a:p>
        </p:txBody>
      </p:sp>
      <p:sp>
        <p:nvSpPr>
          <p:cNvPr id="51" name="Text 49"/>
          <p:cNvSpPr/>
          <p:nvPr/>
        </p:nvSpPr>
        <p:spPr>
          <a:xfrm>
            <a:off x="4752975" y="3078956"/>
            <a:ext cx="130492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Retry storm no gateway</a:t>
            </a:r>
            <a:endParaRPr lang="en-US" sz="855" dirty="0"/>
          </a:p>
        </p:txBody>
      </p:sp>
      <p:sp>
        <p:nvSpPr>
          <p:cNvPr id="52" name="Text 50"/>
          <p:cNvSpPr/>
          <p:nvPr/>
        </p:nvSpPr>
        <p:spPr>
          <a:xfrm>
            <a:off x="4752975" y="3283744"/>
            <a:ext cx="16859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dirty="0">
                <a:solidFill>
                  <a:srgbClr val="F1EFE8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Loop de reconexão do player sobrecarrega servidores de borda.</a:t>
            </a:r>
            <a:endParaRPr lang="en-US" sz="855" dirty="0"/>
          </a:p>
        </p:txBody>
      </p:sp>
      <p:sp>
        <p:nvSpPr>
          <p:cNvPr id="53" name="Shape 51"/>
          <p:cNvSpPr/>
          <p:nvPr/>
        </p:nvSpPr>
        <p:spPr>
          <a:xfrm>
            <a:off x="6667500" y="2717006"/>
            <a:ext cx="1914525" cy="1123950"/>
          </a:xfrm>
          <a:prstGeom prst="roundRect">
            <a:avLst>
              <a:gd name="adj" fmla="val 9763"/>
            </a:avLst>
          </a:prstGeom>
          <a:solidFill>
            <a:srgbClr val="330000"/>
          </a:solidFill>
          <a:ln w="4524">
            <a:solidFill>
              <a:srgbClr val="FF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1800" y="2831306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REGRESSÃO</a:t>
            </a:r>
            <a:endParaRPr lang="en-US" sz="1140" dirty="0"/>
          </a:p>
        </p:txBody>
      </p:sp>
      <p:sp>
        <p:nvSpPr>
          <p:cNvPr id="55" name="Text 53"/>
          <p:cNvSpPr/>
          <p:nvPr/>
        </p:nvSpPr>
        <p:spPr>
          <a:xfrm>
            <a:off x="6781800" y="3078956"/>
            <a:ext cx="1071563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Gatilho de Rollback</a:t>
            </a:r>
            <a:endParaRPr lang="en-US" sz="855" dirty="0"/>
          </a:p>
        </p:txBody>
      </p:sp>
      <p:sp>
        <p:nvSpPr>
          <p:cNvPr id="56" name="Text 54"/>
          <p:cNvSpPr/>
          <p:nvPr/>
        </p:nvSpPr>
        <p:spPr>
          <a:xfrm>
            <a:off x="6781800" y="3283744"/>
            <a:ext cx="16859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Argus correlaciona erros à versão do deploy e inicia reversão de rota.</a:t>
            </a:r>
            <a:endParaRPr lang="en-US" sz="855" dirty="0"/>
          </a:p>
        </p:txBody>
      </p:sp>
      <p:sp>
        <p:nvSpPr>
          <p:cNvPr id="57" name="Shape 55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0" name="Shape 57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61" name="Text 58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62" name="Text 59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0" y="666750"/>
            <a:ext cx="3810000" cy="3810000"/>
          </a:xfrm>
          <a:prstGeom prst="ellipse">
            <a:avLst/>
          </a:prstGeom>
          <a:solidFill>
            <a:srgbClr val="FF00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7591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402773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870364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337954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805545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273136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740727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208318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675909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000" y="514350"/>
            <a:ext cx="8382000" cy="4162425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381000" y="1519238"/>
            <a:ext cx="8382000" cy="215265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381000" y="1519238"/>
            <a:ext cx="8382000" cy="7620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3505200" y="1557338"/>
            <a:ext cx="9525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33900" y="1519238"/>
            <a:ext cx="76200" cy="7620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686300" y="1557338"/>
            <a:ext cx="952500" cy="0"/>
          </a:xfrm>
          <a:prstGeom prst="line">
            <a:avLst/>
          </a:prstGeom>
          <a:noFill/>
          <a:ln w="9049">
            <a:solidFill>
              <a:srgbClr val="FF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14500" y="1824038"/>
            <a:ext cx="5715000" cy="1162050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1714500" y="1824038"/>
            <a:ext cx="57150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43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complexidade fica por trás.</a:t>
            </a:r>
            <a:endParaRPr lang="en-US" sz="2494" dirty="0"/>
          </a:p>
        </p:txBody>
      </p:sp>
      <p:sp>
        <p:nvSpPr>
          <p:cNvPr id="24" name="Text 22"/>
          <p:cNvSpPr/>
          <p:nvPr/>
        </p:nvSpPr>
        <p:spPr>
          <a:xfrm>
            <a:off x="1714500" y="2671763"/>
            <a:ext cx="5715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FF0000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 investigação fica na frente.</a:t>
            </a:r>
            <a:endParaRPr lang="en-US" sz="2138" dirty="0"/>
          </a:p>
        </p:txBody>
      </p:sp>
      <p:sp>
        <p:nvSpPr>
          <p:cNvPr id="25" name="Text 23"/>
          <p:cNvSpPr/>
          <p:nvPr/>
        </p:nvSpPr>
        <p:spPr>
          <a:xfrm>
            <a:off x="2667000" y="3214688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FFFFFF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Menos tempo procurando culpados. Mais estabilidade na maior plataforma de streaming do país.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30" name="Text 27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31" name="Text 28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39012" y="-1209675"/>
            <a:ext cx="3333750" cy="3333750"/>
          </a:xfrm>
          <a:prstGeom prst="ellipse">
            <a:avLst/>
          </a:prstGeom>
          <a:solidFill>
            <a:srgbClr val="FF000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714375"/>
            <a:ext cx="8382000" cy="4143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714375"/>
            <a:ext cx="4414838" cy="414338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714375"/>
            <a:ext cx="441483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92"/>
              </a:lnSpc>
              <a:buNone/>
            </a:pPr>
            <a:r>
              <a:rPr lang="en-US" sz="2494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Além da arquitetura.</a:t>
            </a:r>
            <a:endParaRPr lang="en-US" sz="2494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5838" y="2338388"/>
            <a:ext cx="3209925" cy="1790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11" name="Text 7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12" name="Text 8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13" name="Shape 9"/>
          <p:cNvSpPr/>
          <p:nvPr/>
        </p:nvSpPr>
        <p:spPr>
          <a:xfrm>
            <a:off x="1514475" y="1857375"/>
            <a:ext cx="2152650" cy="266700"/>
          </a:xfrm>
          <a:prstGeom prst="rect">
            <a:avLst/>
          </a:prstGeom>
          <a:noFill/>
          <a:ln/>
        </p:spPr>
      </p:sp>
      <p:sp>
        <p:nvSpPr>
          <p:cNvPr id="14" name="Text 10"/>
          <p:cNvSpPr/>
          <p:nvPr/>
        </p:nvSpPr>
        <p:spPr>
          <a:xfrm>
            <a:off x="1514475" y="1857375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60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Estilização visual</a:t>
            </a:r>
            <a:endParaRPr lang="en-US" sz="1603" dirty="0"/>
          </a:p>
        </p:txBody>
      </p:sp>
      <p:sp>
        <p:nvSpPr>
          <p:cNvPr id="15" name="Shape 11"/>
          <p:cNvSpPr/>
          <p:nvPr/>
        </p:nvSpPr>
        <p:spPr>
          <a:xfrm>
            <a:off x="5938838" y="1857375"/>
            <a:ext cx="1185863" cy="266700"/>
          </a:xfrm>
          <a:prstGeom prst="rect">
            <a:avLst/>
          </a:prstGeom>
          <a:noFill/>
          <a:ln/>
        </p:spPr>
      </p:sp>
      <p:sp>
        <p:nvSpPr>
          <p:cNvPr id="16" name="Text 12"/>
          <p:cNvSpPr/>
          <p:nvPr/>
        </p:nvSpPr>
        <p:spPr>
          <a:xfrm>
            <a:off x="5938838" y="1857375"/>
            <a:ext cx="11858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60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Backend</a:t>
            </a:r>
            <a:endParaRPr lang="en-US" sz="1603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38713" y="2338388"/>
            <a:ext cx="3186113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714375"/>
            <a:ext cx="6019800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0" y="76200"/>
            <a:ext cx="152400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buNone/>
            </a:pPr>
            <a:r>
              <a:rPr lang="en-US" sz="3088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Agora</a:t>
            </a:r>
            <a:endParaRPr lang="en-US" sz="3088" dirty="0"/>
          </a:p>
        </p:txBody>
      </p:sp>
      <p:sp>
        <p:nvSpPr>
          <p:cNvPr id="5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9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1075" y="657225"/>
            <a:ext cx="718185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6" name="Text 3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7" name="Text 4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2428875" y="119063"/>
            <a:ext cx="42862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buNone/>
            </a:pPr>
            <a:r>
              <a:rPr lang="en-US" sz="3088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Explorar eventos</a:t>
            </a:r>
            <a:endParaRPr lang="en-US" sz="3088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" y="666750"/>
            <a:ext cx="7162800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6125" y="71438"/>
            <a:ext cx="25717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buNone/>
            </a:pPr>
            <a:r>
              <a:rPr lang="en-US" sz="3088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Comparar</a:t>
            </a:r>
            <a:endParaRPr lang="en-US" sz="3088" dirty="0"/>
          </a:p>
        </p:txBody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0600" y="666750"/>
            <a:ext cx="7162800" cy="4476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7563" y="76200"/>
            <a:ext cx="25717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buNone/>
            </a:pPr>
            <a:r>
              <a:rPr lang="en-US" sz="3088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Hipóteses</a:t>
            </a:r>
            <a:endParaRPr lang="en-US" sz="3088" dirty="0"/>
          </a:p>
        </p:txBody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2975" y="609600"/>
            <a:ext cx="7253288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9488" y="95250"/>
            <a:ext cx="2105025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buNone/>
            </a:pPr>
            <a:r>
              <a:rPr lang="en-US" sz="3088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Timeline</a:t>
            </a:r>
            <a:endParaRPr lang="en-US" sz="3088" dirty="0"/>
          </a:p>
        </p:txBody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57275" y="604838"/>
            <a:ext cx="7024688" cy="45386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9488" y="200025"/>
            <a:ext cx="2105025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0"/>
              </a:lnSpc>
              <a:buNone/>
            </a:pPr>
            <a:r>
              <a:rPr lang="en-US" sz="3088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Recorte</a:t>
            </a:r>
            <a:endParaRPr lang="en-US" sz="3088" dirty="0"/>
          </a:p>
        </p:txBody>
      </p:sp>
      <p:sp>
        <p:nvSpPr>
          <p:cNvPr id="3" name="Shape 1"/>
          <p:cNvSpPr/>
          <p:nvPr/>
        </p:nvSpPr>
        <p:spPr>
          <a:xfrm>
            <a:off x="381000" y="242888"/>
            <a:ext cx="1457325" cy="223838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81000" y="247650"/>
            <a:ext cx="247650" cy="214313"/>
          </a:xfrm>
          <a:prstGeom prst="roundRect">
            <a:avLst>
              <a:gd name="adj" fmla="val 34133"/>
            </a:avLst>
          </a:prstGeom>
          <a:solidFill>
            <a:srgbClr val="FF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326231"/>
            <a:ext cx="47625" cy="57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42888"/>
            <a:ext cx="1152525" cy="223838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85800" y="242888"/>
            <a:ext cx="1076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globoplay</a:t>
            </a:r>
            <a:endParaRPr lang="en-US" sz="1283" dirty="0"/>
          </a:p>
        </p:txBody>
      </p:sp>
      <p:sp>
        <p:nvSpPr>
          <p:cNvPr id="8" name="Text 5"/>
          <p:cNvSpPr/>
          <p:nvPr/>
        </p:nvSpPr>
        <p:spPr>
          <a:xfrm>
            <a:off x="1790700" y="242888"/>
            <a:ext cx="4762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83" dirty="0">
                <a:solidFill>
                  <a:srgbClr val="FF0000">
                    <a:alpha val="99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|</a:t>
            </a:r>
            <a:endParaRPr lang="en-US" sz="128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57288" y="709613"/>
            <a:ext cx="6967538" cy="443388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467" t="0" b="0"/>
          <a:stretch/>
        </p:blipFill>
        <p:spPr>
          <a:xfrm>
            <a:off x="-42862" y="0"/>
            <a:ext cx="9144000" cy="51196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2026-09-11T17:07:43Z</dcterms:created>
  <dcterms:modified xsi:type="dcterms:W3CDTF">2026-09-11T17:07:43Z</dcterms:modified>
</cp:coreProperties>
</file>