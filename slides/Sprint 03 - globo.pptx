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embeddedFontLst>
    <p:embeddedFont>
      <p:font typeface="Unbounded"/>
      <p:regular r:id="rId26"/>
    </p:embeddedFont>
    <p:embeddedFont>
      <p:font typeface="Geist"/>
      <p:regular r:id="rId27"/>
    </p:embeddedFont>
    <p:embeddedFont>
      <p:font typeface="Inter"/>
      <p:regular r:id="rId2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font" Target="fonts/rId26.fntdata"/><Relationship Id="rId27" Type="http://schemas.openxmlformats.org/officeDocument/2006/relationships/font" Target="fonts/rId27.fntdata"/><Relationship Id="rId28" Type="http://schemas.openxmlformats.org/officeDocument/2006/relationships/font" Target="fonts/rId2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38300" y="1095375"/>
            <a:ext cx="5866890" cy="2950369"/>
          </a:xfrm>
          <a:prstGeom prst="rect">
            <a:avLst/>
          </a:prstGeom>
          <a:noFill/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45821" y="1095375"/>
            <a:ext cx="5851847" cy="293911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258050" y="295275"/>
            <a:ext cx="1662113" cy="385763"/>
          </a:xfrm>
          <a:prstGeom prst="rect">
            <a:avLst/>
          </a:prstGeom>
          <a:noFill/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260654" y="295275"/>
            <a:ext cx="1654746" cy="381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52425" y="4276725"/>
            <a:ext cx="1185863" cy="642938"/>
          </a:xfrm>
          <a:prstGeom prst="rect">
            <a:avLst/>
          </a:prstGeom>
          <a:noFill/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58775" y="4276725"/>
            <a:ext cx="1168400" cy="6382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881187" y="1962150"/>
            <a:ext cx="5378012" cy="966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30"/>
              </a:lnSpc>
              <a:buNone/>
            </a:pPr>
            <a:r>
              <a:rPr lang="en-US" sz="5830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SPRINT 03</a:t>
            </a:r>
            <a:endParaRPr lang="en-US" sz="58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76300"/>
            <a:ext cx="5429250" cy="3386138"/>
          </a:xfrm>
          <a:prstGeom prst="ellipse">
            <a:avLst/>
          </a:prstGeom>
          <a:solidFill>
            <a:srgbClr val="FF000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42888"/>
            <a:ext cx="1457325" cy="223838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381000" y="247650"/>
            <a:ext cx="247650" cy="214313"/>
          </a:xfrm>
          <a:prstGeom prst="roundRect">
            <a:avLst>
              <a:gd name="adj" fmla="val 34133"/>
            </a:avLst>
          </a:prstGeom>
          <a:solidFill>
            <a:srgbClr val="FF00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1012" y="326231"/>
            <a:ext cx="47625" cy="571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242888"/>
            <a:ext cx="1152525" cy="223838"/>
          </a:xfrm>
          <a:prstGeom prst="rect">
            <a:avLst/>
          </a:prstGeom>
          <a:noFill/>
          <a:ln/>
        </p:spPr>
      </p:sp>
      <p:sp>
        <p:nvSpPr>
          <p:cNvPr id="7" name="Text 4"/>
          <p:cNvSpPr/>
          <p:nvPr/>
        </p:nvSpPr>
        <p:spPr>
          <a:xfrm>
            <a:off x="685800" y="242888"/>
            <a:ext cx="10763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0"/>
              </a:lnSpc>
              <a:buNone/>
            </a:pPr>
            <a:r>
              <a:rPr lang="en-US" sz="1283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globoplay</a:t>
            </a:r>
            <a:endParaRPr lang="en-US" sz="1283" dirty="0"/>
          </a:p>
        </p:txBody>
      </p:sp>
      <p:sp>
        <p:nvSpPr>
          <p:cNvPr id="8" name="Text 5"/>
          <p:cNvSpPr/>
          <p:nvPr/>
        </p:nvSpPr>
        <p:spPr>
          <a:xfrm>
            <a:off x="1790700" y="242888"/>
            <a:ext cx="47625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buNone/>
            </a:pPr>
            <a:r>
              <a:rPr lang="en-US" sz="1283" dirty="0">
                <a:solidFill>
                  <a:srgbClr val="FF0000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|</a:t>
            </a:r>
            <a:endParaRPr lang="en-US" sz="1283" dirty="0"/>
          </a:p>
        </p:txBody>
      </p:sp>
      <p:sp>
        <p:nvSpPr>
          <p:cNvPr id="9" name="Text 6"/>
          <p:cNvSpPr/>
          <p:nvPr/>
        </p:nvSpPr>
        <p:spPr>
          <a:xfrm>
            <a:off x="381000" y="823913"/>
            <a:ext cx="8382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82"/>
              </a:lnSpc>
              <a:buNone/>
            </a:pPr>
            <a:r>
              <a:rPr lang="en-US" sz="2280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Agenda</a:t>
            </a:r>
            <a:endParaRPr lang="en-US" sz="2280" dirty="0"/>
          </a:p>
        </p:txBody>
      </p:sp>
      <p:sp>
        <p:nvSpPr>
          <p:cNvPr id="10" name="Text 7"/>
          <p:cNvSpPr/>
          <p:nvPr/>
        </p:nvSpPr>
        <p:spPr>
          <a:xfrm>
            <a:off x="557213" y="1619250"/>
            <a:ext cx="8382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82"/>
              </a:lnSpc>
              <a:buNone/>
            </a:pPr>
            <a:r>
              <a:rPr lang="en-US" sz="1710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Arquitetura </a:t>
            </a:r>
            <a:endParaRPr lang="en-US" sz="1710" dirty="0"/>
          </a:p>
        </p:txBody>
      </p:sp>
      <p:sp>
        <p:nvSpPr>
          <p:cNvPr id="11" name="Text 8"/>
          <p:cNvSpPr/>
          <p:nvPr/>
        </p:nvSpPr>
        <p:spPr>
          <a:xfrm>
            <a:off x="557213" y="2495550"/>
            <a:ext cx="8382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82"/>
              </a:lnSpc>
              <a:buNone/>
            </a:pPr>
            <a:r>
              <a:rPr lang="en-US" sz="1710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Diagramas UML</a:t>
            </a:r>
            <a:endParaRPr lang="en-US" sz="1710" dirty="0"/>
          </a:p>
        </p:txBody>
      </p:sp>
      <p:sp>
        <p:nvSpPr>
          <p:cNvPr id="12" name="Text 9"/>
          <p:cNvSpPr/>
          <p:nvPr/>
        </p:nvSpPr>
        <p:spPr>
          <a:xfrm>
            <a:off x="557213" y="2057400"/>
            <a:ext cx="8382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82"/>
              </a:lnSpc>
              <a:buNone/>
            </a:pPr>
            <a:r>
              <a:rPr lang="en-US" sz="1710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Diagrama de Implantação</a:t>
            </a:r>
            <a:endParaRPr lang="en-US" sz="1710" dirty="0"/>
          </a:p>
        </p:txBody>
      </p:sp>
      <p:sp>
        <p:nvSpPr>
          <p:cNvPr id="13" name="Text 10"/>
          <p:cNvSpPr/>
          <p:nvPr/>
        </p:nvSpPr>
        <p:spPr>
          <a:xfrm>
            <a:off x="557213" y="2933700"/>
            <a:ext cx="8382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82"/>
              </a:lnSpc>
              <a:buNone/>
            </a:pPr>
            <a:r>
              <a:rPr lang="en-US" sz="1710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Testes K6</a:t>
            </a:r>
            <a:endParaRPr lang="en-US" sz="17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0" y="-857250"/>
            <a:ext cx="2000250" cy="2000250"/>
          </a:xfrm>
          <a:prstGeom prst="ellipse">
            <a:avLst/>
          </a:prstGeom>
          <a:noFill/>
          <a:ln w="208121">
            <a:solidFill>
              <a:srgbClr val="59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1000" y="242888"/>
            <a:ext cx="1457325" cy="223838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381000" y="247650"/>
            <a:ext cx="247650" cy="214313"/>
          </a:xfrm>
          <a:prstGeom prst="roundRect">
            <a:avLst>
              <a:gd name="adj" fmla="val 34133"/>
            </a:avLst>
          </a:prstGeom>
          <a:solidFill>
            <a:srgbClr val="FF00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1012" y="326231"/>
            <a:ext cx="47625" cy="571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242888"/>
            <a:ext cx="1152525" cy="223838"/>
          </a:xfrm>
          <a:prstGeom prst="rect">
            <a:avLst/>
          </a:prstGeom>
          <a:noFill/>
          <a:ln/>
        </p:spPr>
      </p:sp>
      <p:sp>
        <p:nvSpPr>
          <p:cNvPr id="7" name="Text 4"/>
          <p:cNvSpPr/>
          <p:nvPr/>
        </p:nvSpPr>
        <p:spPr>
          <a:xfrm>
            <a:off x="685800" y="242888"/>
            <a:ext cx="10763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0"/>
              </a:lnSpc>
              <a:buNone/>
            </a:pPr>
            <a:r>
              <a:rPr lang="en-US" sz="1283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globoplay</a:t>
            </a:r>
            <a:endParaRPr lang="en-US" sz="1283" dirty="0"/>
          </a:p>
        </p:txBody>
      </p:sp>
      <p:sp>
        <p:nvSpPr>
          <p:cNvPr id="8" name="Text 5"/>
          <p:cNvSpPr/>
          <p:nvPr/>
        </p:nvSpPr>
        <p:spPr>
          <a:xfrm>
            <a:off x="1790700" y="242888"/>
            <a:ext cx="47625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buNone/>
            </a:pPr>
            <a:r>
              <a:rPr lang="en-US" sz="1283" dirty="0">
                <a:solidFill>
                  <a:srgbClr val="FF0000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|</a:t>
            </a:r>
            <a:endParaRPr lang="en-US" sz="1283" dirty="0"/>
          </a:p>
        </p:txBody>
      </p:sp>
      <p:sp>
        <p:nvSpPr>
          <p:cNvPr id="9" name="Text 6"/>
          <p:cNvSpPr/>
          <p:nvPr/>
        </p:nvSpPr>
        <p:spPr>
          <a:xfrm>
            <a:off x="381000" y="628650"/>
            <a:ext cx="8382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6"/>
              </a:lnSpc>
              <a:buNone/>
            </a:pPr>
            <a:r>
              <a:rPr lang="en-US" sz="926" dirty="0">
                <a:solidFill>
                  <a:srgbClr val="FF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ARQUITETURA</a:t>
            </a:r>
            <a:endParaRPr lang="en-US" sz="926" dirty="0"/>
          </a:p>
        </p:txBody>
      </p:sp>
      <p:sp>
        <p:nvSpPr>
          <p:cNvPr id="10" name="Text 7"/>
          <p:cNvSpPr/>
          <p:nvPr/>
        </p:nvSpPr>
        <p:spPr>
          <a:xfrm>
            <a:off x="381000" y="823913"/>
            <a:ext cx="8096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73"/>
              </a:lnSpc>
              <a:buNone/>
            </a:pPr>
            <a:r>
              <a:rPr lang="en-US" sz="2066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Arquitetura atual</a:t>
            </a:r>
            <a:endParaRPr lang="en-US" sz="2066" dirty="0"/>
          </a:p>
        </p:txBody>
      </p:sp>
      <p:sp>
        <p:nvSpPr>
          <p:cNvPr id="11" name="Shape 8"/>
          <p:cNvSpPr/>
          <p:nvPr/>
        </p:nvSpPr>
        <p:spPr>
          <a:xfrm>
            <a:off x="381000" y="1343025"/>
            <a:ext cx="8382000" cy="9525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Text 9"/>
          <p:cNvSpPr/>
          <p:nvPr/>
        </p:nvSpPr>
        <p:spPr>
          <a:xfrm>
            <a:off x="381000" y="1504950"/>
            <a:ext cx="2476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784" b="1" dirty="0">
                <a:solidFill>
                  <a:srgbClr val="FF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INGESTÃO ASSÍNCRONA</a:t>
            </a:r>
            <a:endParaRPr lang="en-US" sz="784" dirty="0"/>
          </a:p>
        </p:txBody>
      </p:sp>
      <p:sp>
        <p:nvSpPr>
          <p:cNvPr id="13" name="Shape 10"/>
          <p:cNvSpPr/>
          <p:nvPr/>
        </p:nvSpPr>
        <p:spPr>
          <a:xfrm>
            <a:off x="381000" y="1666875"/>
            <a:ext cx="1190625" cy="904875"/>
          </a:xfrm>
          <a:prstGeom prst="roundRect">
            <a:avLst>
              <a:gd name="adj" fmla="val 18189"/>
            </a:avLst>
          </a:prstGeom>
          <a:solidFill>
            <a:srgbClr val="F4F1EB"/>
          </a:solidFill>
          <a:ln/>
        </p:spPr>
      </p:sp>
      <p:sp>
        <p:nvSpPr>
          <p:cNvPr id="14" name="Text 11"/>
          <p:cNvSpPr/>
          <p:nvPr/>
        </p:nvSpPr>
        <p:spPr>
          <a:xfrm>
            <a:off x="495300" y="1771650"/>
            <a:ext cx="962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7"/>
              </a:lnSpc>
              <a:buNone/>
            </a:pPr>
            <a:r>
              <a:rPr lang="en-US" sz="998" b="1" dirty="0">
                <a:solidFill>
                  <a:srgbClr val="00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Fontes</a:t>
            </a:r>
            <a:endParaRPr lang="en-US" sz="998" dirty="0"/>
          </a:p>
        </p:txBody>
      </p:sp>
      <p:sp>
        <p:nvSpPr>
          <p:cNvPr id="15" name="Text 12"/>
          <p:cNvSpPr/>
          <p:nvPr/>
        </p:nvSpPr>
        <p:spPr>
          <a:xfrm>
            <a:off x="495300" y="1971675"/>
            <a:ext cx="9620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784" dirty="0">
                <a:solidFill>
                  <a:srgbClr val="4F4F4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App de TV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495300" y="2152650"/>
            <a:ext cx="9620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784" dirty="0">
                <a:solidFill>
                  <a:srgbClr val="4F4F4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Simulador de CDC</a:t>
            </a:r>
            <a:endParaRPr lang="en-US" sz="784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47825" y="2052637"/>
            <a:ext cx="219075" cy="1143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1952625" y="1666875"/>
            <a:ext cx="1095375" cy="904875"/>
          </a:xfrm>
          <a:prstGeom prst="roundRect">
            <a:avLst>
              <a:gd name="adj" fmla="val 18189"/>
            </a:avLst>
          </a:prstGeom>
          <a:solidFill>
            <a:srgbClr val="DDEBF7"/>
          </a:solidFill>
          <a:ln/>
        </p:spPr>
      </p:sp>
      <p:sp>
        <p:nvSpPr>
          <p:cNvPr id="19" name="Text 15"/>
          <p:cNvSpPr/>
          <p:nvPr/>
        </p:nvSpPr>
        <p:spPr>
          <a:xfrm>
            <a:off x="2066925" y="1771650"/>
            <a:ext cx="866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3"/>
              </a:lnSpc>
              <a:buNone/>
            </a:pPr>
            <a:r>
              <a:rPr lang="en-US" sz="855" b="1" dirty="0">
                <a:solidFill>
                  <a:srgbClr val="00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API Gateway</a:t>
            </a:r>
            <a:endParaRPr lang="en-US" sz="855" dirty="0"/>
          </a:p>
        </p:txBody>
      </p:sp>
      <p:sp>
        <p:nvSpPr>
          <p:cNvPr id="20" name="Text 16"/>
          <p:cNvSpPr/>
          <p:nvPr/>
        </p:nvSpPr>
        <p:spPr>
          <a:xfrm>
            <a:off x="2066925" y="2085975"/>
            <a:ext cx="8667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748" dirty="0">
                <a:solidFill>
                  <a:srgbClr val="4F4F4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POST /events</a:t>
            </a:r>
            <a:endParaRPr lang="en-US" sz="748" dirty="0"/>
          </a:p>
        </p:txBody>
      </p:sp>
      <p:sp>
        <p:nvSpPr>
          <p:cNvPr id="21" name="Text 17"/>
          <p:cNvSpPr/>
          <p:nvPr/>
        </p:nvSpPr>
        <p:spPr>
          <a:xfrm>
            <a:off x="2066925" y="2262188"/>
            <a:ext cx="8667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748" dirty="0">
                <a:solidFill>
                  <a:srgbClr val="4F4F4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POST /changes</a:t>
            </a:r>
            <a:endParaRPr lang="en-US" sz="748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124200" y="2052637"/>
            <a:ext cx="219075" cy="11430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3429000" y="1666875"/>
            <a:ext cx="1143000" cy="904875"/>
          </a:xfrm>
          <a:prstGeom prst="roundRect">
            <a:avLst>
              <a:gd name="adj" fmla="val 18189"/>
            </a:avLst>
          </a:prstGeom>
          <a:solidFill>
            <a:srgbClr val="DDEBF7"/>
          </a:solidFill>
          <a:ln/>
        </p:spPr>
      </p:sp>
      <p:sp>
        <p:nvSpPr>
          <p:cNvPr id="24" name="Text 19"/>
          <p:cNvSpPr/>
          <p:nvPr/>
        </p:nvSpPr>
        <p:spPr>
          <a:xfrm>
            <a:off x="3543300" y="1771650"/>
            <a:ext cx="914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7"/>
              </a:lnSpc>
              <a:buNone/>
            </a:pPr>
            <a:r>
              <a:rPr lang="en-US" sz="998" b="1" dirty="0">
                <a:solidFill>
                  <a:srgbClr val="00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SQS</a:t>
            </a:r>
            <a:endParaRPr lang="en-US" sz="998" dirty="0"/>
          </a:p>
        </p:txBody>
      </p:sp>
      <p:sp>
        <p:nvSpPr>
          <p:cNvPr id="25" name="Text 20"/>
          <p:cNvSpPr/>
          <p:nvPr/>
        </p:nvSpPr>
        <p:spPr>
          <a:xfrm>
            <a:off x="3543300" y="1971675"/>
            <a:ext cx="9144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748" dirty="0">
                <a:solidFill>
                  <a:srgbClr val="4F4F4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 filas + DLQs</a:t>
            </a:r>
            <a:endParaRPr lang="en-US" sz="748" dirty="0"/>
          </a:p>
        </p:txBody>
      </p:sp>
      <p:sp>
        <p:nvSpPr>
          <p:cNvPr id="26" name="Text 21"/>
          <p:cNvSpPr/>
          <p:nvPr/>
        </p:nvSpPr>
        <p:spPr>
          <a:xfrm>
            <a:off x="3543300" y="2147888"/>
            <a:ext cx="9144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748" dirty="0">
                <a:solidFill>
                  <a:srgbClr val="4F4F4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buffer e redrive</a:t>
            </a:r>
            <a:endParaRPr lang="en-US" sz="748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648200" y="2052637"/>
            <a:ext cx="219075" cy="11430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4953000" y="1666875"/>
            <a:ext cx="1571625" cy="904875"/>
          </a:xfrm>
          <a:prstGeom prst="roundRect">
            <a:avLst>
              <a:gd name="adj" fmla="val 18189"/>
            </a:avLst>
          </a:prstGeom>
          <a:solidFill>
            <a:srgbClr val="DDF4ED"/>
          </a:solidFill>
          <a:ln/>
        </p:spPr>
      </p:sp>
      <p:sp>
        <p:nvSpPr>
          <p:cNvPr id="29" name="Text 23"/>
          <p:cNvSpPr/>
          <p:nvPr/>
        </p:nvSpPr>
        <p:spPr>
          <a:xfrm>
            <a:off x="5067300" y="1771650"/>
            <a:ext cx="13430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5"/>
              </a:lnSpc>
              <a:buNone/>
            </a:pPr>
            <a:r>
              <a:rPr lang="en-US" sz="926" b="1" dirty="0">
                <a:solidFill>
                  <a:srgbClr val="00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ECS Fargate</a:t>
            </a:r>
            <a:endParaRPr lang="en-US" sz="926" dirty="0"/>
          </a:p>
        </p:txBody>
      </p:sp>
      <p:sp>
        <p:nvSpPr>
          <p:cNvPr id="30" name="Text 24"/>
          <p:cNvSpPr/>
          <p:nvPr/>
        </p:nvSpPr>
        <p:spPr>
          <a:xfrm>
            <a:off x="5067300" y="1962150"/>
            <a:ext cx="134302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748" dirty="0">
                <a:solidFill>
                  <a:srgbClr val="4F4F4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workers · simulator</a:t>
            </a:r>
            <a:endParaRPr lang="en-US" sz="748" dirty="0"/>
          </a:p>
        </p:txBody>
      </p:sp>
      <p:sp>
        <p:nvSpPr>
          <p:cNvPr id="31" name="Text 25"/>
          <p:cNvSpPr/>
          <p:nvPr/>
        </p:nvSpPr>
        <p:spPr>
          <a:xfrm>
            <a:off x="5067300" y="2138363"/>
            <a:ext cx="134302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748" dirty="0">
                <a:solidFill>
                  <a:srgbClr val="4F4F4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processing</a:t>
            </a:r>
            <a:endParaRPr lang="en-US" sz="748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600825" y="2052637"/>
            <a:ext cx="219075" cy="114300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6905625" y="1666875"/>
            <a:ext cx="1666875" cy="2452688"/>
          </a:xfrm>
          <a:prstGeom prst="roundRect">
            <a:avLst>
              <a:gd name="adj" fmla="val 9874"/>
            </a:avLst>
          </a:prstGeom>
          <a:noFill/>
          <a:ln w="9049">
            <a:solidFill>
              <a:srgbClr val="FFFFFF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7029450" y="1790700"/>
            <a:ext cx="14192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6"/>
              </a:lnSpc>
              <a:buNone/>
            </a:pPr>
            <a:r>
              <a:rPr lang="en-US" sz="926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PostgreSQL 16</a:t>
            </a:r>
            <a:endParaRPr lang="en-US" sz="926" dirty="0"/>
          </a:p>
        </p:txBody>
      </p:sp>
      <p:sp>
        <p:nvSpPr>
          <p:cNvPr id="35" name="Text 28"/>
          <p:cNvSpPr/>
          <p:nvPr/>
        </p:nvSpPr>
        <p:spPr>
          <a:xfrm>
            <a:off x="7029450" y="1981200"/>
            <a:ext cx="141922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748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RDS privado · fonte única</a:t>
            </a:r>
            <a:endParaRPr lang="en-US" sz="748" dirty="0"/>
          </a:p>
        </p:txBody>
      </p:sp>
      <p:sp>
        <p:nvSpPr>
          <p:cNvPr id="36" name="Shape 29"/>
          <p:cNvSpPr/>
          <p:nvPr/>
        </p:nvSpPr>
        <p:spPr>
          <a:xfrm>
            <a:off x="7029450" y="2238375"/>
            <a:ext cx="1419225" cy="276225"/>
          </a:xfrm>
          <a:prstGeom prst="roundRect">
            <a:avLst/>
          </a:prstGeom>
          <a:solidFill>
            <a:srgbClr val="E18820"/>
          </a:solidFill>
          <a:ln/>
        </p:spPr>
      </p:sp>
      <p:sp>
        <p:nvSpPr>
          <p:cNvPr id="37" name="Text 30"/>
          <p:cNvSpPr/>
          <p:nvPr/>
        </p:nvSpPr>
        <p:spPr>
          <a:xfrm>
            <a:off x="7029450" y="2300288"/>
            <a:ext cx="14192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3"/>
              </a:lnSpc>
              <a:buNone/>
            </a:pPr>
            <a:r>
              <a:rPr lang="en-US" sz="784" b="1" dirty="0">
                <a:solidFill>
                  <a:srgbClr val="00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BRONZE</a:t>
            </a:r>
            <a:endParaRPr lang="en-US" sz="784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681912" y="2543175"/>
            <a:ext cx="114300" cy="161925"/>
          </a:xfrm>
          <a:prstGeom prst="rect">
            <a:avLst/>
          </a:prstGeom>
        </p:spPr>
      </p:pic>
      <p:sp>
        <p:nvSpPr>
          <p:cNvPr id="39" name="Shape 31"/>
          <p:cNvSpPr/>
          <p:nvPr/>
        </p:nvSpPr>
        <p:spPr>
          <a:xfrm>
            <a:off x="7029450" y="2752725"/>
            <a:ext cx="1419225" cy="276225"/>
          </a:xfrm>
          <a:prstGeom prst="roundRect">
            <a:avLst/>
          </a:prstGeom>
          <a:solidFill>
            <a:srgbClr val="BDC0C6"/>
          </a:solidFill>
          <a:ln/>
        </p:spPr>
      </p:sp>
      <p:sp>
        <p:nvSpPr>
          <p:cNvPr id="40" name="Text 32"/>
          <p:cNvSpPr/>
          <p:nvPr/>
        </p:nvSpPr>
        <p:spPr>
          <a:xfrm>
            <a:off x="7029450" y="2814638"/>
            <a:ext cx="14192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3"/>
              </a:lnSpc>
              <a:buNone/>
            </a:pPr>
            <a:r>
              <a:rPr lang="en-US" sz="784" b="1" dirty="0">
                <a:solidFill>
                  <a:srgbClr val="00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SILVER</a:t>
            </a:r>
            <a:endParaRPr lang="en-US" sz="784" dirty="0"/>
          </a:p>
        </p:txBody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681912" y="3057525"/>
            <a:ext cx="114300" cy="161925"/>
          </a:xfrm>
          <a:prstGeom prst="rect">
            <a:avLst/>
          </a:prstGeom>
        </p:spPr>
      </p:pic>
      <p:sp>
        <p:nvSpPr>
          <p:cNvPr id="42" name="Shape 33"/>
          <p:cNvSpPr/>
          <p:nvPr/>
        </p:nvSpPr>
        <p:spPr>
          <a:xfrm>
            <a:off x="7029450" y="3267075"/>
            <a:ext cx="1419225" cy="276225"/>
          </a:xfrm>
          <a:prstGeom prst="roundRect">
            <a:avLst/>
          </a:prstGeom>
          <a:solidFill>
            <a:srgbClr val="FFD400"/>
          </a:solidFill>
          <a:ln/>
        </p:spPr>
      </p:sp>
      <p:sp>
        <p:nvSpPr>
          <p:cNvPr id="43" name="Text 34"/>
          <p:cNvSpPr/>
          <p:nvPr/>
        </p:nvSpPr>
        <p:spPr>
          <a:xfrm>
            <a:off x="7029450" y="3328988"/>
            <a:ext cx="14192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3"/>
              </a:lnSpc>
              <a:buNone/>
            </a:pPr>
            <a:r>
              <a:rPr lang="en-US" sz="784" b="1" dirty="0">
                <a:solidFill>
                  <a:srgbClr val="00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GOLD</a:t>
            </a:r>
            <a:endParaRPr lang="en-US" sz="784" dirty="0"/>
          </a:p>
        </p:txBody>
      </p:sp>
      <p:sp>
        <p:nvSpPr>
          <p:cNvPr id="44" name="Text 35"/>
          <p:cNvSpPr/>
          <p:nvPr/>
        </p:nvSpPr>
        <p:spPr>
          <a:xfrm>
            <a:off x="7029450" y="3714750"/>
            <a:ext cx="14192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3"/>
              </a:lnSpc>
              <a:buNone/>
            </a:pPr>
            <a:r>
              <a:rPr lang="en-US" sz="784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sim · etl · detect</a:t>
            </a:r>
            <a:endParaRPr lang="en-US" sz="784" dirty="0"/>
          </a:p>
        </p:txBody>
      </p:sp>
      <p:sp>
        <p:nvSpPr>
          <p:cNvPr id="45" name="Text 36"/>
          <p:cNvSpPr/>
          <p:nvPr/>
        </p:nvSpPr>
        <p:spPr>
          <a:xfrm>
            <a:off x="381000" y="2952750"/>
            <a:ext cx="2476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784" b="1" dirty="0">
                <a:solidFill>
                  <a:srgbClr val="FF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LEITURA SÍNCRONA</a:t>
            </a:r>
            <a:endParaRPr lang="en-US" sz="784" dirty="0"/>
          </a:p>
        </p:txBody>
      </p:sp>
      <p:sp>
        <p:nvSpPr>
          <p:cNvPr id="46" name="Shape 37"/>
          <p:cNvSpPr/>
          <p:nvPr/>
        </p:nvSpPr>
        <p:spPr>
          <a:xfrm>
            <a:off x="381000" y="3119438"/>
            <a:ext cx="1190625" cy="904875"/>
          </a:xfrm>
          <a:prstGeom prst="roundRect">
            <a:avLst>
              <a:gd name="adj" fmla="val 18189"/>
            </a:avLst>
          </a:prstGeom>
          <a:solidFill>
            <a:srgbClr val="F4F1EB"/>
          </a:solidFill>
          <a:ln/>
        </p:spPr>
      </p:sp>
      <p:sp>
        <p:nvSpPr>
          <p:cNvPr id="47" name="Text 38"/>
          <p:cNvSpPr/>
          <p:nvPr/>
        </p:nvSpPr>
        <p:spPr>
          <a:xfrm>
            <a:off x="495300" y="3224213"/>
            <a:ext cx="9620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5"/>
              </a:lnSpc>
              <a:buNone/>
            </a:pPr>
            <a:r>
              <a:rPr lang="en-US" sz="926" b="1" dirty="0">
                <a:solidFill>
                  <a:srgbClr val="00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S3 Frontend</a:t>
            </a:r>
            <a:endParaRPr lang="en-US" sz="926" dirty="0"/>
          </a:p>
        </p:txBody>
      </p:sp>
      <p:sp>
        <p:nvSpPr>
          <p:cNvPr id="48" name="Text 39"/>
          <p:cNvSpPr/>
          <p:nvPr/>
        </p:nvSpPr>
        <p:spPr>
          <a:xfrm>
            <a:off x="495300" y="3414713"/>
            <a:ext cx="96202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748" dirty="0">
                <a:solidFill>
                  <a:srgbClr val="4F4F4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Next.js estático</a:t>
            </a:r>
            <a:endParaRPr lang="en-US" sz="748" dirty="0"/>
          </a:p>
        </p:txBody>
      </p:sp>
      <p:sp>
        <p:nvSpPr>
          <p:cNvPr id="49" name="Text 40"/>
          <p:cNvSpPr/>
          <p:nvPr/>
        </p:nvSpPr>
        <p:spPr>
          <a:xfrm>
            <a:off x="495300" y="3590925"/>
            <a:ext cx="96202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748" dirty="0">
                <a:solidFill>
                  <a:srgbClr val="4F4F4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website HTTP</a:t>
            </a:r>
            <a:endParaRPr lang="en-US" sz="748" dirty="0"/>
          </a:p>
        </p:txBody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647825" y="3505200"/>
            <a:ext cx="219075" cy="114300"/>
          </a:xfrm>
          <a:prstGeom prst="rect">
            <a:avLst/>
          </a:prstGeom>
        </p:spPr>
      </p:pic>
      <p:sp>
        <p:nvSpPr>
          <p:cNvPr id="51" name="Shape 41"/>
          <p:cNvSpPr/>
          <p:nvPr/>
        </p:nvSpPr>
        <p:spPr>
          <a:xfrm>
            <a:off x="1952625" y="3119438"/>
            <a:ext cx="1095375" cy="904875"/>
          </a:xfrm>
          <a:prstGeom prst="roundRect">
            <a:avLst>
              <a:gd name="adj" fmla="val 18189"/>
            </a:avLst>
          </a:prstGeom>
          <a:solidFill>
            <a:srgbClr val="F4F1EB"/>
          </a:solidFill>
          <a:ln/>
        </p:spPr>
      </p:sp>
      <p:sp>
        <p:nvSpPr>
          <p:cNvPr id="52" name="Text 42"/>
          <p:cNvSpPr/>
          <p:nvPr/>
        </p:nvSpPr>
        <p:spPr>
          <a:xfrm>
            <a:off x="2066925" y="3224213"/>
            <a:ext cx="8667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3"/>
              </a:lnSpc>
              <a:buNone/>
            </a:pPr>
            <a:r>
              <a:rPr lang="en-US" sz="855" b="1" dirty="0">
                <a:solidFill>
                  <a:srgbClr val="00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Navegador</a:t>
            </a:r>
            <a:endParaRPr lang="en-US" sz="855" dirty="0"/>
          </a:p>
        </p:txBody>
      </p:sp>
      <p:sp>
        <p:nvSpPr>
          <p:cNvPr id="53" name="Text 43"/>
          <p:cNvSpPr/>
          <p:nvPr/>
        </p:nvSpPr>
        <p:spPr>
          <a:xfrm>
            <a:off x="2066925" y="3405188"/>
            <a:ext cx="8667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748" dirty="0">
                <a:solidFill>
                  <a:srgbClr val="4F4F4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Bearer dashboard</a:t>
            </a:r>
            <a:endParaRPr lang="en-US" sz="748" dirty="0"/>
          </a:p>
        </p:txBody>
      </p:sp>
      <p:sp>
        <p:nvSpPr>
          <p:cNvPr id="54" name="Text 44"/>
          <p:cNvSpPr/>
          <p:nvPr/>
        </p:nvSpPr>
        <p:spPr>
          <a:xfrm>
            <a:off x="2066925" y="3581400"/>
            <a:ext cx="8667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748" dirty="0">
                <a:solidFill>
                  <a:srgbClr val="4F4F4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sessionStorage</a:t>
            </a:r>
            <a:endParaRPr lang="en-US" sz="748" dirty="0"/>
          </a:p>
        </p:txBody>
      </p:sp>
      <p:pic>
        <p:nvPicPr>
          <p:cNvPr id="55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3124200" y="3505200"/>
            <a:ext cx="219075" cy="114300"/>
          </a:xfrm>
          <a:prstGeom prst="rect">
            <a:avLst/>
          </a:prstGeom>
        </p:spPr>
      </p:pic>
      <p:sp>
        <p:nvSpPr>
          <p:cNvPr id="56" name="Shape 45"/>
          <p:cNvSpPr/>
          <p:nvPr/>
        </p:nvSpPr>
        <p:spPr>
          <a:xfrm>
            <a:off x="3429000" y="3119438"/>
            <a:ext cx="1143000" cy="904875"/>
          </a:xfrm>
          <a:prstGeom prst="roundRect">
            <a:avLst>
              <a:gd name="adj" fmla="val 18189"/>
            </a:avLst>
          </a:prstGeom>
          <a:solidFill>
            <a:srgbClr val="F4F1EB"/>
          </a:solidFill>
          <a:ln w="9049">
            <a:solidFill>
              <a:srgbClr val="FF0000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3543300" y="3224213"/>
            <a:ext cx="914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7"/>
              </a:lnSpc>
              <a:buNone/>
            </a:pPr>
            <a:r>
              <a:rPr lang="en-US" sz="998" b="1" dirty="0">
                <a:solidFill>
                  <a:srgbClr val="00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ALB</a:t>
            </a:r>
            <a:endParaRPr lang="en-US" sz="998" dirty="0"/>
          </a:p>
        </p:txBody>
      </p:sp>
      <p:sp>
        <p:nvSpPr>
          <p:cNvPr id="58" name="Text 47"/>
          <p:cNvSpPr/>
          <p:nvPr/>
        </p:nvSpPr>
        <p:spPr>
          <a:xfrm>
            <a:off x="3543300" y="3424238"/>
            <a:ext cx="9144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748" dirty="0">
                <a:solidFill>
                  <a:srgbClr val="4F4F4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HTTP 80</a:t>
            </a:r>
            <a:endParaRPr lang="en-US" sz="748" dirty="0"/>
          </a:p>
        </p:txBody>
      </p:sp>
      <p:sp>
        <p:nvSpPr>
          <p:cNvPr id="59" name="Text 48"/>
          <p:cNvSpPr/>
          <p:nvPr/>
        </p:nvSpPr>
        <p:spPr>
          <a:xfrm>
            <a:off x="3543300" y="3600450"/>
            <a:ext cx="9144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748" dirty="0">
                <a:solidFill>
                  <a:srgbClr val="4F4F4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balanceamento</a:t>
            </a:r>
            <a:endParaRPr lang="en-US" sz="748" dirty="0"/>
          </a:p>
        </p:txBody>
      </p:sp>
      <p:pic>
        <p:nvPicPr>
          <p:cNvPr id="60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4648200" y="3505200"/>
            <a:ext cx="219075" cy="114300"/>
          </a:xfrm>
          <a:prstGeom prst="rect">
            <a:avLst/>
          </a:prstGeom>
        </p:spPr>
      </p:pic>
      <p:sp>
        <p:nvSpPr>
          <p:cNvPr id="61" name="Shape 49"/>
          <p:cNvSpPr/>
          <p:nvPr/>
        </p:nvSpPr>
        <p:spPr>
          <a:xfrm>
            <a:off x="4953000" y="3119438"/>
            <a:ext cx="1571625" cy="904875"/>
          </a:xfrm>
          <a:prstGeom prst="roundRect">
            <a:avLst>
              <a:gd name="adj" fmla="val 18189"/>
            </a:avLst>
          </a:prstGeom>
          <a:solidFill>
            <a:srgbClr val="F4F1EB"/>
          </a:solidFill>
          <a:ln w="9049">
            <a:solidFill>
              <a:srgbClr val="FF0000"/>
            </a:solidFill>
            <a:prstDash val="solid"/>
          </a:ln>
        </p:spPr>
      </p:sp>
      <p:sp>
        <p:nvSpPr>
          <p:cNvPr id="62" name="Text 50"/>
          <p:cNvSpPr/>
          <p:nvPr/>
        </p:nvSpPr>
        <p:spPr>
          <a:xfrm>
            <a:off x="5067300" y="3224213"/>
            <a:ext cx="13430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5"/>
              </a:lnSpc>
              <a:buNone/>
            </a:pPr>
            <a:r>
              <a:rPr lang="en-US" sz="926" b="1" dirty="0">
                <a:solidFill>
                  <a:srgbClr val="00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EC2 + ASG</a:t>
            </a:r>
            <a:endParaRPr lang="en-US" sz="926" dirty="0"/>
          </a:p>
        </p:txBody>
      </p:sp>
      <p:sp>
        <p:nvSpPr>
          <p:cNvPr id="63" name="Text 51"/>
          <p:cNvSpPr/>
          <p:nvPr/>
        </p:nvSpPr>
        <p:spPr>
          <a:xfrm>
            <a:off x="5067300" y="3414713"/>
            <a:ext cx="134302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748" dirty="0">
                <a:solidFill>
                  <a:srgbClr val="4F4F4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Flask · porta 5000</a:t>
            </a:r>
            <a:endParaRPr lang="en-US" sz="748" dirty="0"/>
          </a:p>
        </p:txBody>
      </p:sp>
      <p:sp>
        <p:nvSpPr>
          <p:cNvPr id="64" name="Text 52"/>
          <p:cNvSpPr/>
          <p:nvPr/>
        </p:nvSpPr>
        <p:spPr>
          <a:xfrm>
            <a:off x="5067300" y="3590925"/>
            <a:ext cx="134302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748" dirty="0">
                <a:solidFill>
                  <a:srgbClr val="4F4F4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2–6 instâncias</a:t>
            </a:r>
            <a:endParaRPr lang="en-US" sz="748" dirty="0"/>
          </a:p>
        </p:txBody>
      </p:sp>
      <p:pic>
        <p:nvPicPr>
          <p:cNvPr id="65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6600825" y="3505200"/>
            <a:ext cx="219075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0" y="-857250"/>
            <a:ext cx="2000250" cy="2000250"/>
          </a:xfrm>
          <a:prstGeom prst="ellipse">
            <a:avLst/>
          </a:prstGeom>
          <a:noFill/>
          <a:ln w="208121">
            <a:solidFill>
              <a:srgbClr val="59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1000" y="242888"/>
            <a:ext cx="1457325" cy="223838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381000" y="247650"/>
            <a:ext cx="247650" cy="214313"/>
          </a:xfrm>
          <a:prstGeom prst="roundRect">
            <a:avLst>
              <a:gd name="adj" fmla="val 34133"/>
            </a:avLst>
          </a:prstGeom>
          <a:solidFill>
            <a:srgbClr val="FF00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1012" y="326231"/>
            <a:ext cx="47625" cy="571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242888"/>
            <a:ext cx="1152525" cy="223838"/>
          </a:xfrm>
          <a:prstGeom prst="rect">
            <a:avLst/>
          </a:prstGeom>
          <a:noFill/>
          <a:ln/>
        </p:spPr>
      </p:sp>
      <p:sp>
        <p:nvSpPr>
          <p:cNvPr id="7" name="Text 4"/>
          <p:cNvSpPr/>
          <p:nvPr/>
        </p:nvSpPr>
        <p:spPr>
          <a:xfrm>
            <a:off x="685800" y="242888"/>
            <a:ext cx="10763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0"/>
              </a:lnSpc>
              <a:buNone/>
            </a:pPr>
            <a:r>
              <a:rPr lang="en-US" sz="1283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globoplay</a:t>
            </a:r>
            <a:endParaRPr lang="en-US" sz="1283" dirty="0"/>
          </a:p>
        </p:txBody>
      </p:sp>
      <p:sp>
        <p:nvSpPr>
          <p:cNvPr id="8" name="Text 5"/>
          <p:cNvSpPr/>
          <p:nvPr/>
        </p:nvSpPr>
        <p:spPr>
          <a:xfrm>
            <a:off x="1790700" y="242888"/>
            <a:ext cx="47625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buNone/>
            </a:pPr>
            <a:r>
              <a:rPr lang="en-US" sz="1283" dirty="0">
                <a:solidFill>
                  <a:srgbClr val="FF0000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|</a:t>
            </a:r>
            <a:endParaRPr lang="en-US" sz="1283" dirty="0"/>
          </a:p>
        </p:txBody>
      </p:sp>
      <p:sp>
        <p:nvSpPr>
          <p:cNvPr id="9" name="Text 6"/>
          <p:cNvSpPr/>
          <p:nvPr/>
        </p:nvSpPr>
        <p:spPr>
          <a:xfrm>
            <a:off x="381000" y="628650"/>
            <a:ext cx="8382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6"/>
              </a:lnSpc>
              <a:buNone/>
            </a:pPr>
            <a:r>
              <a:rPr lang="en-US" sz="926" dirty="0">
                <a:solidFill>
                  <a:srgbClr val="FF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DADOS E PROCESSAMENTO</a:t>
            </a:r>
            <a:endParaRPr lang="en-US" sz="926" dirty="0"/>
          </a:p>
        </p:txBody>
      </p:sp>
      <p:sp>
        <p:nvSpPr>
          <p:cNvPr id="10" name="Text 7"/>
          <p:cNvSpPr/>
          <p:nvPr/>
        </p:nvSpPr>
        <p:spPr>
          <a:xfrm>
            <a:off x="381000" y="823913"/>
            <a:ext cx="80962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95"/>
              </a:lnSpc>
              <a:buNone/>
            </a:pPr>
            <a:r>
              <a:rPr lang="en-US" sz="1995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Do evento ao insight</a:t>
            </a:r>
            <a:endParaRPr lang="en-US" sz="1995" dirty="0"/>
          </a:p>
        </p:txBody>
      </p:sp>
      <p:sp>
        <p:nvSpPr>
          <p:cNvPr id="11" name="Shape 8"/>
          <p:cNvSpPr/>
          <p:nvPr/>
        </p:nvSpPr>
        <p:spPr>
          <a:xfrm>
            <a:off x="381000" y="1343025"/>
            <a:ext cx="8382000" cy="9525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381000" y="2362200"/>
            <a:ext cx="2381250" cy="1428750"/>
          </a:xfrm>
          <a:prstGeom prst="roundRect">
            <a:avLst>
              <a:gd name="adj" fmla="val 11520"/>
            </a:avLst>
          </a:prstGeom>
          <a:solidFill>
            <a:srgbClr val="171717"/>
          </a:solidFill>
          <a:ln w="13573">
            <a:solidFill>
              <a:srgbClr val="E1882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81000" y="2362200"/>
            <a:ext cx="2381250" cy="85725"/>
          </a:xfrm>
          <a:prstGeom prst="roundRect">
            <a:avLst/>
          </a:prstGeom>
          <a:solidFill>
            <a:srgbClr val="E18820"/>
          </a:solidFill>
          <a:ln/>
        </p:spPr>
      </p:sp>
      <p:sp>
        <p:nvSpPr>
          <p:cNvPr id="14" name="Text 11"/>
          <p:cNvSpPr/>
          <p:nvPr/>
        </p:nvSpPr>
        <p:spPr>
          <a:xfrm>
            <a:off x="533400" y="2562225"/>
            <a:ext cx="2076450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354" b="1" dirty="0">
                <a:solidFill>
                  <a:srgbClr val="E1882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BRONZE</a:t>
            </a:r>
            <a:endParaRPr lang="en-US" sz="1354" dirty="0"/>
          </a:p>
        </p:txBody>
      </p:sp>
      <p:sp>
        <p:nvSpPr>
          <p:cNvPr id="15" name="Text 12"/>
          <p:cNvSpPr/>
          <p:nvPr/>
        </p:nvSpPr>
        <p:spPr>
          <a:xfrm>
            <a:off x="533400" y="2838450"/>
            <a:ext cx="20764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4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Preserva o que chegou</a:t>
            </a:r>
            <a:endParaRPr lang="en-US" sz="855" dirty="0"/>
          </a:p>
        </p:txBody>
      </p:sp>
      <p:sp>
        <p:nvSpPr>
          <p:cNvPr id="16" name="Text 13"/>
          <p:cNvSpPr/>
          <p:nvPr/>
        </p:nvSpPr>
        <p:spPr>
          <a:xfrm>
            <a:off x="533400" y="3076575"/>
            <a:ext cx="2076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6"/>
              </a:lnSpc>
              <a:buNone/>
            </a:pPr>
            <a:r>
              <a:rPr lang="en-US" sz="784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change_log append-only</a:t>
            </a:r>
            <a:endParaRPr lang="en-US" sz="784" dirty="0"/>
          </a:p>
          <a:p>
            <a:pPr algn="l" indent="0" marL="0">
              <a:lnSpc>
                <a:spcPts val="1136"/>
              </a:lnSpc>
              <a:buNone/>
            </a:pPr>
            <a:r>
              <a:rPr lang="en-US" sz="784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estado corrente das 33 tabelas</a:t>
            </a:r>
            <a:endParaRPr lang="en-US" sz="784" dirty="0"/>
          </a:p>
          <a:p>
            <a:pPr algn="l" indent="0" marL="0">
              <a:lnSpc>
                <a:spcPts val="1136"/>
              </a:lnSpc>
              <a:buNone/>
            </a:pPr>
            <a:r>
              <a:rPr lang="en-US" sz="784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eventos de sessão</a:t>
            </a:r>
            <a:endParaRPr lang="en-US" sz="784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819400" y="2995613"/>
            <a:ext cx="247650" cy="1143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143250" y="2362200"/>
            <a:ext cx="2381250" cy="1428750"/>
          </a:xfrm>
          <a:prstGeom prst="roundRect">
            <a:avLst>
              <a:gd name="adj" fmla="val 11520"/>
            </a:avLst>
          </a:prstGeom>
          <a:solidFill>
            <a:srgbClr val="171717"/>
          </a:solidFill>
          <a:ln w="13573">
            <a:solidFill>
              <a:srgbClr val="BDC0C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143250" y="2362200"/>
            <a:ext cx="2381250" cy="85725"/>
          </a:xfrm>
          <a:prstGeom prst="roundRect">
            <a:avLst/>
          </a:prstGeom>
          <a:solidFill>
            <a:srgbClr val="BDC0C6"/>
          </a:solidFill>
          <a:ln/>
        </p:spPr>
      </p:sp>
      <p:sp>
        <p:nvSpPr>
          <p:cNvPr id="20" name="Text 16"/>
          <p:cNvSpPr/>
          <p:nvPr/>
        </p:nvSpPr>
        <p:spPr>
          <a:xfrm>
            <a:off x="3295650" y="2562225"/>
            <a:ext cx="2076450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354" b="1" dirty="0">
                <a:solidFill>
                  <a:srgbClr val="BDC0C6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SILVER</a:t>
            </a:r>
            <a:endParaRPr lang="en-US" sz="1354" dirty="0"/>
          </a:p>
        </p:txBody>
      </p:sp>
      <p:sp>
        <p:nvSpPr>
          <p:cNvPr id="21" name="Text 17"/>
          <p:cNvSpPr/>
          <p:nvPr/>
        </p:nvSpPr>
        <p:spPr>
          <a:xfrm>
            <a:off x="3295650" y="2838450"/>
            <a:ext cx="20764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4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Canonicaliza e versiona</a:t>
            </a:r>
            <a:endParaRPr lang="en-US" sz="855" dirty="0"/>
          </a:p>
        </p:txBody>
      </p:sp>
      <p:sp>
        <p:nvSpPr>
          <p:cNvPr id="22" name="Text 18"/>
          <p:cNvSpPr/>
          <p:nvPr/>
        </p:nvSpPr>
        <p:spPr>
          <a:xfrm>
            <a:off x="3295650" y="3076575"/>
            <a:ext cx="2076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6"/>
              </a:lnSpc>
              <a:buNone/>
            </a:pPr>
            <a:r>
              <a:rPr lang="en-US" sz="784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tempo e chaves normalizados</a:t>
            </a:r>
            <a:endParaRPr lang="en-US" sz="784" dirty="0"/>
          </a:p>
          <a:p>
            <a:pPr algn="l" indent="0" marL="0">
              <a:lnSpc>
                <a:spcPts val="1136"/>
              </a:lnSpc>
              <a:buNone/>
            </a:pPr>
            <a:r>
              <a:rPr lang="en-US" sz="784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sessões e sinais</a:t>
            </a:r>
            <a:endParaRPr lang="en-US" sz="784" dirty="0"/>
          </a:p>
          <a:p>
            <a:pPr algn="l" indent="0" marL="0">
              <a:lnSpc>
                <a:spcPts val="1136"/>
              </a:lnSpc>
              <a:buNone/>
            </a:pPr>
            <a:r>
              <a:rPr lang="en-US" sz="784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fatos imutáveis por LSN</a:t>
            </a:r>
            <a:endParaRPr lang="en-US" sz="784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81650" y="2995613"/>
            <a:ext cx="247650" cy="11430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5905500" y="2362200"/>
            <a:ext cx="2381250" cy="1428750"/>
          </a:xfrm>
          <a:prstGeom prst="roundRect">
            <a:avLst>
              <a:gd name="adj" fmla="val 11520"/>
            </a:avLst>
          </a:prstGeom>
          <a:solidFill>
            <a:srgbClr val="171717"/>
          </a:solidFill>
          <a:ln w="13573">
            <a:solidFill>
              <a:srgbClr val="FFD40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905500" y="2362200"/>
            <a:ext cx="2381250" cy="85725"/>
          </a:xfrm>
          <a:prstGeom prst="roundRect">
            <a:avLst/>
          </a:prstGeom>
          <a:solidFill>
            <a:srgbClr val="FFD400"/>
          </a:solidFill>
          <a:ln/>
        </p:spPr>
      </p:sp>
      <p:sp>
        <p:nvSpPr>
          <p:cNvPr id="26" name="Text 21"/>
          <p:cNvSpPr/>
          <p:nvPr/>
        </p:nvSpPr>
        <p:spPr>
          <a:xfrm>
            <a:off x="6057900" y="2562225"/>
            <a:ext cx="2076450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354" b="1" dirty="0">
                <a:solidFill>
                  <a:srgbClr val="FFD4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GOLD</a:t>
            </a:r>
            <a:endParaRPr lang="en-US" sz="1354" dirty="0"/>
          </a:p>
        </p:txBody>
      </p:sp>
      <p:sp>
        <p:nvSpPr>
          <p:cNvPr id="27" name="Text 22"/>
          <p:cNvSpPr/>
          <p:nvPr/>
        </p:nvSpPr>
        <p:spPr>
          <a:xfrm>
            <a:off x="6057900" y="2838450"/>
            <a:ext cx="20764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4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Entrega leitura explicável</a:t>
            </a:r>
            <a:endParaRPr lang="en-US" sz="855" dirty="0"/>
          </a:p>
        </p:txBody>
      </p:sp>
      <p:sp>
        <p:nvSpPr>
          <p:cNvPr id="28" name="Text 23"/>
          <p:cNvSpPr/>
          <p:nvPr/>
        </p:nvSpPr>
        <p:spPr>
          <a:xfrm>
            <a:off x="6057900" y="3076575"/>
            <a:ext cx="2076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6"/>
              </a:lnSpc>
              <a:buNone/>
            </a:pPr>
            <a:r>
              <a:rPr lang="en-US" sz="784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features e qualidade</a:t>
            </a:r>
            <a:endParaRPr lang="en-US" sz="784" dirty="0"/>
          </a:p>
          <a:p>
            <a:pPr algn="l" indent="0" marL="0">
              <a:lnSpc>
                <a:spcPts val="1136"/>
              </a:lnSpc>
              <a:buNone/>
            </a:pPr>
            <a:r>
              <a:rPr lang="en-US" sz="784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hipóteses + evidências</a:t>
            </a:r>
            <a:endParaRPr lang="en-US" sz="784" dirty="0"/>
          </a:p>
          <a:p>
            <a:pPr algn="l" indent="0" marL="0">
              <a:lnSpc>
                <a:spcPts val="1136"/>
              </a:lnSpc>
              <a:buNone/>
            </a:pPr>
            <a:r>
              <a:rPr lang="en-US" sz="784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views v_* para consumo</a:t>
            </a:r>
            <a:endParaRPr lang="en-US" sz="784" dirty="0"/>
          </a:p>
        </p:txBody>
      </p:sp>
      <p:sp>
        <p:nvSpPr>
          <p:cNvPr id="29" name="Shape 24"/>
          <p:cNvSpPr/>
          <p:nvPr/>
        </p:nvSpPr>
        <p:spPr>
          <a:xfrm>
            <a:off x="381000" y="1500188"/>
            <a:ext cx="8382000" cy="304800"/>
          </a:xfrm>
          <a:prstGeom prst="roundRect">
            <a:avLst>
              <a:gd name="adj" fmla="val 48000"/>
            </a:avLst>
          </a:prstGeom>
          <a:solidFill>
            <a:srgbClr val="171717"/>
          </a:solidFill>
          <a:ln w="9049">
            <a:solidFill>
              <a:srgbClr val="FF000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23875" y="1576388"/>
            <a:ext cx="24765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6"/>
              </a:lnSpc>
              <a:buNone/>
            </a:pPr>
            <a:r>
              <a:rPr lang="en-US" sz="926" b="1" dirty="0">
                <a:solidFill>
                  <a:srgbClr val="FF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available_at ≤ sim.now()</a:t>
            </a:r>
            <a:endParaRPr lang="en-US" sz="926" dirty="0"/>
          </a:p>
        </p:txBody>
      </p:sp>
      <p:sp>
        <p:nvSpPr>
          <p:cNvPr id="31" name="Text 26"/>
          <p:cNvSpPr/>
          <p:nvPr/>
        </p:nvSpPr>
        <p:spPr>
          <a:xfrm>
            <a:off x="3095625" y="1576388"/>
            <a:ext cx="533400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4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Nenhuma view, API ou análise enxerga um dado antes da hora em que ele existiria.</a:t>
            </a:r>
            <a:endParaRPr lang="en-US" sz="85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0" y="-857250"/>
            <a:ext cx="2000250" cy="2000250"/>
          </a:xfrm>
          <a:prstGeom prst="ellipse">
            <a:avLst/>
          </a:prstGeom>
          <a:noFill/>
          <a:ln w="208121">
            <a:solidFill>
              <a:srgbClr val="59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1000" y="242888"/>
            <a:ext cx="1457325" cy="223838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381000" y="247650"/>
            <a:ext cx="247650" cy="214313"/>
          </a:xfrm>
          <a:prstGeom prst="roundRect">
            <a:avLst>
              <a:gd name="adj" fmla="val 34133"/>
            </a:avLst>
          </a:prstGeom>
          <a:solidFill>
            <a:srgbClr val="FF00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1012" y="326231"/>
            <a:ext cx="47625" cy="571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242888"/>
            <a:ext cx="1152525" cy="223838"/>
          </a:xfrm>
          <a:prstGeom prst="rect">
            <a:avLst/>
          </a:prstGeom>
          <a:noFill/>
          <a:ln/>
        </p:spPr>
      </p:sp>
      <p:sp>
        <p:nvSpPr>
          <p:cNvPr id="7" name="Text 4"/>
          <p:cNvSpPr/>
          <p:nvPr/>
        </p:nvSpPr>
        <p:spPr>
          <a:xfrm>
            <a:off x="685800" y="242888"/>
            <a:ext cx="10763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0"/>
              </a:lnSpc>
              <a:buNone/>
            </a:pPr>
            <a:r>
              <a:rPr lang="en-US" sz="1283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globoplay</a:t>
            </a:r>
            <a:endParaRPr lang="en-US" sz="1283" dirty="0"/>
          </a:p>
        </p:txBody>
      </p:sp>
      <p:sp>
        <p:nvSpPr>
          <p:cNvPr id="8" name="Text 5"/>
          <p:cNvSpPr/>
          <p:nvPr/>
        </p:nvSpPr>
        <p:spPr>
          <a:xfrm>
            <a:off x="1790700" y="242888"/>
            <a:ext cx="47625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buNone/>
            </a:pPr>
            <a:r>
              <a:rPr lang="en-US" sz="1283" dirty="0">
                <a:solidFill>
                  <a:srgbClr val="FF0000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|</a:t>
            </a:r>
            <a:endParaRPr lang="en-US" sz="1283" dirty="0"/>
          </a:p>
        </p:txBody>
      </p:sp>
      <p:sp>
        <p:nvSpPr>
          <p:cNvPr id="9" name="Text 6"/>
          <p:cNvSpPr/>
          <p:nvPr/>
        </p:nvSpPr>
        <p:spPr>
          <a:xfrm>
            <a:off x="381000" y="628650"/>
            <a:ext cx="8382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6"/>
              </a:lnSpc>
              <a:buNone/>
            </a:pPr>
            <a:r>
              <a:rPr lang="en-US" sz="926" dirty="0">
                <a:solidFill>
                  <a:srgbClr val="FF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CAMINHO DE LEITURA</a:t>
            </a:r>
            <a:endParaRPr lang="en-US" sz="926" dirty="0"/>
          </a:p>
        </p:txBody>
      </p:sp>
      <p:sp>
        <p:nvSpPr>
          <p:cNvPr id="10" name="Text 7"/>
          <p:cNvSpPr/>
          <p:nvPr/>
        </p:nvSpPr>
        <p:spPr>
          <a:xfrm>
            <a:off x="381000" y="823913"/>
            <a:ext cx="809625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8"/>
              </a:lnSpc>
              <a:buNone/>
            </a:pPr>
            <a:r>
              <a:rPr lang="en-US" sz="1852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Escala visível e Autenticação</a:t>
            </a:r>
            <a:endParaRPr lang="en-US" sz="1852" dirty="0"/>
          </a:p>
        </p:txBody>
      </p:sp>
      <p:sp>
        <p:nvSpPr>
          <p:cNvPr id="11" name="Shape 8"/>
          <p:cNvSpPr/>
          <p:nvPr/>
        </p:nvSpPr>
        <p:spPr>
          <a:xfrm>
            <a:off x="381000" y="1343025"/>
            <a:ext cx="8382000" cy="9525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Text 9"/>
          <p:cNvSpPr/>
          <p:nvPr/>
        </p:nvSpPr>
        <p:spPr>
          <a:xfrm>
            <a:off x="381000" y="1595438"/>
            <a:ext cx="119062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748" b="1" dirty="0">
                <a:solidFill>
                  <a:srgbClr val="FF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01</a:t>
            </a:r>
            <a:endParaRPr lang="en-US" sz="748" dirty="0"/>
          </a:p>
        </p:txBody>
      </p:sp>
      <p:sp>
        <p:nvSpPr>
          <p:cNvPr id="13" name="Shape 10"/>
          <p:cNvSpPr/>
          <p:nvPr/>
        </p:nvSpPr>
        <p:spPr>
          <a:xfrm>
            <a:off x="381000" y="1762125"/>
            <a:ext cx="1190625" cy="976312"/>
          </a:xfrm>
          <a:prstGeom prst="roundRect">
            <a:avLst>
              <a:gd name="adj" fmla="val 16859"/>
            </a:avLst>
          </a:prstGeom>
          <a:solidFill>
            <a:srgbClr val="F4F1EB"/>
          </a:solidFill>
          <a:ln/>
        </p:spPr>
      </p:sp>
      <p:sp>
        <p:nvSpPr>
          <p:cNvPr id="14" name="Text 11"/>
          <p:cNvSpPr/>
          <p:nvPr/>
        </p:nvSpPr>
        <p:spPr>
          <a:xfrm>
            <a:off x="495300" y="1866900"/>
            <a:ext cx="96202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91" b="1" dirty="0">
                <a:solidFill>
                  <a:srgbClr val="00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S3 Frontend</a:t>
            </a:r>
            <a:endParaRPr lang="en-US" sz="891" dirty="0"/>
          </a:p>
        </p:txBody>
      </p:sp>
      <p:sp>
        <p:nvSpPr>
          <p:cNvPr id="15" name="Text 12"/>
          <p:cNvSpPr/>
          <p:nvPr/>
        </p:nvSpPr>
        <p:spPr>
          <a:xfrm>
            <a:off x="495300" y="2052637"/>
            <a:ext cx="96202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748" dirty="0">
                <a:solidFill>
                  <a:srgbClr val="4F4F4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Next.js estático</a:t>
            </a:r>
            <a:endParaRPr lang="en-US" sz="748" dirty="0"/>
          </a:p>
        </p:txBody>
      </p:sp>
      <p:sp>
        <p:nvSpPr>
          <p:cNvPr id="16" name="Text 13"/>
          <p:cNvSpPr/>
          <p:nvPr/>
        </p:nvSpPr>
        <p:spPr>
          <a:xfrm>
            <a:off x="495300" y="2228850"/>
            <a:ext cx="96202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748" dirty="0">
                <a:solidFill>
                  <a:srgbClr val="4F4F4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website HTTP</a:t>
            </a:r>
            <a:endParaRPr lang="en-US" sz="748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28775" y="2190750"/>
            <a:ext cx="200025" cy="1143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881187" y="1595438"/>
            <a:ext cx="11430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748" b="1" dirty="0">
                <a:solidFill>
                  <a:srgbClr val="FF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02</a:t>
            </a:r>
            <a:endParaRPr lang="en-US" sz="748" dirty="0"/>
          </a:p>
        </p:txBody>
      </p:sp>
      <p:sp>
        <p:nvSpPr>
          <p:cNvPr id="19" name="Shape 15"/>
          <p:cNvSpPr/>
          <p:nvPr/>
        </p:nvSpPr>
        <p:spPr>
          <a:xfrm>
            <a:off x="1881187" y="1762125"/>
            <a:ext cx="1143000" cy="976312"/>
          </a:xfrm>
          <a:prstGeom prst="roundRect">
            <a:avLst>
              <a:gd name="adj" fmla="val 16859"/>
            </a:avLst>
          </a:prstGeom>
          <a:solidFill>
            <a:srgbClr val="F4F1EB"/>
          </a:solidFill>
          <a:ln/>
        </p:spPr>
      </p:sp>
      <p:sp>
        <p:nvSpPr>
          <p:cNvPr id="20" name="Text 16"/>
          <p:cNvSpPr/>
          <p:nvPr/>
        </p:nvSpPr>
        <p:spPr>
          <a:xfrm>
            <a:off x="1995487" y="1866900"/>
            <a:ext cx="9144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91" b="1" dirty="0">
                <a:solidFill>
                  <a:srgbClr val="00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Navegador</a:t>
            </a:r>
            <a:endParaRPr lang="en-US" sz="891" dirty="0"/>
          </a:p>
        </p:txBody>
      </p:sp>
      <p:sp>
        <p:nvSpPr>
          <p:cNvPr id="21" name="Text 17"/>
          <p:cNvSpPr/>
          <p:nvPr/>
        </p:nvSpPr>
        <p:spPr>
          <a:xfrm>
            <a:off x="1995487" y="2052637"/>
            <a:ext cx="9144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748" dirty="0">
                <a:solidFill>
                  <a:srgbClr val="4F4F4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token na sessão</a:t>
            </a:r>
            <a:endParaRPr lang="en-US" sz="748" dirty="0"/>
          </a:p>
        </p:txBody>
      </p:sp>
      <p:sp>
        <p:nvSpPr>
          <p:cNvPr id="22" name="Text 18"/>
          <p:cNvSpPr/>
          <p:nvPr/>
        </p:nvSpPr>
        <p:spPr>
          <a:xfrm>
            <a:off x="1995487" y="2228850"/>
            <a:ext cx="9144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748" dirty="0">
                <a:solidFill>
                  <a:srgbClr val="4F4F4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consulta o dashboard</a:t>
            </a:r>
            <a:endParaRPr lang="en-US" sz="748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081338" y="2190750"/>
            <a:ext cx="200025" cy="1143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333750" y="1595438"/>
            <a:ext cx="104775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748" b="1" dirty="0">
                <a:solidFill>
                  <a:srgbClr val="FF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03</a:t>
            </a:r>
            <a:endParaRPr lang="en-US" sz="748" dirty="0"/>
          </a:p>
        </p:txBody>
      </p:sp>
      <p:sp>
        <p:nvSpPr>
          <p:cNvPr id="25" name="Shape 20"/>
          <p:cNvSpPr/>
          <p:nvPr/>
        </p:nvSpPr>
        <p:spPr>
          <a:xfrm>
            <a:off x="3333750" y="1762125"/>
            <a:ext cx="1047750" cy="976312"/>
          </a:xfrm>
          <a:prstGeom prst="roundRect">
            <a:avLst>
              <a:gd name="adj" fmla="val 16859"/>
            </a:avLst>
          </a:prstGeom>
          <a:solidFill>
            <a:srgbClr val="F4F1EB"/>
          </a:solidFill>
          <a:ln w="9049">
            <a:solidFill>
              <a:srgbClr val="FF000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3448050" y="1866900"/>
            <a:ext cx="8191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3"/>
              </a:lnSpc>
              <a:buNone/>
            </a:pPr>
            <a:r>
              <a:rPr lang="en-US" sz="855" b="1" dirty="0">
                <a:solidFill>
                  <a:srgbClr val="00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ALB</a:t>
            </a:r>
            <a:endParaRPr lang="en-US" sz="855" dirty="0"/>
          </a:p>
        </p:txBody>
      </p:sp>
      <p:sp>
        <p:nvSpPr>
          <p:cNvPr id="27" name="Text 22"/>
          <p:cNvSpPr/>
          <p:nvPr/>
        </p:nvSpPr>
        <p:spPr>
          <a:xfrm>
            <a:off x="3448050" y="2047875"/>
            <a:ext cx="81915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748" dirty="0">
                <a:solidFill>
                  <a:srgbClr val="4F4F4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HTTP 80</a:t>
            </a:r>
            <a:endParaRPr lang="en-US" sz="748" dirty="0"/>
          </a:p>
        </p:txBody>
      </p:sp>
      <p:sp>
        <p:nvSpPr>
          <p:cNvPr id="28" name="Text 23"/>
          <p:cNvSpPr/>
          <p:nvPr/>
        </p:nvSpPr>
        <p:spPr>
          <a:xfrm>
            <a:off x="3448050" y="2224088"/>
            <a:ext cx="81915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748" dirty="0">
                <a:solidFill>
                  <a:srgbClr val="4F4F4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distribui + mede</a:t>
            </a:r>
            <a:endParaRPr lang="en-US" sz="748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438650" y="2190750"/>
            <a:ext cx="200025" cy="1143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691063" y="1595438"/>
            <a:ext cx="157162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748" b="1" dirty="0">
                <a:solidFill>
                  <a:srgbClr val="FF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04</a:t>
            </a:r>
            <a:endParaRPr lang="en-US" sz="748" dirty="0"/>
          </a:p>
        </p:txBody>
      </p:sp>
      <p:sp>
        <p:nvSpPr>
          <p:cNvPr id="31" name="Shape 25"/>
          <p:cNvSpPr/>
          <p:nvPr/>
        </p:nvSpPr>
        <p:spPr>
          <a:xfrm>
            <a:off x="4691063" y="1762125"/>
            <a:ext cx="1571625" cy="976312"/>
          </a:xfrm>
          <a:prstGeom prst="roundRect">
            <a:avLst>
              <a:gd name="adj" fmla="val 16859"/>
            </a:avLst>
          </a:prstGeom>
          <a:solidFill>
            <a:srgbClr val="F4F1EB"/>
          </a:solidFill>
          <a:ln w="9049">
            <a:solidFill>
              <a:srgbClr val="FF000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4805363" y="1866900"/>
            <a:ext cx="134302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91" b="1" dirty="0">
                <a:solidFill>
                  <a:srgbClr val="00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EC2 + ASG</a:t>
            </a:r>
            <a:endParaRPr lang="en-US" sz="891" dirty="0"/>
          </a:p>
        </p:txBody>
      </p:sp>
      <p:sp>
        <p:nvSpPr>
          <p:cNvPr id="33" name="Text 27"/>
          <p:cNvSpPr/>
          <p:nvPr/>
        </p:nvSpPr>
        <p:spPr>
          <a:xfrm>
            <a:off x="4805363" y="2052637"/>
            <a:ext cx="134302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748" dirty="0">
                <a:solidFill>
                  <a:srgbClr val="4F4F4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Flask / Gunicorn · 5000</a:t>
            </a:r>
            <a:endParaRPr lang="en-US" sz="748" dirty="0"/>
          </a:p>
        </p:txBody>
      </p:sp>
      <p:sp>
        <p:nvSpPr>
          <p:cNvPr id="34" name="Text 28"/>
          <p:cNvSpPr/>
          <p:nvPr/>
        </p:nvSpPr>
        <p:spPr>
          <a:xfrm>
            <a:off x="4805363" y="2228850"/>
            <a:ext cx="134302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748" dirty="0">
                <a:solidFill>
                  <a:srgbClr val="4F4F4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2–6 t4g.small arm64</a:t>
            </a:r>
            <a:endParaRPr lang="en-US" sz="748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319838" y="2190750"/>
            <a:ext cx="200025" cy="11430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6572250" y="1595438"/>
            <a:ext cx="17145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748" b="1" dirty="0">
                <a:solidFill>
                  <a:srgbClr val="FF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05</a:t>
            </a:r>
            <a:endParaRPr lang="en-US" sz="748" dirty="0"/>
          </a:p>
        </p:txBody>
      </p:sp>
      <p:sp>
        <p:nvSpPr>
          <p:cNvPr id="37" name="Shape 30"/>
          <p:cNvSpPr/>
          <p:nvPr/>
        </p:nvSpPr>
        <p:spPr>
          <a:xfrm>
            <a:off x="6572250" y="1762125"/>
            <a:ext cx="1714500" cy="976312"/>
          </a:xfrm>
          <a:prstGeom prst="roundRect">
            <a:avLst>
              <a:gd name="adj" fmla="val 16859"/>
            </a:avLst>
          </a:prstGeom>
          <a:solidFill>
            <a:srgbClr val="171717"/>
          </a:solidFill>
          <a:ln w="9049">
            <a:solidFill>
              <a:srgbClr val="FFFFFF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6686550" y="1866900"/>
            <a:ext cx="14859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91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RDS PostgreSQL 16</a:t>
            </a:r>
            <a:endParaRPr lang="en-US" sz="891" dirty="0"/>
          </a:p>
        </p:txBody>
      </p:sp>
      <p:sp>
        <p:nvSpPr>
          <p:cNvPr id="39" name="Text 32"/>
          <p:cNvSpPr/>
          <p:nvPr/>
        </p:nvSpPr>
        <p:spPr>
          <a:xfrm>
            <a:off x="6686550" y="2052637"/>
            <a:ext cx="14859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748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TCP 5432 privado</a:t>
            </a:r>
            <a:endParaRPr lang="en-US" sz="748" dirty="0"/>
          </a:p>
        </p:txBody>
      </p:sp>
      <p:sp>
        <p:nvSpPr>
          <p:cNvPr id="40" name="Text 33"/>
          <p:cNvSpPr/>
          <p:nvPr/>
        </p:nvSpPr>
        <p:spPr>
          <a:xfrm>
            <a:off x="6686550" y="2228850"/>
            <a:ext cx="14859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748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somente views v_*</a:t>
            </a:r>
            <a:endParaRPr lang="en-US" sz="748" dirty="0"/>
          </a:p>
        </p:txBody>
      </p:sp>
      <p:sp>
        <p:nvSpPr>
          <p:cNvPr id="41" name="Shape 34"/>
          <p:cNvSpPr/>
          <p:nvPr/>
        </p:nvSpPr>
        <p:spPr>
          <a:xfrm>
            <a:off x="381000" y="3095625"/>
            <a:ext cx="2428875" cy="904875"/>
          </a:xfrm>
          <a:prstGeom prst="roundRect">
            <a:avLst>
              <a:gd name="adj" fmla="val 18189"/>
            </a:avLst>
          </a:prstGeom>
          <a:solidFill>
            <a:srgbClr val="171717"/>
          </a:solidFill>
          <a:ln w="9049">
            <a:solidFill>
              <a:srgbClr val="FF0000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495300" y="3200400"/>
            <a:ext cx="2200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5"/>
              </a:lnSpc>
              <a:buNone/>
            </a:pPr>
            <a:r>
              <a:rPr lang="en-US" sz="926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Autenticação</a:t>
            </a:r>
            <a:endParaRPr lang="en-US" sz="926" dirty="0"/>
          </a:p>
        </p:txBody>
      </p:sp>
      <p:sp>
        <p:nvSpPr>
          <p:cNvPr id="43" name="Text 36"/>
          <p:cNvSpPr/>
          <p:nvPr/>
        </p:nvSpPr>
        <p:spPr>
          <a:xfrm>
            <a:off x="495300" y="3390900"/>
            <a:ext cx="22002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748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Bearer de audiência dashboard</a:t>
            </a:r>
            <a:endParaRPr lang="en-US" sz="748" dirty="0"/>
          </a:p>
        </p:txBody>
      </p:sp>
      <p:sp>
        <p:nvSpPr>
          <p:cNvPr id="44" name="Text 37"/>
          <p:cNvSpPr/>
          <p:nvPr/>
        </p:nvSpPr>
        <p:spPr>
          <a:xfrm>
            <a:off x="495300" y="3567113"/>
            <a:ext cx="22002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748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validado no Flask, em tempo constante</a:t>
            </a:r>
            <a:endParaRPr lang="en-US" sz="748" dirty="0"/>
          </a:p>
        </p:txBody>
      </p:sp>
      <p:sp>
        <p:nvSpPr>
          <p:cNvPr id="45" name="Text 38"/>
          <p:cNvSpPr/>
          <p:nvPr/>
        </p:nvSpPr>
        <p:spPr>
          <a:xfrm>
            <a:off x="495300" y="3743325"/>
            <a:ext cx="22002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748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segredo não entra no bundle nem nos logs</a:t>
            </a:r>
            <a:endParaRPr lang="en-US" sz="748" dirty="0"/>
          </a:p>
        </p:txBody>
      </p:sp>
      <p:sp>
        <p:nvSpPr>
          <p:cNvPr id="46" name="Shape 39"/>
          <p:cNvSpPr/>
          <p:nvPr/>
        </p:nvSpPr>
        <p:spPr>
          <a:xfrm>
            <a:off x="2952750" y="3095625"/>
            <a:ext cx="2524125" cy="904875"/>
          </a:xfrm>
          <a:prstGeom prst="roundRect">
            <a:avLst>
              <a:gd name="adj" fmla="val 18189"/>
            </a:avLst>
          </a:prstGeom>
          <a:solidFill>
            <a:srgbClr val="171717"/>
          </a:solidFill>
          <a:ln/>
        </p:spPr>
      </p:sp>
      <p:sp>
        <p:nvSpPr>
          <p:cNvPr id="47" name="Text 40"/>
          <p:cNvSpPr/>
          <p:nvPr/>
        </p:nvSpPr>
        <p:spPr>
          <a:xfrm>
            <a:off x="3067050" y="3200400"/>
            <a:ext cx="229552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91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Elasticidade observável</a:t>
            </a:r>
            <a:endParaRPr lang="en-US" sz="891" dirty="0"/>
          </a:p>
        </p:txBody>
      </p:sp>
      <p:sp>
        <p:nvSpPr>
          <p:cNvPr id="48" name="Text 41"/>
          <p:cNvSpPr/>
          <p:nvPr/>
        </p:nvSpPr>
        <p:spPr>
          <a:xfrm>
            <a:off x="3067050" y="3386138"/>
            <a:ext cx="229552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748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target: ALBRequestCountPerTarget</a:t>
            </a:r>
            <a:endParaRPr lang="en-US" sz="748" dirty="0"/>
          </a:p>
        </p:txBody>
      </p:sp>
      <p:sp>
        <p:nvSpPr>
          <p:cNvPr id="49" name="Text 42"/>
          <p:cNvSpPr/>
          <p:nvPr/>
        </p:nvSpPr>
        <p:spPr>
          <a:xfrm>
            <a:off x="3067050" y="3562350"/>
            <a:ext cx="229552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748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health check em /health/live</a:t>
            </a:r>
            <a:endParaRPr lang="en-US" sz="748" dirty="0"/>
          </a:p>
        </p:txBody>
      </p:sp>
      <p:sp>
        <p:nvSpPr>
          <p:cNvPr id="50" name="Text 43"/>
          <p:cNvSpPr/>
          <p:nvPr/>
        </p:nvSpPr>
        <p:spPr>
          <a:xfrm>
            <a:off x="3067050" y="3738563"/>
            <a:ext cx="229552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748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scale in protegido por drain de 30 s</a:t>
            </a:r>
            <a:endParaRPr lang="en-US" sz="748" dirty="0"/>
          </a:p>
        </p:txBody>
      </p:sp>
      <p:sp>
        <p:nvSpPr>
          <p:cNvPr id="51" name="Shape 44"/>
          <p:cNvSpPr/>
          <p:nvPr/>
        </p:nvSpPr>
        <p:spPr>
          <a:xfrm>
            <a:off x="5619750" y="3095625"/>
            <a:ext cx="2667000" cy="904875"/>
          </a:xfrm>
          <a:prstGeom prst="roundRect">
            <a:avLst>
              <a:gd name="adj" fmla="val 18189"/>
            </a:avLst>
          </a:prstGeom>
          <a:solidFill>
            <a:srgbClr val="171717"/>
          </a:solidFill>
          <a:ln/>
        </p:spPr>
      </p:sp>
      <p:sp>
        <p:nvSpPr>
          <p:cNvPr id="52" name="Text 45"/>
          <p:cNvSpPr/>
          <p:nvPr/>
        </p:nvSpPr>
        <p:spPr>
          <a:xfrm>
            <a:off x="5734050" y="3200400"/>
            <a:ext cx="24384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91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Acesso ao Banco </a:t>
            </a:r>
            <a:endParaRPr lang="en-US" sz="891" dirty="0"/>
          </a:p>
        </p:txBody>
      </p:sp>
      <p:sp>
        <p:nvSpPr>
          <p:cNvPr id="53" name="Text 46"/>
          <p:cNvSpPr/>
          <p:nvPr/>
        </p:nvSpPr>
        <p:spPr>
          <a:xfrm>
            <a:off x="5734050" y="3386138"/>
            <a:ext cx="24384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748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argus_api herda somente argus_reader</a:t>
            </a:r>
            <a:endParaRPr lang="en-US" sz="748" dirty="0"/>
          </a:p>
        </p:txBody>
      </p:sp>
      <p:sp>
        <p:nvSpPr>
          <p:cNvPr id="54" name="Text 47"/>
          <p:cNvSpPr/>
          <p:nvPr/>
        </p:nvSpPr>
        <p:spPr>
          <a:xfrm>
            <a:off x="5734050" y="3562350"/>
            <a:ext cx="24384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748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SELECT apenas nas views públicas</a:t>
            </a:r>
            <a:endParaRPr lang="en-US" sz="748" dirty="0"/>
          </a:p>
        </p:txBody>
      </p:sp>
      <p:sp>
        <p:nvSpPr>
          <p:cNvPr id="55" name="Text 48"/>
          <p:cNvSpPr/>
          <p:nvPr/>
        </p:nvSpPr>
        <p:spPr>
          <a:xfrm>
            <a:off x="5734050" y="3738563"/>
            <a:ext cx="24384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748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redação de dados pessoais na saída</a:t>
            </a:r>
            <a:endParaRPr lang="en-US" sz="748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0" y="-857250"/>
            <a:ext cx="2000250" cy="2000250"/>
          </a:xfrm>
          <a:prstGeom prst="ellipse">
            <a:avLst/>
          </a:prstGeom>
          <a:noFill/>
          <a:ln w="208121">
            <a:solidFill>
              <a:srgbClr val="59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1000" y="242888"/>
            <a:ext cx="1457325" cy="223838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381000" y="247650"/>
            <a:ext cx="247650" cy="214313"/>
          </a:xfrm>
          <a:prstGeom prst="roundRect">
            <a:avLst>
              <a:gd name="adj" fmla="val 34133"/>
            </a:avLst>
          </a:prstGeom>
          <a:solidFill>
            <a:srgbClr val="FF00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1012" y="326231"/>
            <a:ext cx="47625" cy="571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242888"/>
            <a:ext cx="1152525" cy="223838"/>
          </a:xfrm>
          <a:prstGeom prst="rect">
            <a:avLst/>
          </a:prstGeom>
          <a:noFill/>
          <a:ln/>
        </p:spPr>
      </p:sp>
      <p:sp>
        <p:nvSpPr>
          <p:cNvPr id="7" name="Text 4"/>
          <p:cNvSpPr/>
          <p:nvPr/>
        </p:nvSpPr>
        <p:spPr>
          <a:xfrm>
            <a:off x="685800" y="242888"/>
            <a:ext cx="10763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0"/>
              </a:lnSpc>
              <a:buNone/>
            </a:pPr>
            <a:r>
              <a:rPr lang="en-US" sz="1283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globoplay</a:t>
            </a:r>
            <a:endParaRPr lang="en-US" sz="1283" dirty="0"/>
          </a:p>
        </p:txBody>
      </p:sp>
      <p:sp>
        <p:nvSpPr>
          <p:cNvPr id="8" name="Text 5"/>
          <p:cNvSpPr/>
          <p:nvPr/>
        </p:nvSpPr>
        <p:spPr>
          <a:xfrm>
            <a:off x="1790700" y="242888"/>
            <a:ext cx="47625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buNone/>
            </a:pPr>
            <a:r>
              <a:rPr lang="en-US" sz="1283" dirty="0">
                <a:solidFill>
                  <a:srgbClr val="FF0000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|</a:t>
            </a:r>
            <a:endParaRPr lang="en-US" sz="1283" dirty="0"/>
          </a:p>
        </p:txBody>
      </p:sp>
      <p:sp>
        <p:nvSpPr>
          <p:cNvPr id="9" name="Text 6"/>
          <p:cNvSpPr/>
          <p:nvPr/>
        </p:nvSpPr>
        <p:spPr>
          <a:xfrm>
            <a:off x="381000" y="628650"/>
            <a:ext cx="8382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6"/>
              </a:lnSpc>
              <a:buNone/>
            </a:pPr>
            <a:r>
              <a:rPr lang="en-US" sz="926" dirty="0">
                <a:solidFill>
                  <a:srgbClr val="FF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REDE, SEGURANÇA E OPERAÇÃO</a:t>
            </a:r>
            <a:endParaRPr lang="en-US" sz="926" dirty="0"/>
          </a:p>
        </p:txBody>
      </p:sp>
      <p:sp>
        <p:nvSpPr>
          <p:cNvPr id="10" name="Text 7"/>
          <p:cNvSpPr/>
          <p:nvPr/>
        </p:nvSpPr>
        <p:spPr>
          <a:xfrm>
            <a:off x="381000" y="823913"/>
            <a:ext cx="80962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95"/>
              </a:lnSpc>
              <a:buNone/>
            </a:pPr>
            <a:r>
              <a:rPr lang="en-US" sz="1995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VPC, Nat Gatway e Sub-Redes</a:t>
            </a:r>
            <a:endParaRPr lang="en-US" sz="1995" dirty="0"/>
          </a:p>
        </p:txBody>
      </p:sp>
      <p:sp>
        <p:nvSpPr>
          <p:cNvPr id="11" name="Shape 8"/>
          <p:cNvSpPr/>
          <p:nvPr/>
        </p:nvSpPr>
        <p:spPr>
          <a:xfrm>
            <a:off x="381000" y="1343025"/>
            <a:ext cx="8382000" cy="9525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381000" y="1738313"/>
            <a:ext cx="6477000" cy="2619375"/>
          </a:xfrm>
          <a:prstGeom prst="roundRect">
            <a:avLst>
              <a:gd name="adj" fmla="val 6982"/>
            </a:avLst>
          </a:prstGeom>
          <a:noFill/>
          <a:ln w="9049">
            <a:solidFill>
              <a:srgbClr val="FF0000"/>
            </a:solidFill>
            <a:prstDash val="lgDash"/>
          </a:ln>
        </p:spPr>
      </p:sp>
      <p:sp>
        <p:nvSpPr>
          <p:cNvPr id="13" name="Text 10"/>
          <p:cNvSpPr/>
          <p:nvPr/>
        </p:nvSpPr>
        <p:spPr>
          <a:xfrm>
            <a:off x="514350" y="1843088"/>
            <a:ext cx="4286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6"/>
              </a:lnSpc>
              <a:buNone/>
            </a:pPr>
            <a:r>
              <a:rPr lang="en-US" sz="926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VPC 10.0.0.0/16 · duas zonas de disponibilidade</a:t>
            </a:r>
            <a:endParaRPr lang="en-US" sz="926" dirty="0"/>
          </a:p>
        </p:txBody>
      </p:sp>
      <p:sp>
        <p:nvSpPr>
          <p:cNvPr id="14" name="Shape 11"/>
          <p:cNvSpPr/>
          <p:nvPr/>
        </p:nvSpPr>
        <p:spPr>
          <a:xfrm>
            <a:off x="514350" y="2119313"/>
            <a:ext cx="3009900" cy="2000250"/>
          </a:xfrm>
          <a:prstGeom prst="roundRect">
            <a:avLst>
              <a:gd name="adj" fmla="val 7314"/>
            </a:avLst>
          </a:prstGeom>
          <a:solidFill>
            <a:srgbClr val="171717"/>
          </a:solidFill>
          <a:ln w="9049">
            <a:solidFill>
              <a:srgbClr val="4F4F4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8650" y="2205038"/>
            <a:ext cx="7143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784" b="1" dirty="0">
                <a:solidFill>
                  <a:srgbClr val="FF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AZ-a</a:t>
            </a:r>
            <a:endParaRPr lang="en-US" sz="784" dirty="0"/>
          </a:p>
        </p:txBody>
      </p:sp>
      <p:sp>
        <p:nvSpPr>
          <p:cNvPr id="16" name="Shape 13"/>
          <p:cNvSpPr/>
          <p:nvPr/>
        </p:nvSpPr>
        <p:spPr>
          <a:xfrm>
            <a:off x="628650" y="2405063"/>
            <a:ext cx="2781300" cy="595313"/>
          </a:xfrm>
          <a:prstGeom prst="roundRect">
            <a:avLst/>
          </a:prstGeom>
          <a:solidFill>
            <a:srgbClr val="F4F1EB"/>
          </a:solidFill>
          <a:ln/>
        </p:spPr>
      </p:sp>
      <p:sp>
        <p:nvSpPr>
          <p:cNvPr id="17" name="Text 14"/>
          <p:cNvSpPr/>
          <p:nvPr/>
        </p:nvSpPr>
        <p:spPr>
          <a:xfrm>
            <a:off x="723900" y="2490788"/>
            <a:ext cx="11906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2"/>
              </a:lnSpc>
              <a:buNone/>
            </a:pPr>
            <a:r>
              <a:rPr lang="en-US" sz="713" b="1" dirty="0">
                <a:solidFill>
                  <a:srgbClr val="00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SUB-REDE PÚBLICA</a:t>
            </a:r>
            <a:endParaRPr lang="en-US" sz="713" dirty="0"/>
          </a:p>
        </p:txBody>
      </p:sp>
      <p:sp>
        <p:nvSpPr>
          <p:cNvPr id="18" name="Text 15"/>
          <p:cNvSpPr/>
          <p:nvPr/>
        </p:nvSpPr>
        <p:spPr>
          <a:xfrm>
            <a:off x="723900" y="2690813"/>
            <a:ext cx="23812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784" dirty="0">
                <a:solidFill>
                  <a:srgbClr val="4F4F4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ALB · NAT único · bastion opcional</a:t>
            </a:r>
            <a:endParaRPr lang="en-US" sz="784" dirty="0"/>
          </a:p>
        </p:txBody>
      </p:sp>
      <p:sp>
        <p:nvSpPr>
          <p:cNvPr id="19" name="Shape 16"/>
          <p:cNvSpPr/>
          <p:nvPr/>
        </p:nvSpPr>
        <p:spPr>
          <a:xfrm>
            <a:off x="628650" y="3190875"/>
            <a:ext cx="2781300" cy="762000"/>
          </a:xfrm>
          <a:prstGeom prst="roundRect">
            <a:avLst/>
          </a:prstGeom>
          <a:solidFill>
            <a:srgbClr val="000000"/>
          </a:solidFill>
          <a:ln w="9049">
            <a:solidFill>
              <a:srgbClr val="ADADA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23900" y="3281363"/>
            <a:ext cx="11906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2"/>
              </a:lnSpc>
              <a:buNone/>
            </a:pPr>
            <a:r>
              <a:rPr lang="en-US" sz="713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SUB-REDE PRIVADA</a:t>
            </a:r>
            <a:endParaRPr lang="en-US" sz="713" dirty="0"/>
          </a:p>
        </p:txBody>
      </p:sp>
      <p:sp>
        <p:nvSpPr>
          <p:cNvPr id="21" name="Text 18"/>
          <p:cNvSpPr/>
          <p:nvPr/>
        </p:nvSpPr>
        <p:spPr>
          <a:xfrm>
            <a:off x="723900" y="3481388"/>
            <a:ext cx="23812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784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EC2 do ASG · tasks Fargate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723900" y="3671888"/>
            <a:ext cx="24765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748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RDS single-AZ · AZ definida pela AWS</a:t>
            </a:r>
            <a:endParaRPr lang="en-US" sz="748" dirty="0"/>
          </a:p>
        </p:txBody>
      </p:sp>
      <p:sp>
        <p:nvSpPr>
          <p:cNvPr id="23" name="Shape 20"/>
          <p:cNvSpPr/>
          <p:nvPr/>
        </p:nvSpPr>
        <p:spPr>
          <a:xfrm>
            <a:off x="3714750" y="2119313"/>
            <a:ext cx="3009900" cy="2000250"/>
          </a:xfrm>
          <a:prstGeom prst="roundRect">
            <a:avLst>
              <a:gd name="adj" fmla="val 7314"/>
            </a:avLst>
          </a:prstGeom>
          <a:solidFill>
            <a:srgbClr val="171717"/>
          </a:solidFill>
          <a:ln w="9049">
            <a:solidFill>
              <a:srgbClr val="4F4F4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829050" y="2205038"/>
            <a:ext cx="7143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784" b="1" dirty="0">
                <a:solidFill>
                  <a:srgbClr val="FF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AZ-b</a:t>
            </a:r>
            <a:endParaRPr lang="en-US" sz="784" dirty="0"/>
          </a:p>
        </p:txBody>
      </p:sp>
      <p:sp>
        <p:nvSpPr>
          <p:cNvPr id="25" name="Shape 22"/>
          <p:cNvSpPr/>
          <p:nvPr/>
        </p:nvSpPr>
        <p:spPr>
          <a:xfrm>
            <a:off x="3829050" y="2405063"/>
            <a:ext cx="2781300" cy="595313"/>
          </a:xfrm>
          <a:prstGeom prst="roundRect">
            <a:avLst/>
          </a:prstGeom>
          <a:solidFill>
            <a:srgbClr val="F4F1EB"/>
          </a:solidFill>
          <a:ln/>
        </p:spPr>
      </p:sp>
      <p:sp>
        <p:nvSpPr>
          <p:cNvPr id="26" name="Text 23"/>
          <p:cNvSpPr/>
          <p:nvPr/>
        </p:nvSpPr>
        <p:spPr>
          <a:xfrm>
            <a:off x="3924300" y="2490788"/>
            <a:ext cx="11906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2"/>
              </a:lnSpc>
              <a:buNone/>
            </a:pPr>
            <a:r>
              <a:rPr lang="en-US" sz="713" b="1" dirty="0">
                <a:solidFill>
                  <a:srgbClr val="00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SUB-REDE PÚBLICA</a:t>
            </a:r>
            <a:endParaRPr lang="en-US" sz="713" dirty="0"/>
          </a:p>
        </p:txBody>
      </p:sp>
      <p:sp>
        <p:nvSpPr>
          <p:cNvPr id="27" name="Text 24"/>
          <p:cNvSpPr/>
          <p:nvPr/>
        </p:nvSpPr>
        <p:spPr>
          <a:xfrm>
            <a:off x="3924300" y="2690813"/>
            <a:ext cx="23812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784" dirty="0">
                <a:solidFill>
                  <a:srgbClr val="4F4F4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ALB · distribuição cross-zone</a:t>
            </a:r>
            <a:endParaRPr lang="en-US" sz="784" dirty="0"/>
          </a:p>
        </p:txBody>
      </p:sp>
      <p:sp>
        <p:nvSpPr>
          <p:cNvPr id="28" name="Shape 25"/>
          <p:cNvSpPr/>
          <p:nvPr/>
        </p:nvSpPr>
        <p:spPr>
          <a:xfrm>
            <a:off x="3829050" y="3190875"/>
            <a:ext cx="2781300" cy="762000"/>
          </a:xfrm>
          <a:prstGeom prst="roundRect">
            <a:avLst/>
          </a:prstGeom>
          <a:solidFill>
            <a:srgbClr val="000000"/>
          </a:solidFill>
          <a:ln w="9049">
            <a:solidFill>
              <a:srgbClr val="ADADA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924300" y="3281363"/>
            <a:ext cx="11906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2"/>
              </a:lnSpc>
              <a:buNone/>
            </a:pPr>
            <a:r>
              <a:rPr lang="en-US" sz="713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SUB-REDE PRIVADA</a:t>
            </a:r>
            <a:endParaRPr lang="en-US" sz="713" dirty="0"/>
          </a:p>
        </p:txBody>
      </p:sp>
      <p:sp>
        <p:nvSpPr>
          <p:cNvPr id="30" name="Text 27"/>
          <p:cNvSpPr/>
          <p:nvPr/>
        </p:nvSpPr>
        <p:spPr>
          <a:xfrm>
            <a:off x="3924300" y="3481388"/>
            <a:ext cx="23812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784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EC2 do ASG · tasks Fargate</a:t>
            </a:r>
            <a:endParaRPr lang="en-US" sz="784" dirty="0"/>
          </a:p>
        </p:txBody>
      </p:sp>
      <p:sp>
        <p:nvSpPr>
          <p:cNvPr id="31" name="Text 28"/>
          <p:cNvSpPr/>
          <p:nvPr/>
        </p:nvSpPr>
        <p:spPr>
          <a:xfrm>
            <a:off x="3924300" y="3671888"/>
            <a:ext cx="24765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8"/>
              </a:lnSpc>
              <a:buNone/>
            </a:pPr>
            <a:r>
              <a:rPr lang="en-US" sz="748" dirty="0">
                <a:solidFill>
                  <a:srgbClr val="E18820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RDS standby · planejado, não ativo</a:t>
            </a:r>
            <a:endParaRPr lang="en-US" sz="748" dirty="0"/>
          </a:p>
        </p:txBody>
      </p:sp>
      <p:sp>
        <p:nvSpPr>
          <p:cNvPr id="32" name="Shape 29"/>
          <p:cNvSpPr/>
          <p:nvPr/>
        </p:nvSpPr>
        <p:spPr>
          <a:xfrm>
            <a:off x="7096125" y="1738313"/>
            <a:ext cx="1666875" cy="2619375"/>
          </a:xfrm>
          <a:prstGeom prst="roundRect">
            <a:avLst>
              <a:gd name="adj" fmla="val 9874"/>
            </a:avLst>
          </a:prstGeom>
          <a:solidFill>
            <a:srgbClr val="171717"/>
          </a:solidFill>
          <a:ln/>
        </p:spPr>
      </p:sp>
      <p:sp>
        <p:nvSpPr>
          <p:cNvPr id="33" name="Text 30"/>
          <p:cNvSpPr/>
          <p:nvPr/>
        </p:nvSpPr>
        <p:spPr>
          <a:xfrm>
            <a:off x="7229475" y="1871663"/>
            <a:ext cx="1400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7"/>
              </a:lnSpc>
              <a:buNone/>
            </a:pPr>
            <a:r>
              <a:rPr lang="en-US" sz="998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CONTROLES</a:t>
            </a:r>
            <a:endParaRPr lang="en-US" sz="998" dirty="0"/>
          </a:p>
          <a:p>
            <a:pPr algn="l" indent="0" marL="0">
              <a:lnSpc>
                <a:spcPts val="1147"/>
              </a:lnSpc>
              <a:buNone/>
            </a:pPr>
            <a:r>
              <a:rPr lang="en-US" sz="998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TRANSVERSAIS</a:t>
            </a:r>
            <a:endParaRPr lang="en-US" sz="998" dirty="0"/>
          </a:p>
        </p:txBody>
      </p:sp>
      <p:sp>
        <p:nvSpPr>
          <p:cNvPr id="34" name="Text 31"/>
          <p:cNvSpPr/>
          <p:nvPr/>
        </p:nvSpPr>
        <p:spPr>
          <a:xfrm>
            <a:off x="7229475" y="2366963"/>
            <a:ext cx="14001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2"/>
              </a:lnSpc>
              <a:buNone/>
            </a:pPr>
            <a:r>
              <a:rPr lang="en-US" sz="713" b="1" dirty="0">
                <a:solidFill>
                  <a:srgbClr val="FF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SECURITY GROUPS</a:t>
            </a:r>
            <a:endParaRPr lang="en-US" sz="713" dirty="0"/>
          </a:p>
        </p:txBody>
      </p:sp>
      <p:sp>
        <p:nvSpPr>
          <p:cNvPr id="35" name="Text 32"/>
          <p:cNvSpPr/>
          <p:nvPr/>
        </p:nvSpPr>
        <p:spPr>
          <a:xfrm>
            <a:off x="7229475" y="2528888"/>
            <a:ext cx="140017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7"/>
              </a:lnSpc>
              <a:buNone/>
            </a:pPr>
            <a:r>
              <a:rPr lang="en-US" sz="748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ALB → EC2 : 5000</a:t>
            </a:r>
            <a:endParaRPr lang="en-US" sz="748" dirty="0"/>
          </a:p>
          <a:p>
            <a:pPr algn="l" indent="0" marL="0">
              <a:lnSpc>
                <a:spcPts val="1047"/>
              </a:lnSpc>
              <a:buNone/>
            </a:pPr>
            <a:r>
              <a:rPr lang="en-US" sz="748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workloads → RDS : 5432</a:t>
            </a:r>
            <a:endParaRPr lang="en-US" sz="748" dirty="0"/>
          </a:p>
          <a:p>
            <a:pPr algn="l" indent="0" marL="0">
              <a:lnSpc>
                <a:spcPts val="1047"/>
              </a:lnSpc>
              <a:buNone/>
            </a:pPr>
            <a:r>
              <a:rPr lang="en-US" sz="748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SSH apenas pelo bastion</a:t>
            </a:r>
            <a:endParaRPr lang="en-US" sz="748" dirty="0"/>
          </a:p>
        </p:txBody>
      </p:sp>
      <p:sp>
        <p:nvSpPr>
          <p:cNvPr id="36" name="Text 33"/>
          <p:cNvSpPr/>
          <p:nvPr/>
        </p:nvSpPr>
        <p:spPr>
          <a:xfrm>
            <a:off x="7229475" y="3100388"/>
            <a:ext cx="14001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2"/>
              </a:lnSpc>
              <a:buNone/>
            </a:pPr>
            <a:r>
              <a:rPr lang="en-US" sz="713" b="1" dirty="0">
                <a:solidFill>
                  <a:srgbClr val="FF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OBSERVABILIDADE</a:t>
            </a:r>
            <a:endParaRPr lang="en-US" sz="713" dirty="0"/>
          </a:p>
        </p:txBody>
      </p:sp>
      <p:sp>
        <p:nvSpPr>
          <p:cNvPr id="37" name="Text 34"/>
          <p:cNvSpPr/>
          <p:nvPr/>
        </p:nvSpPr>
        <p:spPr>
          <a:xfrm>
            <a:off x="7229475" y="3262313"/>
            <a:ext cx="140017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7"/>
              </a:lnSpc>
              <a:buNone/>
            </a:pPr>
            <a:r>
              <a:rPr lang="en-US" sz="748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CloudWatch + SNS</a:t>
            </a:r>
            <a:endParaRPr lang="en-US" sz="748" dirty="0"/>
          </a:p>
          <a:p>
            <a:pPr algn="l" indent="0" marL="0">
              <a:lnSpc>
                <a:spcPts val="1047"/>
              </a:lnSpc>
              <a:buNone/>
            </a:pPr>
            <a:r>
              <a:rPr lang="en-US" sz="748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VPC Flow Logs → S3</a:t>
            </a:r>
            <a:endParaRPr lang="en-US" sz="748" dirty="0"/>
          </a:p>
          <a:p>
            <a:pPr algn="l" indent="0" marL="0">
              <a:lnSpc>
                <a:spcPts val="1047"/>
              </a:lnSpc>
              <a:buNone/>
            </a:pPr>
            <a:r>
              <a:rPr lang="en-US" sz="748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ALB access logs → S3</a:t>
            </a:r>
            <a:endParaRPr lang="en-US" sz="748" dirty="0"/>
          </a:p>
        </p:txBody>
      </p:sp>
      <p:sp>
        <p:nvSpPr>
          <p:cNvPr id="38" name="Text 35"/>
          <p:cNvSpPr/>
          <p:nvPr/>
        </p:nvSpPr>
        <p:spPr>
          <a:xfrm>
            <a:off x="7229475" y="3843338"/>
            <a:ext cx="14001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2"/>
              </a:lnSpc>
              <a:buNone/>
            </a:pPr>
            <a:r>
              <a:rPr lang="en-US" sz="713" b="1" dirty="0">
                <a:solidFill>
                  <a:srgbClr val="FF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SAÍDA PRIVADA</a:t>
            </a:r>
            <a:endParaRPr lang="en-US" sz="713" dirty="0"/>
          </a:p>
        </p:txBody>
      </p:sp>
      <p:sp>
        <p:nvSpPr>
          <p:cNvPr id="39" name="Text 36"/>
          <p:cNvSpPr/>
          <p:nvPr/>
        </p:nvSpPr>
        <p:spPr>
          <a:xfrm>
            <a:off x="7229475" y="4005262"/>
            <a:ext cx="1400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2"/>
              </a:lnSpc>
              <a:buNone/>
            </a:pPr>
            <a:r>
              <a:rPr lang="en-US" sz="713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NAT para ECR / Secrets / Logs</a:t>
            </a:r>
            <a:endParaRPr lang="en-US" sz="713" dirty="0"/>
          </a:p>
          <a:p>
            <a:pPr algn="l" indent="0" marL="0">
              <a:lnSpc>
                <a:spcPts val="962"/>
              </a:lnSpc>
              <a:buNone/>
            </a:pPr>
            <a:r>
              <a:rPr lang="en-US" sz="713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endpoint S3 sem sair da AWS</a:t>
            </a:r>
            <a:endParaRPr lang="en-US" sz="71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242888"/>
            <a:ext cx="1457325" cy="223838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381000" y="247650"/>
            <a:ext cx="247650" cy="214313"/>
          </a:xfrm>
          <a:prstGeom prst="roundRect">
            <a:avLst>
              <a:gd name="adj" fmla="val 34133"/>
            </a:avLst>
          </a:prstGeom>
          <a:solidFill>
            <a:srgbClr val="FF000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1012" y="326231"/>
            <a:ext cx="47625" cy="571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" y="242888"/>
            <a:ext cx="1152525" cy="223838"/>
          </a:xfrm>
          <a:prstGeom prst="rect">
            <a:avLst/>
          </a:prstGeom>
          <a:noFill/>
          <a:ln/>
        </p:spPr>
      </p:sp>
      <p:sp>
        <p:nvSpPr>
          <p:cNvPr id="6" name="Text 3"/>
          <p:cNvSpPr/>
          <p:nvPr/>
        </p:nvSpPr>
        <p:spPr>
          <a:xfrm>
            <a:off x="685800" y="242888"/>
            <a:ext cx="10763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0"/>
              </a:lnSpc>
              <a:buNone/>
            </a:pPr>
            <a:r>
              <a:rPr lang="en-US" sz="1283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globoplay</a:t>
            </a:r>
            <a:endParaRPr lang="en-US" sz="1283" dirty="0"/>
          </a:p>
        </p:txBody>
      </p:sp>
      <p:sp>
        <p:nvSpPr>
          <p:cNvPr id="7" name="Text 4"/>
          <p:cNvSpPr/>
          <p:nvPr/>
        </p:nvSpPr>
        <p:spPr>
          <a:xfrm>
            <a:off x="1790700" y="242888"/>
            <a:ext cx="47625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buNone/>
            </a:pPr>
            <a:r>
              <a:rPr lang="en-US" sz="1283" dirty="0">
                <a:solidFill>
                  <a:srgbClr val="FF0000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|</a:t>
            </a:r>
            <a:endParaRPr lang="en-US" sz="1283" dirty="0"/>
          </a:p>
        </p:txBody>
      </p:sp>
      <p:sp>
        <p:nvSpPr>
          <p:cNvPr id="8" name="Shape 5"/>
          <p:cNvSpPr/>
          <p:nvPr/>
        </p:nvSpPr>
        <p:spPr>
          <a:xfrm>
            <a:off x="7620000" y="-857250"/>
            <a:ext cx="2000250" cy="2000250"/>
          </a:xfrm>
          <a:prstGeom prst="ellipse">
            <a:avLst/>
          </a:prstGeom>
          <a:noFill/>
          <a:ln w="208121">
            <a:solidFill>
              <a:srgbClr val="59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1000" y="628650"/>
            <a:ext cx="83820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2"/>
              </a:lnSpc>
              <a:buNone/>
            </a:pPr>
            <a:r>
              <a:rPr lang="en-US" sz="784" dirty="0">
                <a:solidFill>
                  <a:srgbClr val="FF0A05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UML · DIAGRAMA DE IMPLANTAÇÃO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381000" y="823913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4"/>
              </a:lnSpc>
              <a:buNone/>
            </a:pPr>
            <a:r>
              <a:rPr lang="en-US" sz="1995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Onde cada parte do Argus é executada</a:t>
            </a:r>
            <a:endParaRPr lang="en-US" sz="1995" dirty="0"/>
          </a:p>
        </p:txBody>
      </p:sp>
      <p:sp>
        <p:nvSpPr>
          <p:cNvPr id="11" name="Shape 8"/>
          <p:cNvSpPr/>
          <p:nvPr/>
        </p:nvSpPr>
        <p:spPr>
          <a:xfrm>
            <a:off x="381000" y="1185863"/>
            <a:ext cx="8382000" cy="9525"/>
          </a:xfrm>
          <a:prstGeom prst="rect">
            <a:avLst/>
          </a:prstGeom>
          <a:solidFill>
            <a:srgbClr val="59000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43063" y="1309688"/>
            <a:ext cx="5467350" cy="35671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0" y="-857250"/>
            <a:ext cx="2000250" cy="2000250"/>
          </a:xfrm>
          <a:prstGeom prst="ellipse">
            <a:avLst/>
          </a:prstGeom>
          <a:noFill/>
          <a:ln w="208121">
            <a:solidFill>
              <a:srgbClr val="59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1000" y="242888"/>
            <a:ext cx="1457325" cy="223838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381000" y="247650"/>
            <a:ext cx="247650" cy="214313"/>
          </a:xfrm>
          <a:prstGeom prst="roundRect">
            <a:avLst>
              <a:gd name="adj" fmla="val 34133"/>
            </a:avLst>
          </a:prstGeom>
          <a:solidFill>
            <a:srgbClr val="FF00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1012" y="326231"/>
            <a:ext cx="47625" cy="571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242888"/>
            <a:ext cx="1152525" cy="223838"/>
          </a:xfrm>
          <a:prstGeom prst="rect">
            <a:avLst/>
          </a:prstGeom>
          <a:noFill/>
          <a:ln/>
        </p:spPr>
      </p:sp>
      <p:sp>
        <p:nvSpPr>
          <p:cNvPr id="7" name="Text 4"/>
          <p:cNvSpPr/>
          <p:nvPr/>
        </p:nvSpPr>
        <p:spPr>
          <a:xfrm>
            <a:off x="685800" y="242888"/>
            <a:ext cx="10763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0"/>
              </a:lnSpc>
              <a:buNone/>
            </a:pPr>
            <a:r>
              <a:rPr lang="en-US" sz="1283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globoplay</a:t>
            </a:r>
            <a:endParaRPr lang="en-US" sz="1283" dirty="0"/>
          </a:p>
        </p:txBody>
      </p:sp>
      <p:sp>
        <p:nvSpPr>
          <p:cNvPr id="8" name="Text 5"/>
          <p:cNvSpPr/>
          <p:nvPr/>
        </p:nvSpPr>
        <p:spPr>
          <a:xfrm>
            <a:off x="1790700" y="242888"/>
            <a:ext cx="47625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buNone/>
            </a:pPr>
            <a:r>
              <a:rPr lang="en-US" sz="1283" dirty="0">
                <a:solidFill>
                  <a:srgbClr val="FF0000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|</a:t>
            </a:r>
            <a:endParaRPr lang="en-US" sz="1283" dirty="0"/>
          </a:p>
        </p:txBody>
      </p:sp>
      <p:sp>
        <p:nvSpPr>
          <p:cNvPr id="9" name="Text 6"/>
          <p:cNvSpPr/>
          <p:nvPr/>
        </p:nvSpPr>
        <p:spPr>
          <a:xfrm>
            <a:off x="381000" y="628650"/>
            <a:ext cx="7143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7"/>
              </a:lnSpc>
              <a:buNone/>
            </a:pPr>
            <a:r>
              <a:rPr lang="en-US" sz="998" dirty="0">
                <a:solidFill>
                  <a:srgbClr val="FF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CASOS DE USO · VISÃO GERAL</a:t>
            </a:r>
            <a:endParaRPr lang="en-US" sz="998" dirty="0"/>
          </a:p>
        </p:txBody>
      </p:sp>
      <p:sp>
        <p:nvSpPr>
          <p:cNvPr id="10" name="Text 7"/>
          <p:cNvSpPr/>
          <p:nvPr/>
        </p:nvSpPr>
        <p:spPr>
          <a:xfrm>
            <a:off x="381000" y="819150"/>
            <a:ext cx="8191500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5"/>
              </a:lnSpc>
              <a:buNone/>
            </a:pPr>
            <a:r>
              <a:rPr lang="en-US" sz="1995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Cinco movimentos</a:t>
            </a:r>
            <a:endParaRPr lang="en-US" sz="1995" dirty="0"/>
          </a:p>
        </p:txBody>
      </p:sp>
      <p:sp>
        <p:nvSpPr>
          <p:cNvPr id="11" name="Shape 8"/>
          <p:cNvSpPr/>
          <p:nvPr/>
        </p:nvSpPr>
        <p:spPr>
          <a:xfrm>
            <a:off x="381000" y="1343025"/>
            <a:ext cx="8382000" cy="9525"/>
          </a:xfrm>
          <a:prstGeom prst="rect">
            <a:avLst/>
          </a:prstGeom>
          <a:solidFill>
            <a:srgbClr val="FF000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790700" y="2862263"/>
            <a:ext cx="323850" cy="13335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457575" y="2862263"/>
            <a:ext cx="323850" cy="133350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124450" y="2862263"/>
            <a:ext cx="323850" cy="133350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791325" y="2862263"/>
            <a:ext cx="323850" cy="133350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381000" y="1881187"/>
            <a:ext cx="1476375" cy="2143125"/>
          </a:xfrm>
          <a:prstGeom prst="roundRect">
            <a:avLst>
              <a:gd name="adj" fmla="val 12387"/>
            </a:avLst>
          </a:prstGeom>
          <a:solidFill>
            <a:srgbClr val="171717"/>
          </a:solidFill>
          <a:ln w="6787">
            <a:solidFill>
              <a:srgbClr val="FF0000"/>
            </a:solidFill>
            <a:prstDash val="solid"/>
          </a:ln>
        </p:spPr>
      </p:sp>
      <p:sp>
        <p:nvSpPr>
          <p:cNvPr id="17" name="Shape 10"/>
          <p:cNvSpPr/>
          <p:nvPr/>
        </p:nvSpPr>
        <p:spPr>
          <a:xfrm>
            <a:off x="485775" y="1985963"/>
            <a:ext cx="266700" cy="26670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8" name="Text 11"/>
          <p:cNvSpPr/>
          <p:nvPr/>
        </p:nvSpPr>
        <p:spPr>
          <a:xfrm>
            <a:off x="485775" y="2043113"/>
            <a:ext cx="2667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98"/>
              </a:lnSpc>
              <a:buNone/>
            </a:pPr>
            <a:r>
              <a:rPr lang="en-US" sz="998" b="1" dirty="0">
                <a:solidFill>
                  <a:srgbClr val="00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998" dirty="0"/>
          </a:p>
        </p:txBody>
      </p:sp>
      <p:sp>
        <p:nvSpPr>
          <p:cNvPr id="19" name="Text 12"/>
          <p:cNvSpPr/>
          <p:nvPr/>
        </p:nvSpPr>
        <p:spPr>
          <a:xfrm>
            <a:off x="819150" y="2000250"/>
            <a:ext cx="9334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4"/>
              </a:lnSpc>
              <a:buNone/>
            </a:pPr>
            <a:r>
              <a:rPr lang="en-US" sz="713" b="1" dirty="0">
                <a:solidFill>
                  <a:srgbClr val="FF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FONTES</a:t>
            </a:r>
            <a:endParaRPr lang="en-US" sz="713" dirty="0"/>
          </a:p>
        </p:txBody>
      </p:sp>
      <p:sp>
        <p:nvSpPr>
          <p:cNvPr id="20" name="Text 13"/>
          <p:cNvSpPr/>
          <p:nvPr/>
        </p:nvSpPr>
        <p:spPr>
          <a:xfrm>
            <a:off x="819150" y="2128838"/>
            <a:ext cx="9334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4"/>
              </a:lnSpc>
              <a:buNone/>
            </a:pPr>
            <a:r>
              <a:rPr lang="en-US" sz="713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UC01</a:t>
            </a:r>
            <a:endParaRPr lang="en-US" sz="713" dirty="0"/>
          </a:p>
        </p:txBody>
      </p:sp>
      <p:sp>
        <p:nvSpPr>
          <p:cNvPr id="21" name="Text 14"/>
          <p:cNvSpPr/>
          <p:nvPr/>
        </p:nvSpPr>
        <p:spPr>
          <a:xfrm>
            <a:off x="495300" y="2428875"/>
            <a:ext cx="12477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1033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Ingerir telemetria</a:t>
            </a:r>
            <a:endParaRPr lang="en-US" sz="1033" dirty="0"/>
          </a:p>
        </p:txBody>
      </p:sp>
      <p:sp>
        <p:nvSpPr>
          <p:cNvPr id="22" name="Text 15"/>
          <p:cNvSpPr/>
          <p:nvPr/>
        </p:nvSpPr>
        <p:spPr>
          <a:xfrm>
            <a:off x="495300" y="2986088"/>
            <a:ext cx="1247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6"/>
              </a:lnSpc>
              <a:buNone/>
            </a:pPr>
            <a:r>
              <a:rPr lang="en-US" sz="784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Aceitar, validar e persistir sem acoplar a fonte à capacidade instantânea.</a:t>
            </a:r>
            <a:endParaRPr lang="en-US" sz="784" dirty="0"/>
          </a:p>
        </p:txBody>
      </p:sp>
      <p:sp>
        <p:nvSpPr>
          <p:cNvPr id="23" name="Shape 16"/>
          <p:cNvSpPr/>
          <p:nvPr/>
        </p:nvSpPr>
        <p:spPr>
          <a:xfrm>
            <a:off x="2047875" y="1881187"/>
            <a:ext cx="1476375" cy="2143125"/>
          </a:xfrm>
          <a:prstGeom prst="roundRect">
            <a:avLst>
              <a:gd name="adj" fmla="val 12387"/>
            </a:avLst>
          </a:prstGeom>
          <a:solidFill>
            <a:srgbClr val="171717"/>
          </a:solidFill>
          <a:ln w="6787">
            <a:solidFill>
              <a:srgbClr val="D97706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2152650" y="1985963"/>
            <a:ext cx="266700" cy="2667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5" name="Text 18"/>
          <p:cNvSpPr/>
          <p:nvPr/>
        </p:nvSpPr>
        <p:spPr>
          <a:xfrm>
            <a:off x="2152650" y="2043113"/>
            <a:ext cx="2667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98"/>
              </a:lnSpc>
              <a:buNone/>
            </a:pPr>
            <a:r>
              <a:rPr lang="en-US" sz="998" b="1" dirty="0">
                <a:solidFill>
                  <a:srgbClr val="00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998" dirty="0"/>
          </a:p>
        </p:txBody>
      </p:sp>
      <p:sp>
        <p:nvSpPr>
          <p:cNvPr id="26" name="Text 19"/>
          <p:cNvSpPr/>
          <p:nvPr/>
        </p:nvSpPr>
        <p:spPr>
          <a:xfrm>
            <a:off x="2486025" y="2000250"/>
            <a:ext cx="9334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4"/>
              </a:lnSpc>
              <a:buNone/>
            </a:pPr>
            <a:r>
              <a:rPr lang="en-US" sz="713" b="1" dirty="0">
                <a:solidFill>
                  <a:srgbClr val="D97706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CHECKPOINT</a:t>
            </a:r>
            <a:endParaRPr lang="en-US" sz="713" dirty="0"/>
          </a:p>
        </p:txBody>
      </p:sp>
      <p:sp>
        <p:nvSpPr>
          <p:cNvPr id="27" name="Text 20"/>
          <p:cNvSpPr/>
          <p:nvPr/>
        </p:nvSpPr>
        <p:spPr>
          <a:xfrm>
            <a:off x="2486025" y="2128838"/>
            <a:ext cx="9334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4"/>
              </a:lnSpc>
              <a:buNone/>
            </a:pPr>
            <a:r>
              <a:rPr lang="en-US" sz="713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UC02 · inclui UC03</a:t>
            </a:r>
            <a:endParaRPr lang="en-US" sz="713" dirty="0"/>
          </a:p>
        </p:txBody>
      </p:sp>
      <p:sp>
        <p:nvSpPr>
          <p:cNvPr id="28" name="Text 21"/>
          <p:cNvSpPr/>
          <p:nvPr/>
        </p:nvSpPr>
        <p:spPr>
          <a:xfrm>
            <a:off x="2162175" y="2428875"/>
            <a:ext cx="12477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1033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Processar e explicar</a:t>
            </a:r>
            <a:endParaRPr lang="en-US" sz="1033" dirty="0"/>
          </a:p>
        </p:txBody>
      </p:sp>
      <p:sp>
        <p:nvSpPr>
          <p:cNvPr id="29" name="Text 22"/>
          <p:cNvSpPr/>
          <p:nvPr/>
        </p:nvSpPr>
        <p:spPr>
          <a:xfrm>
            <a:off x="2162175" y="2986088"/>
            <a:ext cx="12477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6"/>
              </a:lnSpc>
              <a:buNone/>
            </a:pPr>
            <a:r>
              <a:rPr lang="en-US" sz="784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Transformar a fotografia consistente, detectar desvios e tentar produzir hipóteses.</a:t>
            </a:r>
            <a:endParaRPr lang="en-US" sz="784" dirty="0"/>
          </a:p>
        </p:txBody>
      </p:sp>
      <p:sp>
        <p:nvSpPr>
          <p:cNvPr id="30" name="Shape 23"/>
          <p:cNvSpPr/>
          <p:nvPr/>
        </p:nvSpPr>
        <p:spPr>
          <a:xfrm>
            <a:off x="3714750" y="1881187"/>
            <a:ext cx="1476375" cy="2143125"/>
          </a:xfrm>
          <a:prstGeom prst="roundRect">
            <a:avLst>
              <a:gd name="adj" fmla="val 12387"/>
            </a:avLst>
          </a:prstGeom>
          <a:solidFill>
            <a:srgbClr val="171717"/>
          </a:solidFill>
          <a:ln w="6787">
            <a:solidFill>
              <a:srgbClr val="FF0000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3819525" y="1985963"/>
            <a:ext cx="266700" cy="26670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32" name="Text 25"/>
          <p:cNvSpPr/>
          <p:nvPr/>
        </p:nvSpPr>
        <p:spPr>
          <a:xfrm>
            <a:off x="3819525" y="2043113"/>
            <a:ext cx="2667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98"/>
              </a:lnSpc>
              <a:buNone/>
            </a:pPr>
            <a:r>
              <a:rPr lang="en-US" sz="998" b="1" dirty="0">
                <a:solidFill>
                  <a:srgbClr val="00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998" dirty="0"/>
          </a:p>
        </p:txBody>
      </p:sp>
      <p:sp>
        <p:nvSpPr>
          <p:cNvPr id="33" name="Text 26"/>
          <p:cNvSpPr/>
          <p:nvPr/>
        </p:nvSpPr>
        <p:spPr>
          <a:xfrm>
            <a:off x="4152900" y="2000250"/>
            <a:ext cx="9334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4"/>
              </a:lnSpc>
              <a:buNone/>
            </a:pPr>
            <a:r>
              <a:rPr lang="en-US" sz="713" b="1" dirty="0">
                <a:solidFill>
                  <a:srgbClr val="FF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OPERADOR + CLOUDWATCH</a:t>
            </a:r>
            <a:endParaRPr lang="en-US" sz="713" dirty="0"/>
          </a:p>
        </p:txBody>
      </p:sp>
      <p:sp>
        <p:nvSpPr>
          <p:cNvPr id="34" name="Text 27"/>
          <p:cNvSpPr/>
          <p:nvPr/>
        </p:nvSpPr>
        <p:spPr>
          <a:xfrm>
            <a:off x="4152900" y="2224088"/>
            <a:ext cx="9334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4"/>
              </a:lnSpc>
              <a:buNone/>
            </a:pPr>
            <a:r>
              <a:rPr lang="en-US" sz="713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UC04 · UC05 · UC09</a:t>
            </a:r>
            <a:endParaRPr lang="en-US" sz="713" dirty="0"/>
          </a:p>
        </p:txBody>
      </p:sp>
      <p:sp>
        <p:nvSpPr>
          <p:cNvPr id="35" name="Text 28"/>
          <p:cNvSpPr/>
          <p:nvPr/>
        </p:nvSpPr>
        <p:spPr>
          <a:xfrm>
            <a:off x="3829050" y="2428875"/>
            <a:ext cx="12477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1033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Observar o sistema</a:t>
            </a:r>
            <a:endParaRPr lang="en-US" sz="1033" dirty="0"/>
          </a:p>
        </p:txBody>
      </p:sp>
      <p:sp>
        <p:nvSpPr>
          <p:cNvPr id="36" name="Text 29"/>
          <p:cNvSpPr/>
          <p:nvPr/>
        </p:nvSpPr>
        <p:spPr>
          <a:xfrm>
            <a:off x="3829050" y="2986088"/>
            <a:ext cx="1247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6"/>
              </a:lnSpc>
              <a:buNone/>
            </a:pPr>
            <a:r>
              <a:rPr lang="en-US" sz="784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Estado atual, exploração da telemetria e integridade da ingestão.</a:t>
            </a:r>
            <a:endParaRPr lang="en-US" sz="784" dirty="0"/>
          </a:p>
        </p:txBody>
      </p:sp>
      <p:sp>
        <p:nvSpPr>
          <p:cNvPr id="37" name="Shape 30"/>
          <p:cNvSpPr/>
          <p:nvPr/>
        </p:nvSpPr>
        <p:spPr>
          <a:xfrm>
            <a:off x="5381625" y="1881187"/>
            <a:ext cx="1476375" cy="2143125"/>
          </a:xfrm>
          <a:prstGeom prst="roundRect">
            <a:avLst>
              <a:gd name="adj" fmla="val 12387"/>
            </a:avLst>
          </a:prstGeom>
          <a:solidFill>
            <a:srgbClr val="171717"/>
          </a:solidFill>
          <a:ln w="6787">
            <a:solidFill>
              <a:srgbClr val="D97706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5486400" y="1985963"/>
            <a:ext cx="266700" cy="2667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9" name="Text 32"/>
          <p:cNvSpPr/>
          <p:nvPr/>
        </p:nvSpPr>
        <p:spPr>
          <a:xfrm>
            <a:off x="5486400" y="2043113"/>
            <a:ext cx="2667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98"/>
              </a:lnSpc>
              <a:buNone/>
            </a:pPr>
            <a:r>
              <a:rPr lang="en-US" sz="998" b="1" dirty="0">
                <a:solidFill>
                  <a:srgbClr val="00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</a:t>
            </a:r>
            <a:endParaRPr lang="en-US" sz="998" dirty="0"/>
          </a:p>
        </p:txBody>
      </p:sp>
      <p:sp>
        <p:nvSpPr>
          <p:cNvPr id="40" name="Text 33"/>
          <p:cNvSpPr/>
          <p:nvPr/>
        </p:nvSpPr>
        <p:spPr>
          <a:xfrm>
            <a:off x="5819775" y="2000250"/>
            <a:ext cx="9334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4"/>
              </a:lnSpc>
              <a:buNone/>
            </a:pPr>
            <a:r>
              <a:rPr lang="en-US" sz="713" b="1" dirty="0">
                <a:solidFill>
                  <a:srgbClr val="D97706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OPERADOR</a:t>
            </a:r>
            <a:endParaRPr lang="en-US" sz="713" dirty="0"/>
          </a:p>
        </p:txBody>
      </p:sp>
      <p:sp>
        <p:nvSpPr>
          <p:cNvPr id="41" name="Text 34"/>
          <p:cNvSpPr/>
          <p:nvPr/>
        </p:nvSpPr>
        <p:spPr>
          <a:xfrm>
            <a:off x="5819775" y="2128838"/>
            <a:ext cx="9334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4"/>
              </a:lnSpc>
              <a:buNone/>
            </a:pPr>
            <a:r>
              <a:rPr lang="en-US" sz="713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UC06 · inclui 07 e 08</a:t>
            </a:r>
            <a:endParaRPr lang="en-US" sz="713" dirty="0"/>
          </a:p>
        </p:txBody>
      </p:sp>
      <p:sp>
        <p:nvSpPr>
          <p:cNvPr id="42" name="Text 35"/>
          <p:cNvSpPr/>
          <p:nvPr/>
        </p:nvSpPr>
        <p:spPr>
          <a:xfrm>
            <a:off x="5495925" y="2428875"/>
            <a:ext cx="124777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1033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Investigar</a:t>
            </a:r>
            <a:endParaRPr lang="en-US" sz="1033" dirty="0"/>
          </a:p>
        </p:txBody>
      </p:sp>
      <p:sp>
        <p:nvSpPr>
          <p:cNvPr id="43" name="Text 36"/>
          <p:cNvSpPr/>
          <p:nvPr/>
        </p:nvSpPr>
        <p:spPr>
          <a:xfrm>
            <a:off x="5495925" y="2986088"/>
            <a:ext cx="1247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6"/>
              </a:lnSpc>
              <a:buNone/>
            </a:pPr>
            <a:r>
              <a:rPr lang="en-US" sz="784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Delimitar o recorte afetado e comparar com uma referência anterior.</a:t>
            </a:r>
            <a:endParaRPr lang="en-US" sz="784" dirty="0"/>
          </a:p>
        </p:txBody>
      </p:sp>
      <p:sp>
        <p:nvSpPr>
          <p:cNvPr id="44" name="Shape 37"/>
          <p:cNvSpPr/>
          <p:nvPr/>
        </p:nvSpPr>
        <p:spPr>
          <a:xfrm>
            <a:off x="7048500" y="1881187"/>
            <a:ext cx="1476375" cy="2143125"/>
          </a:xfrm>
          <a:prstGeom prst="roundRect">
            <a:avLst>
              <a:gd name="adj" fmla="val 12387"/>
            </a:avLst>
          </a:prstGeom>
          <a:solidFill>
            <a:srgbClr val="171717"/>
          </a:solidFill>
          <a:ln w="6787">
            <a:solidFill>
              <a:srgbClr val="FF0000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7153275" y="1985963"/>
            <a:ext cx="266700" cy="26670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46" name="Text 39"/>
          <p:cNvSpPr/>
          <p:nvPr/>
        </p:nvSpPr>
        <p:spPr>
          <a:xfrm>
            <a:off x="7153275" y="2043113"/>
            <a:ext cx="2667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98"/>
              </a:lnSpc>
              <a:buNone/>
            </a:pPr>
            <a:r>
              <a:rPr lang="en-US" sz="998" b="1" dirty="0">
                <a:solidFill>
                  <a:srgbClr val="00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5</a:t>
            </a:r>
            <a:endParaRPr lang="en-US" sz="998" dirty="0"/>
          </a:p>
        </p:txBody>
      </p:sp>
      <p:sp>
        <p:nvSpPr>
          <p:cNvPr id="47" name="Text 40"/>
          <p:cNvSpPr/>
          <p:nvPr/>
        </p:nvSpPr>
        <p:spPr>
          <a:xfrm>
            <a:off x="7486650" y="2000250"/>
            <a:ext cx="9334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4"/>
              </a:lnSpc>
              <a:buNone/>
            </a:pPr>
            <a:r>
              <a:rPr lang="en-US" sz="713" b="1" dirty="0">
                <a:solidFill>
                  <a:srgbClr val="FF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OPERADOR</a:t>
            </a:r>
            <a:endParaRPr lang="en-US" sz="713" dirty="0"/>
          </a:p>
        </p:txBody>
      </p:sp>
      <p:sp>
        <p:nvSpPr>
          <p:cNvPr id="48" name="Text 41"/>
          <p:cNvSpPr/>
          <p:nvPr/>
        </p:nvSpPr>
        <p:spPr>
          <a:xfrm>
            <a:off x="7486650" y="2128838"/>
            <a:ext cx="9334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4"/>
              </a:lnSpc>
              <a:buNone/>
            </a:pPr>
            <a:r>
              <a:rPr lang="en-US" sz="713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UC10 · UC11 · UC12 · UC13</a:t>
            </a:r>
            <a:endParaRPr lang="en-US" sz="713" dirty="0"/>
          </a:p>
        </p:txBody>
      </p:sp>
      <p:sp>
        <p:nvSpPr>
          <p:cNvPr id="49" name="Text 42"/>
          <p:cNvSpPr/>
          <p:nvPr/>
        </p:nvSpPr>
        <p:spPr>
          <a:xfrm>
            <a:off x="7162800" y="2428875"/>
            <a:ext cx="124777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1033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Aprofundar</a:t>
            </a:r>
            <a:endParaRPr lang="en-US" sz="1033" dirty="0"/>
          </a:p>
        </p:txBody>
      </p:sp>
      <p:sp>
        <p:nvSpPr>
          <p:cNvPr id="50" name="Text 43"/>
          <p:cNvSpPr/>
          <p:nvPr/>
        </p:nvSpPr>
        <p:spPr>
          <a:xfrm>
            <a:off x="7162800" y="2986088"/>
            <a:ext cx="12477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6"/>
              </a:lnSpc>
              <a:buNone/>
            </a:pPr>
            <a:r>
              <a:rPr lang="en-US" sz="784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Hipóteses, timeline, sessão representativa e avaliação humana — quando necessários.</a:t>
            </a:r>
            <a:endParaRPr lang="en-US" sz="78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0" y="-857250"/>
            <a:ext cx="2000250" cy="2000250"/>
          </a:xfrm>
          <a:prstGeom prst="ellipse">
            <a:avLst/>
          </a:prstGeom>
          <a:noFill/>
          <a:ln w="208121">
            <a:solidFill>
              <a:srgbClr val="59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1000" y="242888"/>
            <a:ext cx="1457325" cy="223838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381000" y="247650"/>
            <a:ext cx="247650" cy="214313"/>
          </a:xfrm>
          <a:prstGeom prst="roundRect">
            <a:avLst>
              <a:gd name="adj" fmla="val 34133"/>
            </a:avLst>
          </a:prstGeom>
          <a:solidFill>
            <a:srgbClr val="FF00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1012" y="326231"/>
            <a:ext cx="47625" cy="571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242888"/>
            <a:ext cx="1152525" cy="223838"/>
          </a:xfrm>
          <a:prstGeom prst="rect">
            <a:avLst/>
          </a:prstGeom>
          <a:noFill/>
          <a:ln/>
        </p:spPr>
      </p:sp>
      <p:sp>
        <p:nvSpPr>
          <p:cNvPr id="7" name="Text 4"/>
          <p:cNvSpPr/>
          <p:nvPr/>
        </p:nvSpPr>
        <p:spPr>
          <a:xfrm>
            <a:off x="685800" y="242888"/>
            <a:ext cx="10763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0"/>
              </a:lnSpc>
              <a:buNone/>
            </a:pPr>
            <a:r>
              <a:rPr lang="en-US" sz="1283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globoplay</a:t>
            </a:r>
            <a:endParaRPr lang="en-US" sz="1283" dirty="0"/>
          </a:p>
        </p:txBody>
      </p:sp>
      <p:sp>
        <p:nvSpPr>
          <p:cNvPr id="8" name="Text 5"/>
          <p:cNvSpPr/>
          <p:nvPr/>
        </p:nvSpPr>
        <p:spPr>
          <a:xfrm>
            <a:off x="1790700" y="242888"/>
            <a:ext cx="47625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buNone/>
            </a:pPr>
            <a:r>
              <a:rPr lang="en-US" sz="1283" dirty="0">
                <a:solidFill>
                  <a:srgbClr val="FF0000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|</a:t>
            </a:r>
            <a:endParaRPr lang="en-US" sz="1283" dirty="0"/>
          </a:p>
        </p:txBody>
      </p:sp>
      <p:sp>
        <p:nvSpPr>
          <p:cNvPr id="9" name="Text 6"/>
          <p:cNvSpPr/>
          <p:nvPr/>
        </p:nvSpPr>
        <p:spPr>
          <a:xfrm>
            <a:off x="381000" y="628650"/>
            <a:ext cx="7143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7"/>
              </a:lnSpc>
              <a:buNone/>
            </a:pPr>
            <a:r>
              <a:rPr lang="en-US" sz="998" dirty="0">
                <a:solidFill>
                  <a:srgbClr val="FF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MODELAGEM · DIAGRAMA DE CLASSES</a:t>
            </a:r>
            <a:endParaRPr lang="en-US" sz="998" dirty="0"/>
          </a:p>
        </p:txBody>
      </p:sp>
      <p:sp>
        <p:nvSpPr>
          <p:cNvPr id="10" name="Text 7"/>
          <p:cNvSpPr/>
          <p:nvPr/>
        </p:nvSpPr>
        <p:spPr>
          <a:xfrm>
            <a:off x="381000" y="819150"/>
            <a:ext cx="8191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3"/>
              </a:lnSpc>
              <a:buNone/>
            </a:pPr>
            <a:r>
              <a:rPr lang="en-US" sz="1888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Seis contextos</a:t>
            </a:r>
            <a:endParaRPr lang="en-US" sz="1888" dirty="0"/>
          </a:p>
        </p:txBody>
      </p:sp>
      <p:sp>
        <p:nvSpPr>
          <p:cNvPr id="11" name="Shape 8"/>
          <p:cNvSpPr/>
          <p:nvPr/>
        </p:nvSpPr>
        <p:spPr>
          <a:xfrm>
            <a:off x="381000" y="1343025"/>
            <a:ext cx="8382000" cy="9525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381000" y="2043113"/>
            <a:ext cx="904875" cy="571500"/>
          </a:xfrm>
          <a:prstGeom prst="roundRect">
            <a:avLst>
              <a:gd name="adj" fmla="val 96000"/>
            </a:avLst>
          </a:prstGeom>
          <a:solidFill>
            <a:srgbClr val="FF0000">
              <a:alpha val="16000"/>
            </a:srgbClr>
          </a:solidFill>
          <a:ln w="6787">
            <a:solidFill>
              <a:srgbClr val="FF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6250" y="2171700"/>
            <a:ext cx="714375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32"/>
              </a:lnSpc>
              <a:buNone/>
            </a:pPr>
            <a:r>
              <a:rPr lang="en-US" sz="1211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SQS</a:t>
            </a:r>
            <a:endParaRPr lang="en-US" sz="1211" dirty="0"/>
          </a:p>
        </p:txBody>
      </p:sp>
      <p:sp>
        <p:nvSpPr>
          <p:cNvPr id="14" name="Text 11"/>
          <p:cNvSpPr/>
          <p:nvPr/>
        </p:nvSpPr>
        <p:spPr>
          <a:xfrm>
            <a:off x="476250" y="2376488"/>
            <a:ext cx="71437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4"/>
              </a:lnSpc>
              <a:buNone/>
            </a:pPr>
            <a:r>
              <a:rPr lang="en-US" sz="713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entrada</a:t>
            </a:r>
            <a:endParaRPr lang="en-US" sz="713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285875" y="2324100"/>
            <a:ext cx="233456" cy="54981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1524000" y="1857375"/>
            <a:ext cx="2047875" cy="833438"/>
          </a:xfrm>
          <a:prstGeom prst="roundRect">
            <a:avLst>
              <a:gd name="adj" fmla="val 19749"/>
            </a:avLst>
          </a:prstGeom>
          <a:solidFill>
            <a:srgbClr val="171717"/>
          </a:solidFill>
          <a:ln w="6787">
            <a:solidFill>
              <a:srgbClr val="FF000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628775" y="1952625"/>
            <a:ext cx="1838325" cy="109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748" b="1" dirty="0">
                <a:solidFill>
                  <a:srgbClr val="FF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INGESTÃO</a:t>
            </a:r>
            <a:endParaRPr lang="en-US" sz="748" dirty="0"/>
          </a:p>
        </p:txBody>
      </p:sp>
      <p:sp>
        <p:nvSpPr>
          <p:cNvPr id="18" name="Text 14"/>
          <p:cNvSpPr/>
          <p:nvPr/>
        </p:nvSpPr>
        <p:spPr>
          <a:xfrm>
            <a:off x="1628775" y="2105025"/>
            <a:ext cx="183832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Valida e grava na bronze</a:t>
            </a:r>
            <a:endParaRPr lang="en-US" sz="855" dirty="0"/>
          </a:p>
        </p:txBody>
      </p:sp>
      <p:sp>
        <p:nvSpPr>
          <p:cNvPr id="19" name="Text 15"/>
          <p:cNvSpPr/>
          <p:nvPr/>
        </p:nvSpPr>
        <p:spPr>
          <a:xfrm>
            <a:off x="1628775" y="2357438"/>
            <a:ext cx="18383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2"/>
              </a:lnSpc>
              <a:buNone/>
            </a:pPr>
            <a:r>
              <a:rPr lang="en-US" sz="713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BaseEvent · BaseConsumer</a:t>
            </a:r>
            <a:endParaRPr lang="en-US" sz="713" dirty="0"/>
          </a:p>
          <a:p>
            <a:pPr algn="l" indent="0" marL="0">
              <a:lnSpc>
                <a:spcPts val="962"/>
              </a:lnSpc>
              <a:buNone/>
            </a:pPr>
            <a:r>
              <a:rPr lang="en-US" sz="713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ChangeRepository · EventRepository</a:t>
            </a:r>
            <a:endParaRPr lang="en-US" sz="713" dirty="0"/>
          </a:p>
        </p:txBody>
      </p:sp>
      <p:sp>
        <p:nvSpPr>
          <p:cNvPr id="20" name="Shape 16"/>
          <p:cNvSpPr/>
          <p:nvPr/>
        </p:nvSpPr>
        <p:spPr>
          <a:xfrm>
            <a:off x="1524000" y="3119438"/>
            <a:ext cx="2047875" cy="833438"/>
          </a:xfrm>
          <a:prstGeom prst="roundRect">
            <a:avLst>
              <a:gd name="adj" fmla="val 19749"/>
            </a:avLst>
          </a:prstGeom>
          <a:solidFill>
            <a:srgbClr val="171717"/>
          </a:solidFill>
          <a:ln w="6787">
            <a:solidFill>
              <a:srgbClr val="D9770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628775" y="3214688"/>
            <a:ext cx="1838325" cy="109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748" b="1" dirty="0">
                <a:solidFill>
                  <a:srgbClr val="D97706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CARGA INICIAL</a:t>
            </a:r>
            <a:endParaRPr lang="en-US" sz="748" dirty="0"/>
          </a:p>
        </p:txBody>
      </p:sp>
      <p:sp>
        <p:nvSpPr>
          <p:cNvPr id="22" name="Text 18"/>
          <p:cNvSpPr/>
          <p:nvPr/>
        </p:nvSpPr>
        <p:spPr>
          <a:xfrm>
            <a:off x="1628775" y="3367088"/>
            <a:ext cx="183832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Parquet → bronze</a:t>
            </a:r>
            <a:endParaRPr lang="en-US" sz="855" dirty="0"/>
          </a:p>
        </p:txBody>
      </p:sp>
      <p:sp>
        <p:nvSpPr>
          <p:cNvPr id="23" name="Text 19"/>
          <p:cNvSpPr/>
          <p:nvPr/>
        </p:nvSpPr>
        <p:spPr>
          <a:xfrm>
            <a:off x="1628775" y="3619500"/>
            <a:ext cx="18383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2"/>
              </a:lnSpc>
              <a:buNone/>
            </a:pPr>
            <a:r>
              <a:rPr lang="en-US" sz="713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Loader · Resultado</a:t>
            </a:r>
            <a:endParaRPr lang="en-US" sz="713" dirty="0"/>
          </a:p>
          <a:p>
            <a:pPr algn="l" indent="0" marL="0">
              <a:lnSpc>
                <a:spcPts val="962"/>
              </a:lnSpc>
              <a:buNone/>
            </a:pPr>
            <a:r>
              <a:rPr lang="en-US" sz="713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ResultadoTabela</a:t>
            </a:r>
            <a:endParaRPr lang="en-US" sz="713" dirty="0"/>
          </a:p>
        </p:txBody>
      </p:sp>
      <p:sp>
        <p:nvSpPr>
          <p:cNvPr id="24" name="Shape 20"/>
          <p:cNvSpPr/>
          <p:nvPr/>
        </p:nvSpPr>
        <p:spPr>
          <a:xfrm>
            <a:off x="3810000" y="1857375"/>
            <a:ext cx="1905000" cy="833438"/>
          </a:xfrm>
          <a:prstGeom prst="roundRect">
            <a:avLst>
              <a:gd name="adj" fmla="val 19749"/>
            </a:avLst>
          </a:prstGeom>
          <a:solidFill>
            <a:srgbClr val="171717"/>
          </a:solidFill>
          <a:ln w="6787">
            <a:solidFill>
              <a:srgbClr val="D97706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914775" y="1952625"/>
            <a:ext cx="1695450" cy="109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748" b="1" dirty="0">
                <a:solidFill>
                  <a:srgbClr val="D97706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RELÓGIO VIRTUAL</a:t>
            </a:r>
            <a:endParaRPr lang="en-US" sz="748" dirty="0"/>
          </a:p>
        </p:txBody>
      </p:sp>
      <p:sp>
        <p:nvSpPr>
          <p:cNvPr id="26" name="Text 22"/>
          <p:cNvSpPr/>
          <p:nvPr/>
        </p:nvSpPr>
        <p:spPr>
          <a:xfrm>
            <a:off x="3914775" y="2105025"/>
            <a:ext cx="16954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Define o presente do sistema</a:t>
            </a:r>
            <a:endParaRPr lang="en-US" sz="855" dirty="0"/>
          </a:p>
        </p:txBody>
      </p:sp>
      <p:sp>
        <p:nvSpPr>
          <p:cNvPr id="27" name="Text 23"/>
          <p:cNvSpPr/>
          <p:nvPr/>
        </p:nvSpPr>
        <p:spPr>
          <a:xfrm>
            <a:off x="3914775" y="2357438"/>
            <a:ext cx="16954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2"/>
              </a:lnSpc>
              <a:buNone/>
            </a:pPr>
            <a:r>
              <a:rPr lang="en-US" sz="713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Clock · Janela · Emitter</a:t>
            </a:r>
            <a:endParaRPr lang="en-US" sz="713" dirty="0"/>
          </a:p>
          <a:p>
            <a:pPr algn="l" indent="0" marL="0">
              <a:lnSpc>
                <a:spcPts val="962"/>
              </a:lnSpc>
              <a:buNone/>
            </a:pPr>
            <a:r>
              <a:rPr lang="en-US" sz="713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Falha</a:t>
            </a:r>
            <a:endParaRPr lang="en-US" sz="713" dirty="0"/>
          </a:p>
        </p:txBody>
      </p:sp>
      <p:sp>
        <p:nvSpPr>
          <p:cNvPr id="28" name="Shape 24"/>
          <p:cNvSpPr/>
          <p:nvPr/>
        </p:nvSpPr>
        <p:spPr>
          <a:xfrm>
            <a:off x="3810000" y="3119438"/>
            <a:ext cx="1905000" cy="833438"/>
          </a:xfrm>
          <a:prstGeom prst="roundRect">
            <a:avLst>
              <a:gd name="adj" fmla="val 26331"/>
            </a:avLst>
          </a:prstGeom>
          <a:solidFill>
            <a:srgbClr val="FF0000">
              <a:alpha val="20000"/>
            </a:srgbClr>
          </a:solidFill>
          <a:ln w="6787">
            <a:solidFill>
              <a:srgbClr val="FF000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924300" y="3233738"/>
            <a:ext cx="167640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998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POSTGRESQL</a:t>
            </a:r>
            <a:endParaRPr lang="en-US" sz="998" dirty="0"/>
          </a:p>
        </p:txBody>
      </p:sp>
      <p:sp>
        <p:nvSpPr>
          <p:cNvPr id="30" name="Text 26"/>
          <p:cNvSpPr/>
          <p:nvPr/>
        </p:nvSpPr>
        <p:spPr>
          <a:xfrm>
            <a:off x="3924300" y="3462338"/>
            <a:ext cx="1676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8"/>
              </a:lnSpc>
              <a:buNone/>
            </a:pPr>
            <a:r>
              <a:rPr lang="en-US" sz="784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bronze · silver · gold</a:t>
            </a:r>
            <a:endParaRPr lang="en-US" sz="784" dirty="0"/>
          </a:p>
          <a:p>
            <a:pPr algn="ctr" indent="0" marL="0">
              <a:lnSpc>
                <a:spcPts val="1058"/>
              </a:lnSpc>
              <a:buNone/>
            </a:pPr>
            <a:r>
              <a:rPr lang="en-US" sz="784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detect · sim · etl</a:t>
            </a:r>
            <a:endParaRPr lang="en-US" sz="784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rcRect l="0" r="-1234" t="0" b="0"/>
          <a:stretch/>
        </p:blipFill>
        <p:spPr>
          <a:xfrm>
            <a:off x="5393725" y="2690812"/>
            <a:ext cx="1506252" cy="428625"/>
          </a:xfrm>
          <a:prstGeom prst="rect">
            <a:avLst/>
          </a:prstGeom>
        </p:spPr>
      </p:pic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rcRect l="0" r="-1234" t="0" b="0"/>
          <a:stretch/>
        </p:blipFill>
        <p:spPr>
          <a:xfrm>
            <a:off x="2628899" y="2690812"/>
            <a:ext cx="1506252" cy="428625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5953125" y="1857375"/>
            <a:ext cx="2047875" cy="833438"/>
          </a:xfrm>
          <a:prstGeom prst="roundRect">
            <a:avLst>
              <a:gd name="adj" fmla="val 19749"/>
            </a:avLst>
          </a:prstGeom>
          <a:solidFill>
            <a:srgbClr val="171717"/>
          </a:solidFill>
          <a:ln w="6787">
            <a:solidFill>
              <a:srgbClr val="FF0000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6057900" y="1952625"/>
            <a:ext cx="1838325" cy="109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748" b="1" dirty="0">
                <a:solidFill>
                  <a:srgbClr val="FF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ANÁLISE</a:t>
            </a:r>
            <a:endParaRPr lang="en-US" sz="748" dirty="0"/>
          </a:p>
        </p:txBody>
      </p:sp>
      <p:sp>
        <p:nvSpPr>
          <p:cNvPr id="35" name="Text 29"/>
          <p:cNvSpPr/>
          <p:nvPr/>
        </p:nvSpPr>
        <p:spPr>
          <a:xfrm>
            <a:off x="6057900" y="2105025"/>
            <a:ext cx="183832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Transforma, detecta e explica</a:t>
            </a:r>
            <a:endParaRPr lang="en-US" sz="855" dirty="0"/>
          </a:p>
        </p:txBody>
      </p:sp>
      <p:sp>
        <p:nvSpPr>
          <p:cNvPr id="36" name="Text 30"/>
          <p:cNvSpPr/>
          <p:nvPr/>
        </p:nvSpPr>
        <p:spPr>
          <a:xfrm>
            <a:off x="6057900" y="2357438"/>
            <a:ext cx="18383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2"/>
              </a:lnSpc>
              <a:buNone/>
            </a:pPr>
            <a:r>
              <a:rPr lang="en-US" sz="713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Fact · Anomaly · Hypothesis</a:t>
            </a:r>
            <a:endParaRPr lang="en-US" sz="713" dirty="0"/>
          </a:p>
          <a:p>
            <a:pPr algn="l" indent="0" marL="0">
              <a:lnSpc>
                <a:spcPts val="962"/>
              </a:lnSpc>
              <a:buNone/>
            </a:pPr>
            <a:r>
              <a:rPr lang="en-US" sz="713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CapturedWork · WorkClaim</a:t>
            </a:r>
            <a:endParaRPr lang="en-US" sz="713" dirty="0"/>
          </a:p>
        </p:txBody>
      </p:sp>
      <p:sp>
        <p:nvSpPr>
          <p:cNvPr id="37" name="Shape 31"/>
          <p:cNvSpPr/>
          <p:nvPr/>
        </p:nvSpPr>
        <p:spPr>
          <a:xfrm>
            <a:off x="5953125" y="3119438"/>
            <a:ext cx="2047875" cy="833438"/>
          </a:xfrm>
          <a:prstGeom prst="roundRect">
            <a:avLst>
              <a:gd name="adj" fmla="val 19749"/>
            </a:avLst>
          </a:prstGeom>
          <a:solidFill>
            <a:srgbClr val="171717"/>
          </a:solidFill>
          <a:ln w="6787">
            <a:solidFill>
              <a:srgbClr val="94A3B8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6057900" y="3214688"/>
            <a:ext cx="1838325" cy="109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748" b="1" dirty="0">
                <a:solidFill>
                  <a:srgbClr val="94A3B8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LEITURA</a:t>
            </a:r>
            <a:endParaRPr lang="en-US" sz="748" dirty="0"/>
          </a:p>
        </p:txBody>
      </p:sp>
      <p:sp>
        <p:nvSpPr>
          <p:cNvPr id="39" name="Text 33"/>
          <p:cNvSpPr/>
          <p:nvPr/>
        </p:nvSpPr>
        <p:spPr>
          <a:xfrm>
            <a:off x="6057900" y="3367088"/>
            <a:ext cx="183832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Serve o dashboard</a:t>
            </a:r>
            <a:endParaRPr lang="en-US" sz="855" dirty="0"/>
          </a:p>
        </p:txBody>
      </p:sp>
      <p:sp>
        <p:nvSpPr>
          <p:cNvPr id="40" name="Text 34"/>
          <p:cNvSpPr/>
          <p:nvPr/>
        </p:nvSpPr>
        <p:spPr>
          <a:xfrm>
            <a:off x="6057900" y="3619500"/>
            <a:ext cx="18383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2"/>
              </a:lnSpc>
              <a:buNone/>
            </a:pPr>
            <a:r>
              <a:rPr lang="en-US" sz="713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UseCases · EventRepository</a:t>
            </a:r>
            <a:endParaRPr lang="en-US" sz="713" dirty="0"/>
          </a:p>
          <a:p>
            <a:pPr algn="l" indent="0" marL="0">
              <a:lnSpc>
                <a:spcPts val="962"/>
              </a:lnSpc>
              <a:buNone/>
            </a:pPr>
            <a:r>
              <a:rPr lang="en-US" sz="713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adaptadores PostgreSQL</a:t>
            </a:r>
            <a:endParaRPr lang="en-US" sz="713" dirty="0"/>
          </a:p>
        </p:txBody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486025" y="3052763"/>
            <a:ext cx="1395413" cy="442913"/>
          </a:xfrm>
          <a:prstGeom prst="rect">
            <a:avLst/>
          </a:prstGeom>
        </p:spPr>
      </p:pic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695825" y="2624138"/>
            <a:ext cx="133350" cy="561975"/>
          </a:xfrm>
          <a:prstGeom prst="rect">
            <a:avLst/>
          </a:prstGeom>
        </p:spPr>
      </p:pic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648325" y="3433763"/>
            <a:ext cx="371475" cy="133350"/>
          </a:xfrm>
          <a:prstGeom prst="rect">
            <a:avLst/>
          </a:prstGeom>
        </p:spPr>
      </p:pic>
      <p:sp>
        <p:nvSpPr>
          <p:cNvPr id="44" name="Shape 35"/>
          <p:cNvSpPr/>
          <p:nvPr/>
        </p:nvSpPr>
        <p:spPr>
          <a:xfrm>
            <a:off x="1524000" y="4119562"/>
            <a:ext cx="6477000" cy="390525"/>
          </a:xfrm>
          <a:prstGeom prst="roundRect">
            <a:avLst>
              <a:gd name="adj" fmla="val 42146"/>
            </a:avLst>
          </a:prstGeom>
          <a:solidFill>
            <a:srgbClr val="171717"/>
          </a:solidFill>
          <a:ln w="6787">
            <a:solidFill>
              <a:srgbClr val="94A3B8"/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1638300" y="4224338"/>
            <a:ext cx="619125" cy="109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748" b="1" dirty="0">
                <a:solidFill>
                  <a:srgbClr val="94A3B8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COMUM</a:t>
            </a:r>
            <a:endParaRPr lang="en-US" sz="748" dirty="0"/>
          </a:p>
        </p:txBody>
      </p:sp>
      <p:sp>
        <p:nvSpPr>
          <p:cNvPr id="46" name="Text 37"/>
          <p:cNvSpPr/>
          <p:nvPr/>
        </p:nvSpPr>
        <p:spPr>
          <a:xfrm>
            <a:off x="2357438" y="4205288"/>
            <a:ext cx="366712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2"/>
              </a:lnSpc>
              <a:buNone/>
            </a:pPr>
            <a:r>
              <a:rPr lang="en-US" sz="926" b="1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Database · Metrics · Heartbeat · ShutdownSignal</a:t>
            </a:r>
            <a:endParaRPr lang="en-US" sz="926" dirty="0"/>
          </a:p>
        </p:txBody>
      </p:sp>
      <p:sp>
        <p:nvSpPr>
          <p:cNvPr id="47" name="Text 38"/>
          <p:cNvSpPr/>
          <p:nvPr/>
        </p:nvSpPr>
        <p:spPr>
          <a:xfrm>
            <a:off x="6072188" y="4224338"/>
            <a:ext cx="1762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855"/>
              </a:lnSpc>
              <a:buNone/>
            </a:pPr>
            <a:r>
              <a:rPr lang="en-US" sz="713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conexão, observabilidade e ciclo de vida compartilhados</a:t>
            </a:r>
            <a:endParaRPr lang="en-US" sz="713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0" y="-857250"/>
            <a:ext cx="2000250" cy="2000250"/>
          </a:xfrm>
          <a:prstGeom prst="ellipse">
            <a:avLst/>
          </a:prstGeom>
          <a:noFill/>
          <a:ln w="208121">
            <a:solidFill>
              <a:srgbClr val="59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1000" y="242888"/>
            <a:ext cx="1457325" cy="223838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381000" y="247650"/>
            <a:ext cx="247650" cy="214313"/>
          </a:xfrm>
          <a:prstGeom prst="roundRect">
            <a:avLst>
              <a:gd name="adj" fmla="val 34133"/>
            </a:avLst>
          </a:prstGeom>
          <a:solidFill>
            <a:srgbClr val="FF00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1012" y="326231"/>
            <a:ext cx="47625" cy="571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242888"/>
            <a:ext cx="1152525" cy="223838"/>
          </a:xfrm>
          <a:prstGeom prst="rect">
            <a:avLst/>
          </a:prstGeom>
          <a:noFill/>
          <a:ln/>
        </p:spPr>
      </p:sp>
      <p:sp>
        <p:nvSpPr>
          <p:cNvPr id="7" name="Text 4"/>
          <p:cNvSpPr/>
          <p:nvPr/>
        </p:nvSpPr>
        <p:spPr>
          <a:xfrm>
            <a:off x="685800" y="242888"/>
            <a:ext cx="10763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0"/>
              </a:lnSpc>
              <a:buNone/>
            </a:pPr>
            <a:r>
              <a:rPr lang="en-US" sz="1283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globoplay</a:t>
            </a:r>
            <a:endParaRPr lang="en-US" sz="1283" dirty="0"/>
          </a:p>
        </p:txBody>
      </p:sp>
      <p:sp>
        <p:nvSpPr>
          <p:cNvPr id="8" name="Text 5"/>
          <p:cNvSpPr/>
          <p:nvPr/>
        </p:nvSpPr>
        <p:spPr>
          <a:xfrm>
            <a:off x="1790700" y="242888"/>
            <a:ext cx="47625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buNone/>
            </a:pPr>
            <a:r>
              <a:rPr lang="en-US" sz="1283" dirty="0">
                <a:solidFill>
                  <a:srgbClr val="FF0000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|</a:t>
            </a:r>
            <a:endParaRPr lang="en-US" sz="1283" dirty="0"/>
          </a:p>
        </p:txBody>
      </p:sp>
      <p:sp>
        <p:nvSpPr>
          <p:cNvPr id="9" name="Text 6"/>
          <p:cNvSpPr/>
          <p:nvPr/>
        </p:nvSpPr>
        <p:spPr>
          <a:xfrm>
            <a:off x="381000" y="628650"/>
            <a:ext cx="7143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7"/>
              </a:lnSpc>
              <a:buNone/>
            </a:pPr>
            <a:r>
              <a:rPr lang="en-US" sz="998" dirty="0">
                <a:solidFill>
                  <a:srgbClr val="FF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CLASSES · ANÁLISE</a:t>
            </a:r>
            <a:endParaRPr lang="en-US" sz="998" dirty="0"/>
          </a:p>
        </p:txBody>
      </p:sp>
      <p:sp>
        <p:nvSpPr>
          <p:cNvPr id="10" name="Text 7"/>
          <p:cNvSpPr/>
          <p:nvPr/>
        </p:nvSpPr>
        <p:spPr>
          <a:xfrm>
            <a:off x="381000" y="819150"/>
            <a:ext cx="8191500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5"/>
              </a:lnSpc>
              <a:buNone/>
            </a:pPr>
            <a:r>
              <a:rPr lang="en-US" sz="1852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Do fato à hipótese</a:t>
            </a:r>
            <a:endParaRPr lang="en-US" sz="1852" dirty="0"/>
          </a:p>
        </p:txBody>
      </p:sp>
      <p:sp>
        <p:nvSpPr>
          <p:cNvPr id="11" name="Shape 8"/>
          <p:cNvSpPr/>
          <p:nvPr/>
        </p:nvSpPr>
        <p:spPr>
          <a:xfrm>
            <a:off x="381000" y="1343025"/>
            <a:ext cx="8382000" cy="9525"/>
          </a:xfrm>
          <a:prstGeom prst="rect">
            <a:avLst/>
          </a:prstGeom>
          <a:solidFill>
            <a:srgbClr val="FF000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47825" y="2266950"/>
            <a:ext cx="466725" cy="13335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600450" y="2266950"/>
            <a:ext cx="419100" cy="133350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838825" y="2266950"/>
            <a:ext cx="419100" cy="13335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381000" y="1857375"/>
            <a:ext cx="1333500" cy="1047750"/>
          </a:xfrm>
          <a:prstGeom prst="roundRect">
            <a:avLst>
              <a:gd name="adj" fmla="val 13964"/>
            </a:avLst>
          </a:prstGeom>
          <a:solidFill>
            <a:srgbClr val="171717"/>
          </a:solidFill>
          <a:ln w="6787">
            <a:solidFill>
              <a:srgbClr val="D97706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466725" y="1924050"/>
            <a:ext cx="1162050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3"/>
              </a:lnSpc>
              <a:buNone/>
            </a:pPr>
            <a:r>
              <a:rPr lang="en-US" sz="641" dirty="0">
                <a:solidFill>
                  <a:srgbClr val="D97706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«dataclass frozen»</a:t>
            </a:r>
            <a:endParaRPr lang="en-US" sz="641" dirty="0"/>
          </a:p>
        </p:txBody>
      </p:sp>
      <p:sp>
        <p:nvSpPr>
          <p:cNvPr id="17" name="Text 11"/>
          <p:cNvSpPr/>
          <p:nvPr/>
        </p:nvSpPr>
        <p:spPr>
          <a:xfrm>
            <a:off x="466725" y="2047875"/>
            <a:ext cx="11620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891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WorkClaim</a:t>
            </a:r>
            <a:endParaRPr lang="en-US" sz="891" dirty="0"/>
          </a:p>
        </p:txBody>
      </p:sp>
      <p:sp>
        <p:nvSpPr>
          <p:cNvPr id="18" name="Shape 12"/>
          <p:cNvSpPr/>
          <p:nvPr/>
        </p:nvSpPr>
        <p:spPr>
          <a:xfrm>
            <a:off x="381000" y="2219325"/>
            <a:ext cx="1333500" cy="71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3"/>
          <p:cNvSpPr/>
          <p:nvPr/>
        </p:nvSpPr>
        <p:spPr>
          <a:xfrm>
            <a:off x="466725" y="2295525"/>
            <a:ext cx="11620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5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+ run_id · checkpoint_id</a:t>
            </a:r>
            <a:endParaRPr lang="en-US" sz="713" dirty="0"/>
          </a:p>
          <a:p>
            <a:pPr algn="l" indent="0" marL="0">
              <a:lnSpc>
                <a:spcPts val="955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+ manifest_hash</a:t>
            </a:r>
            <a:endParaRPr lang="en-US" sz="713" dirty="0"/>
          </a:p>
          <a:p>
            <a:pPr algn="l" indent="0" marL="0">
              <a:lnSpc>
                <a:spcPts val="955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+ lease_expires_at</a:t>
            </a:r>
            <a:endParaRPr lang="en-US" sz="713" dirty="0"/>
          </a:p>
          <a:p>
            <a:pPr algn="l" indent="0" marL="0">
              <a:lnSpc>
                <a:spcPts val="955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+ fencing_token</a:t>
            </a:r>
            <a:endParaRPr lang="en-US" sz="713" dirty="0"/>
          </a:p>
        </p:txBody>
      </p:sp>
      <p:sp>
        <p:nvSpPr>
          <p:cNvPr id="20" name="Shape 14"/>
          <p:cNvSpPr/>
          <p:nvPr/>
        </p:nvSpPr>
        <p:spPr>
          <a:xfrm>
            <a:off x="2047875" y="1857375"/>
            <a:ext cx="1619250" cy="1047750"/>
          </a:xfrm>
          <a:prstGeom prst="roundRect">
            <a:avLst>
              <a:gd name="adj" fmla="val 13964"/>
            </a:avLst>
          </a:prstGeom>
          <a:solidFill>
            <a:srgbClr val="171717"/>
          </a:solidFill>
          <a:ln w="6787">
            <a:solidFill>
              <a:srgbClr val="FF0000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2133600" y="1924050"/>
            <a:ext cx="1447800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3"/>
              </a:lnSpc>
              <a:buNone/>
            </a:pPr>
            <a:r>
              <a:rPr lang="en-US" sz="641" dirty="0">
                <a:solidFill>
                  <a:srgbClr val="FF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«dataclass frozen»</a:t>
            </a:r>
            <a:endParaRPr lang="en-US" sz="641" dirty="0"/>
          </a:p>
        </p:txBody>
      </p:sp>
      <p:sp>
        <p:nvSpPr>
          <p:cNvPr id="22" name="Text 16"/>
          <p:cNvSpPr/>
          <p:nvPr/>
        </p:nvSpPr>
        <p:spPr>
          <a:xfrm>
            <a:off x="2133600" y="2047875"/>
            <a:ext cx="14478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891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CapturedWork</a:t>
            </a:r>
            <a:endParaRPr lang="en-US" sz="891" dirty="0"/>
          </a:p>
        </p:txBody>
      </p:sp>
      <p:sp>
        <p:nvSpPr>
          <p:cNvPr id="23" name="Shape 17"/>
          <p:cNvSpPr/>
          <p:nvPr/>
        </p:nvSpPr>
        <p:spPr>
          <a:xfrm>
            <a:off x="2047875" y="2219325"/>
            <a:ext cx="1619250" cy="7144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24" name="Text 18"/>
          <p:cNvSpPr/>
          <p:nvPr/>
        </p:nvSpPr>
        <p:spPr>
          <a:xfrm>
            <a:off x="2133600" y="2295525"/>
            <a:ext cx="14478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5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+ claim : WorkClaim</a:t>
            </a:r>
            <a:endParaRPr lang="en-US" sz="713" dirty="0"/>
          </a:p>
          <a:p>
            <a:pPr algn="l" indent="0" marL="0">
              <a:lnSpc>
                <a:spcPts val="955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+ facts : 0..* Fact</a:t>
            </a:r>
            <a:endParaRPr lang="en-US" sz="713" dirty="0"/>
          </a:p>
          <a:p>
            <a:pPr algn="l" indent="0" marL="0">
              <a:lnSpc>
                <a:spcPts val="955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+ window_start / end</a:t>
            </a:r>
            <a:endParaRPr lang="en-US" sz="713" dirty="0"/>
          </a:p>
        </p:txBody>
      </p:sp>
      <p:sp>
        <p:nvSpPr>
          <p:cNvPr id="25" name="Shape 19"/>
          <p:cNvSpPr/>
          <p:nvPr/>
        </p:nvSpPr>
        <p:spPr>
          <a:xfrm>
            <a:off x="3952875" y="1857375"/>
            <a:ext cx="1952625" cy="1047750"/>
          </a:xfrm>
          <a:prstGeom prst="roundRect">
            <a:avLst>
              <a:gd name="adj" fmla="val 15709"/>
            </a:avLst>
          </a:prstGeom>
          <a:solidFill>
            <a:srgbClr val="171717"/>
          </a:solidFill>
          <a:ln w="6787">
            <a:solidFill>
              <a:srgbClr val="FF0000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048125" y="1943100"/>
            <a:ext cx="17621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4"/>
              </a:lnSpc>
              <a:buNone/>
            </a:pPr>
            <a:r>
              <a:rPr lang="en-US" sz="713" b="1" dirty="0">
                <a:solidFill>
                  <a:srgbClr val="FF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MÓDULOS</a:t>
            </a:r>
            <a:endParaRPr lang="en-US" sz="713" dirty="0"/>
          </a:p>
        </p:txBody>
      </p:sp>
      <p:sp>
        <p:nvSpPr>
          <p:cNvPr id="27" name="Text 21"/>
          <p:cNvSpPr/>
          <p:nvPr/>
        </p:nvSpPr>
        <p:spPr>
          <a:xfrm>
            <a:off x="4048125" y="2085975"/>
            <a:ext cx="176212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91" b="1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Pipeline</a:t>
            </a:r>
            <a:endParaRPr lang="en-US" sz="891" dirty="0"/>
          </a:p>
        </p:txBody>
      </p:sp>
      <p:sp>
        <p:nvSpPr>
          <p:cNvPr id="28" name="Text 22"/>
          <p:cNvSpPr/>
          <p:nvPr/>
        </p:nvSpPr>
        <p:spPr>
          <a:xfrm>
            <a:off x="4048125" y="2295525"/>
            <a:ext cx="17621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2"/>
              </a:lnSpc>
              <a:buNone/>
            </a:pPr>
            <a:r>
              <a:rPr lang="en-US" sz="713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detect() · evaluate_quality()</a:t>
            </a:r>
            <a:endParaRPr lang="en-US" sz="713" dirty="0"/>
          </a:p>
          <a:p>
            <a:pPr algn="l" indent="0" marL="0">
              <a:lnSpc>
                <a:spcPts val="962"/>
              </a:lnSpc>
              <a:buNone/>
            </a:pPr>
            <a:r>
              <a:rPr lang="en-US" sz="713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build_candidates()</a:t>
            </a:r>
            <a:endParaRPr lang="en-US" sz="713" dirty="0"/>
          </a:p>
          <a:p>
            <a:pPr algn="l" indent="0" marL="0">
              <a:lnSpc>
                <a:spcPts val="962"/>
              </a:lnSpc>
              <a:buNone/>
            </a:pPr>
            <a:r>
              <a:rPr lang="en-US" sz="713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evaluate_candidates()</a:t>
            </a:r>
            <a:endParaRPr lang="en-US" sz="713" dirty="0"/>
          </a:p>
          <a:p>
            <a:pPr algn="l" indent="0" marL="0">
              <a:lnSpc>
                <a:spcPts val="962"/>
              </a:lnSpc>
              <a:buNone/>
            </a:pPr>
            <a:r>
              <a:rPr lang="en-US" sz="713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score_features() · run_captured()</a:t>
            </a:r>
            <a:endParaRPr lang="en-US" sz="713" dirty="0"/>
          </a:p>
        </p:txBody>
      </p:sp>
      <p:sp>
        <p:nvSpPr>
          <p:cNvPr id="29" name="Shape 23"/>
          <p:cNvSpPr/>
          <p:nvPr/>
        </p:nvSpPr>
        <p:spPr>
          <a:xfrm>
            <a:off x="6191250" y="1857375"/>
            <a:ext cx="2571750" cy="1143000"/>
          </a:xfrm>
          <a:prstGeom prst="roundRect">
            <a:avLst>
              <a:gd name="adj" fmla="val 12800"/>
            </a:avLst>
          </a:prstGeom>
          <a:solidFill>
            <a:srgbClr val="171717"/>
          </a:solidFill>
          <a:ln w="6787">
            <a:solidFill>
              <a:srgbClr val="94A3B8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276975" y="1924050"/>
            <a:ext cx="2400300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3"/>
              </a:lnSpc>
              <a:buNone/>
            </a:pPr>
            <a:r>
              <a:rPr lang="en-US" sz="641" dirty="0">
                <a:solidFill>
                  <a:srgbClr val="94A3B8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«dataclass frozen»</a:t>
            </a:r>
            <a:endParaRPr lang="en-US" sz="641" dirty="0"/>
          </a:p>
        </p:txBody>
      </p:sp>
      <p:sp>
        <p:nvSpPr>
          <p:cNvPr id="31" name="Text 25"/>
          <p:cNvSpPr/>
          <p:nvPr/>
        </p:nvSpPr>
        <p:spPr>
          <a:xfrm>
            <a:off x="6276975" y="2047875"/>
            <a:ext cx="24003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891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AnalysisResult</a:t>
            </a:r>
            <a:endParaRPr lang="en-US" sz="891" dirty="0"/>
          </a:p>
        </p:txBody>
      </p:sp>
      <p:sp>
        <p:nvSpPr>
          <p:cNvPr id="32" name="Shape 26"/>
          <p:cNvSpPr/>
          <p:nvPr/>
        </p:nvSpPr>
        <p:spPr>
          <a:xfrm>
            <a:off x="6191250" y="2219325"/>
            <a:ext cx="2571750" cy="7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3" name="Text 27"/>
          <p:cNvSpPr/>
          <p:nvPr/>
        </p:nvSpPr>
        <p:spPr>
          <a:xfrm>
            <a:off x="6276975" y="2295525"/>
            <a:ext cx="24003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5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COMPÕE 0..*</a:t>
            </a:r>
            <a:endParaRPr lang="en-US" sz="713" dirty="0"/>
          </a:p>
          <a:p>
            <a:pPr algn="l" indent="0" marL="0">
              <a:lnSpc>
                <a:spcPts val="955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Anomaly · SourceQuality</a:t>
            </a:r>
            <a:endParaRPr lang="en-US" sz="713" dirty="0"/>
          </a:p>
          <a:p>
            <a:pPr algn="l" indent="0" marL="0">
              <a:lnSpc>
                <a:spcPts val="955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Hypothesis · Baseline</a:t>
            </a:r>
            <a:endParaRPr lang="en-US" sz="713" dirty="0"/>
          </a:p>
          <a:p>
            <a:pPr algn="l" indent="0" marL="0">
              <a:lnSpc>
                <a:spcPts val="955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+ contadores de candidatos</a:t>
            </a:r>
            <a:endParaRPr lang="en-US" sz="713" dirty="0"/>
          </a:p>
        </p:txBody>
      </p:sp>
      <p:sp>
        <p:nvSpPr>
          <p:cNvPr id="34" name="Shape 28"/>
          <p:cNvSpPr/>
          <p:nvPr/>
        </p:nvSpPr>
        <p:spPr>
          <a:xfrm>
            <a:off x="381000" y="3286125"/>
            <a:ext cx="1428750" cy="1071563"/>
          </a:xfrm>
          <a:prstGeom prst="roundRect">
            <a:avLst>
              <a:gd name="adj" fmla="val 13653"/>
            </a:avLst>
          </a:prstGeom>
          <a:solidFill>
            <a:srgbClr val="171717"/>
          </a:solidFill>
          <a:ln w="6787">
            <a:solidFill>
              <a:srgbClr val="FF0000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466725" y="3352800"/>
            <a:ext cx="1257300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3"/>
              </a:lnSpc>
              <a:buNone/>
            </a:pPr>
            <a:r>
              <a:rPr lang="en-US" sz="641" dirty="0">
                <a:solidFill>
                  <a:srgbClr val="FF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«dataclass frozen»</a:t>
            </a:r>
            <a:endParaRPr lang="en-US" sz="641" dirty="0"/>
          </a:p>
        </p:txBody>
      </p:sp>
      <p:sp>
        <p:nvSpPr>
          <p:cNvPr id="36" name="Text 30"/>
          <p:cNvSpPr/>
          <p:nvPr/>
        </p:nvSpPr>
        <p:spPr>
          <a:xfrm>
            <a:off x="466725" y="3476625"/>
            <a:ext cx="12573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891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Fact</a:t>
            </a:r>
            <a:endParaRPr lang="en-US" sz="891" dirty="0"/>
          </a:p>
        </p:txBody>
      </p:sp>
      <p:sp>
        <p:nvSpPr>
          <p:cNvPr id="37" name="Shape 31"/>
          <p:cNvSpPr/>
          <p:nvPr/>
        </p:nvSpPr>
        <p:spPr>
          <a:xfrm>
            <a:off x="381000" y="3648075"/>
            <a:ext cx="1428750" cy="7144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8" name="Text 32"/>
          <p:cNvSpPr/>
          <p:nvPr/>
        </p:nvSpPr>
        <p:spPr>
          <a:xfrm>
            <a:off x="466725" y="3724275"/>
            <a:ext cx="12573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5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+ fact_key · version_lsn</a:t>
            </a:r>
            <a:endParaRPr lang="en-US" sz="713" dirty="0"/>
          </a:p>
          <a:p>
            <a:pPr algn="l" indent="0" marL="0">
              <a:lnSpc>
                <a:spcPts val="955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+ available_at</a:t>
            </a:r>
            <a:endParaRPr lang="en-US" sz="713" dirty="0"/>
          </a:p>
          <a:p>
            <a:pPr algn="l" indent="0" marL="0">
              <a:lnSpc>
                <a:spcPts val="955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+ source · entity · metric</a:t>
            </a:r>
            <a:endParaRPr lang="en-US" sz="713" dirty="0"/>
          </a:p>
          <a:p>
            <a:pPr algn="l" indent="0" marL="0">
              <a:lnSpc>
                <a:spcPts val="955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+ value · attributes</a:t>
            </a:r>
            <a:endParaRPr lang="en-US" sz="713" dirty="0"/>
          </a:p>
        </p:txBody>
      </p:sp>
      <p:sp>
        <p:nvSpPr>
          <p:cNvPr id="39" name="Shape 33"/>
          <p:cNvSpPr/>
          <p:nvPr/>
        </p:nvSpPr>
        <p:spPr>
          <a:xfrm>
            <a:off x="2047875" y="3286125"/>
            <a:ext cx="1238250" cy="1071563"/>
          </a:xfrm>
          <a:prstGeom prst="roundRect">
            <a:avLst>
              <a:gd name="adj" fmla="val 13653"/>
            </a:avLst>
          </a:prstGeom>
          <a:solidFill>
            <a:srgbClr val="171717"/>
          </a:solidFill>
          <a:ln w="6787">
            <a:solidFill>
              <a:srgbClr val="D97706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2133600" y="3352800"/>
            <a:ext cx="1066800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3"/>
              </a:lnSpc>
              <a:buNone/>
            </a:pPr>
            <a:r>
              <a:rPr lang="en-US" sz="641" dirty="0">
                <a:solidFill>
                  <a:srgbClr val="D97706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«dataclass frozen»</a:t>
            </a:r>
            <a:endParaRPr lang="en-US" sz="641" dirty="0"/>
          </a:p>
        </p:txBody>
      </p:sp>
      <p:sp>
        <p:nvSpPr>
          <p:cNvPr id="41" name="Text 35"/>
          <p:cNvSpPr/>
          <p:nvPr/>
        </p:nvSpPr>
        <p:spPr>
          <a:xfrm>
            <a:off x="2133600" y="3476625"/>
            <a:ext cx="10668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891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Anomaly</a:t>
            </a:r>
            <a:endParaRPr lang="en-US" sz="891" dirty="0"/>
          </a:p>
        </p:txBody>
      </p:sp>
      <p:sp>
        <p:nvSpPr>
          <p:cNvPr id="42" name="Shape 36"/>
          <p:cNvSpPr/>
          <p:nvPr/>
        </p:nvSpPr>
        <p:spPr>
          <a:xfrm>
            <a:off x="2047875" y="3648075"/>
            <a:ext cx="1238250" cy="71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3" name="Text 37"/>
          <p:cNvSpPr/>
          <p:nvPr/>
        </p:nvSpPr>
        <p:spPr>
          <a:xfrm>
            <a:off x="2133600" y="3724275"/>
            <a:ext cx="1066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5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+ fact : Fact</a:t>
            </a:r>
            <a:endParaRPr lang="en-US" sz="713" dirty="0"/>
          </a:p>
          <a:p>
            <a:pPr algn="l" indent="0" marL="0">
              <a:lnSpc>
                <a:spcPts val="955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+ observed · expected</a:t>
            </a:r>
            <a:endParaRPr lang="en-US" sz="713" dirty="0"/>
          </a:p>
          <a:p>
            <a:pPr algn="l" indent="0" marL="0">
              <a:lnSpc>
                <a:spcPts val="955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+ z · strength</a:t>
            </a:r>
            <a:endParaRPr lang="en-US" sz="713" dirty="0"/>
          </a:p>
          <a:p>
            <a:pPr algn="l" indent="0" marL="0">
              <a:lnSpc>
                <a:spcPts val="955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+ baseline_snapshot</a:t>
            </a:r>
            <a:endParaRPr lang="en-US" sz="713" dirty="0"/>
          </a:p>
        </p:txBody>
      </p:sp>
      <p:sp>
        <p:nvSpPr>
          <p:cNvPr id="44" name="Shape 38"/>
          <p:cNvSpPr/>
          <p:nvPr/>
        </p:nvSpPr>
        <p:spPr>
          <a:xfrm>
            <a:off x="3524250" y="3286125"/>
            <a:ext cx="1238250" cy="1071563"/>
          </a:xfrm>
          <a:prstGeom prst="roundRect">
            <a:avLst>
              <a:gd name="adj" fmla="val 13653"/>
            </a:avLst>
          </a:prstGeom>
          <a:solidFill>
            <a:srgbClr val="171717"/>
          </a:solidFill>
          <a:ln w="6787">
            <a:solidFill>
              <a:srgbClr val="D97706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3609975" y="3352800"/>
            <a:ext cx="1066800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3"/>
              </a:lnSpc>
              <a:buNone/>
            </a:pPr>
            <a:r>
              <a:rPr lang="en-US" sz="641" dirty="0">
                <a:solidFill>
                  <a:srgbClr val="D97706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«dataclass frozen»</a:t>
            </a:r>
            <a:endParaRPr lang="en-US" sz="641" dirty="0"/>
          </a:p>
        </p:txBody>
      </p:sp>
      <p:sp>
        <p:nvSpPr>
          <p:cNvPr id="46" name="Text 40"/>
          <p:cNvSpPr/>
          <p:nvPr/>
        </p:nvSpPr>
        <p:spPr>
          <a:xfrm>
            <a:off x="3609975" y="3476625"/>
            <a:ext cx="10668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891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Candidate</a:t>
            </a:r>
            <a:endParaRPr lang="en-US" sz="891" dirty="0"/>
          </a:p>
        </p:txBody>
      </p:sp>
      <p:sp>
        <p:nvSpPr>
          <p:cNvPr id="47" name="Shape 41"/>
          <p:cNvSpPr/>
          <p:nvPr/>
        </p:nvSpPr>
        <p:spPr>
          <a:xfrm>
            <a:off x="3524250" y="3648075"/>
            <a:ext cx="1238250" cy="71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8" name="Text 42"/>
          <p:cNvSpPr/>
          <p:nvPr/>
        </p:nvSpPr>
        <p:spPr>
          <a:xfrm>
            <a:off x="3609975" y="3724275"/>
            <a:ext cx="1066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5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+ family · kind</a:t>
            </a:r>
            <a:endParaRPr lang="en-US" sz="713" dirty="0"/>
          </a:p>
          <a:p>
            <a:pPr algn="l" indent="0" marL="0">
              <a:lnSpc>
                <a:spcPts val="955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+ subject · supporting</a:t>
            </a:r>
            <a:endParaRPr lang="en-US" sz="713" dirty="0"/>
          </a:p>
          <a:p>
            <a:pPr algn="l" indent="0" marL="0">
              <a:lnSpc>
                <a:spcPts val="955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+ contrary · scope</a:t>
            </a:r>
            <a:endParaRPr lang="en-US" sz="713" dirty="0"/>
          </a:p>
          <a:p>
            <a:pPr algn="l" indent="0" marL="0">
              <a:lnSpc>
                <a:spcPts val="955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+ temporal_score</a:t>
            </a:r>
            <a:endParaRPr lang="en-US" sz="713" dirty="0"/>
          </a:p>
        </p:txBody>
      </p:sp>
      <p:sp>
        <p:nvSpPr>
          <p:cNvPr id="49" name="Shape 43"/>
          <p:cNvSpPr/>
          <p:nvPr/>
        </p:nvSpPr>
        <p:spPr>
          <a:xfrm>
            <a:off x="5000625" y="3095625"/>
            <a:ext cx="2047875" cy="1452563"/>
          </a:xfrm>
          <a:prstGeom prst="roundRect">
            <a:avLst>
              <a:gd name="adj" fmla="val 10072"/>
            </a:avLst>
          </a:prstGeom>
          <a:solidFill>
            <a:srgbClr val="171717"/>
          </a:solidFill>
          <a:ln w="6787">
            <a:solidFill>
              <a:srgbClr val="FF0000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5086350" y="3162300"/>
            <a:ext cx="1876425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3"/>
              </a:lnSpc>
              <a:buNone/>
            </a:pPr>
            <a:r>
              <a:rPr lang="en-US" sz="641" dirty="0">
                <a:solidFill>
                  <a:srgbClr val="FF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«dataclass frozen»</a:t>
            </a:r>
            <a:endParaRPr lang="en-US" sz="641" dirty="0"/>
          </a:p>
        </p:txBody>
      </p:sp>
      <p:sp>
        <p:nvSpPr>
          <p:cNvPr id="51" name="Text 45"/>
          <p:cNvSpPr/>
          <p:nvPr/>
        </p:nvSpPr>
        <p:spPr>
          <a:xfrm>
            <a:off x="5086350" y="3286125"/>
            <a:ext cx="18764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891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Hypothesis</a:t>
            </a:r>
            <a:endParaRPr lang="en-US" sz="891" dirty="0"/>
          </a:p>
        </p:txBody>
      </p:sp>
      <p:sp>
        <p:nvSpPr>
          <p:cNvPr id="52" name="Shape 46"/>
          <p:cNvSpPr/>
          <p:nvPr/>
        </p:nvSpPr>
        <p:spPr>
          <a:xfrm>
            <a:off x="5000625" y="3457575"/>
            <a:ext cx="2047875" cy="7144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53" name="Text 47"/>
          <p:cNvSpPr/>
          <p:nvPr/>
        </p:nvSpPr>
        <p:spPr>
          <a:xfrm>
            <a:off x="5086350" y="3533775"/>
            <a:ext cx="1876425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5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+ family · scope · score</a:t>
            </a:r>
            <a:endParaRPr lang="en-US" sz="713" dirty="0"/>
          </a:p>
          <a:p>
            <a:pPr algn="l" indent="0" marL="0">
              <a:lnSpc>
                <a:spcPts val="955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+ coverage · confidence</a:t>
            </a:r>
            <a:endParaRPr lang="en-US" sz="713" dirty="0"/>
          </a:p>
          <a:p>
            <a:pPr algn="l" indent="0" marL="0">
              <a:lnSpc>
                <a:spcPts val="955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+ evaluation_status</a:t>
            </a:r>
            <a:endParaRPr lang="en-US" sz="713" dirty="0"/>
          </a:p>
          <a:p>
            <a:pPr algn="l" indent="0" marL="0">
              <a:lnSpc>
                <a:spcPts val="955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+ contradiction_strength</a:t>
            </a:r>
            <a:endParaRPr lang="en-US" sz="713" dirty="0"/>
          </a:p>
          <a:p>
            <a:pPr algn="l" indent="0" marL="0">
              <a:lnSpc>
                <a:spcPts val="955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COMPÕE 0..* Feature / Evidence</a:t>
            </a:r>
            <a:endParaRPr lang="en-US" sz="713" dirty="0"/>
          </a:p>
        </p:txBody>
      </p:sp>
      <p:sp>
        <p:nvSpPr>
          <p:cNvPr id="54" name="Shape 48"/>
          <p:cNvSpPr/>
          <p:nvPr/>
        </p:nvSpPr>
        <p:spPr>
          <a:xfrm>
            <a:off x="7286625" y="3286125"/>
            <a:ext cx="1476375" cy="1190625"/>
          </a:xfrm>
          <a:prstGeom prst="roundRect">
            <a:avLst>
              <a:gd name="adj" fmla="val 13824"/>
            </a:avLst>
          </a:prstGeom>
          <a:solidFill>
            <a:srgbClr val="171717"/>
          </a:solidFill>
          <a:ln w="6787">
            <a:solidFill>
              <a:srgbClr val="94A3B8"/>
            </a:solidFill>
            <a:prstDash val="solid"/>
          </a:ln>
        </p:spPr>
      </p:sp>
      <p:sp>
        <p:nvSpPr>
          <p:cNvPr id="55" name="Text 49"/>
          <p:cNvSpPr/>
          <p:nvPr/>
        </p:nvSpPr>
        <p:spPr>
          <a:xfrm>
            <a:off x="7381875" y="3371850"/>
            <a:ext cx="128587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4"/>
              </a:lnSpc>
              <a:buNone/>
            </a:pPr>
            <a:r>
              <a:rPr lang="en-US" sz="713" b="1" dirty="0">
                <a:solidFill>
                  <a:srgbClr val="94A3B8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EVIDÊNCIA</a:t>
            </a:r>
            <a:endParaRPr lang="en-US" sz="713" dirty="0"/>
          </a:p>
        </p:txBody>
      </p:sp>
      <p:sp>
        <p:nvSpPr>
          <p:cNvPr id="56" name="Text 50"/>
          <p:cNvSpPr/>
          <p:nvPr/>
        </p:nvSpPr>
        <p:spPr>
          <a:xfrm>
            <a:off x="7381875" y="3514725"/>
            <a:ext cx="1285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91" b="1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Feature · Evidence</a:t>
            </a:r>
            <a:endParaRPr lang="en-US" sz="891" dirty="0"/>
          </a:p>
        </p:txBody>
      </p:sp>
      <p:sp>
        <p:nvSpPr>
          <p:cNvPr id="57" name="Text 51"/>
          <p:cNvSpPr/>
          <p:nvPr/>
        </p:nvSpPr>
        <p:spPr>
          <a:xfrm>
            <a:off x="7381875" y="3724275"/>
            <a:ext cx="128587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2"/>
              </a:lnSpc>
              <a:buNone/>
            </a:pPr>
            <a:r>
              <a:rPr lang="en-US" sz="713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Feature: peso, contribuição e explicação.</a:t>
            </a:r>
            <a:endParaRPr lang="en-US" sz="713" dirty="0"/>
          </a:p>
          <a:p>
            <a:pPr algn="l" indent="0" marL="0">
              <a:lnSpc>
                <a:spcPts val="962"/>
              </a:lnSpc>
              <a:buNone/>
            </a:pPr>
            <a:r>
              <a:rPr lang="en-US" sz="713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Evidence: polaridade, fato, observado e esperado.</a:t>
            </a:r>
            <a:endParaRPr lang="en-US" sz="713" dirty="0"/>
          </a:p>
        </p:txBody>
      </p:sp>
      <p:pic>
        <p:nvPicPr>
          <p:cNvPr id="5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743075" y="3743325"/>
            <a:ext cx="371475" cy="133350"/>
          </a:xfrm>
          <a:prstGeom prst="rect">
            <a:avLst/>
          </a:prstGeom>
        </p:spPr>
      </p:pic>
      <p:pic>
        <p:nvPicPr>
          <p:cNvPr id="5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219450" y="3743325"/>
            <a:ext cx="371475" cy="133350"/>
          </a:xfrm>
          <a:prstGeom prst="rect">
            <a:avLst/>
          </a:prstGeom>
        </p:spPr>
      </p:pic>
      <p:pic>
        <p:nvPicPr>
          <p:cNvPr id="60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695825" y="3743325"/>
            <a:ext cx="371475" cy="133350"/>
          </a:xfrm>
          <a:prstGeom prst="rect">
            <a:avLst/>
          </a:prstGeom>
        </p:spPr>
      </p:pic>
      <p:pic>
        <p:nvPicPr>
          <p:cNvPr id="61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981825" y="3743325"/>
            <a:ext cx="37147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0" y="-857250"/>
            <a:ext cx="2000250" cy="2000250"/>
          </a:xfrm>
          <a:prstGeom prst="ellipse">
            <a:avLst/>
          </a:prstGeom>
          <a:noFill/>
          <a:ln w="208121">
            <a:solidFill>
              <a:srgbClr val="59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1000" y="242888"/>
            <a:ext cx="1457325" cy="223838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381000" y="247650"/>
            <a:ext cx="247650" cy="214313"/>
          </a:xfrm>
          <a:prstGeom prst="roundRect">
            <a:avLst>
              <a:gd name="adj" fmla="val 34133"/>
            </a:avLst>
          </a:prstGeom>
          <a:solidFill>
            <a:srgbClr val="FF00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1012" y="326231"/>
            <a:ext cx="47625" cy="571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242888"/>
            <a:ext cx="1152525" cy="223838"/>
          </a:xfrm>
          <a:prstGeom prst="rect">
            <a:avLst/>
          </a:prstGeom>
          <a:noFill/>
          <a:ln/>
        </p:spPr>
      </p:sp>
      <p:sp>
        <p:nvSpPr>
          <p:cNvPr id="7" name="Text 4"/>
          <p:cNvSpPr/>
          <p:nvPr/>
        </p:nvSpPr>
        <p:spPr>
          <a:xfrm>
            <a:off x="685800" y="242888"/>
            <a:ext cx="10763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0"/>
              </a:lnSpc>
              <a:buNone/>
            </a:pPr>
            <a:r>
              <a:rPr lang="en-US" sz="1283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globoplay</a:t>
            </a:r>
            <a:endParaRPr lang="en-US" sz="1283" dirty="0"/>
          </a:p>
        </p:txBody>
      </p:sp>
      <p:sp>
        <p:nvSpPr>
          <p:cNvPr id="8" name="Text 5"/>
          <p:cNvSpPr/>
          <p:nvPr/>
        </p:nvSpPr>
        <p:spPr>
          <a:xfrm>
            <a:off x="1790700" y="242888"/>
            <a:ext cx="47625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buNone/>
            </a:pPr>
            <a:r>
              <a:rPr lang="en-US" sz="1283" dirty="0">
                <a:solidFill>
                  <a:srgbClr val="FF0000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|</a:t>
            </a:r>
            <a:endParaRPr lang="en-US" sz="1283" dirty="0"/>
          </a:p>
        </p:txBody>
      </p:sp>
      <p:sp>
        <p:nvSpPr>
          <p:cNvPr id="9" name="Text 6"/>
          <p:cNvSpPr/>
          <p:nvPr/>
        </p:nvSpPr>
        <p:spPr>
          <a:xfrm>
            <a:off x="381000" y="628650"/>
            <a:ext cx="7143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7"/>
              </a:lnSpc>
              <a:buNone/>
            </a:pPr>
            <a:r>
              <a:rPr lang="en-US" sz="998" dirty="0">
                <a:solidFill>
                  <a:srgbClr val="FF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CLASSES · LEITURA</a:t>
            </a:r>
            <a:endParaRPr lang="en-US" sz="998" dirty="0"/>
          </a:p>
        </p:txBody>
      </p:sp>
      <p:sp>
        <p:nvSpPr>
          <p:cNvPr id="10" name="Text 7"/>
          <p:cNvSpPr/>
          <p:nvPr/>
        </p:nvSpPr>
        <p:spPr>
          <a:xfrm>
            <a:off x="381000" y="819150"/>
            <a:ext cx="8191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3"/>
              </a:lnSpc>
              <a:buNone/>
            </a:pPr>
            <a:r>
              <a:rPr lang="en-US" sz="1888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Consultas </a:t>
            </a:r>
            <a:endParaRPr lang="en-US" sz="1888" dirty="0"/>
          </a:p>
        </p:txBody>
      </p:sp>
      <p:sp>
        <p:nvSpPr>
          <p:cNvPr id="11" name="Shape 8"/>
          <p:cNvSpPr/>
          <p:nvPr/>
        </p:nvSpPr>
        <p:spPr>
          <a:xfrm>
            <a:off x="381000" y="1343025"/>
            <a:ext cx="8382000" cy="9525"/>
          </a:xfrm>
          <a:prstGeom prst="rect">
            <a:avLst/>
          </a:prstGeom>
          <a:solidFill>
            <a:srgbClr val="FF000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362075" y="2314575"/>
            <a:ext cx="371475" cy="13335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124200" y="2314575"/>
            <a:ext cx="466725" cy="133350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838700" y="2314575"/>
            <a:ext cx="371475" cy="133350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791325" y="2314575"/>
            <a:ext cx="419100" cy="133350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381000" y="1905000"/>
            <a:ext cx="1047750" cy="976312"/>
          </a:xfrm>
          <a:prstGeom prst="roundRect">
            <a:avLst>
              <a:gd name="adj" fmla="val 16859"/>
            </a:avLst>
          </a:prstGeom>
          <a:solidFill>
            <a:srgbClr val="171717"/>
          </a:solidFill>
          <a:ln w="6787">
            <a:solidFill>
              <a:srgbClr val="FF0000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476250" y="1990725"/>
            <a:ext cx="8572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4"/>
              </a:lnSpc>
              <a:buNone/>
            </a:pPr>
            <a:r>
              <a:rPr lang="en-US" sz="713" b="1" dirty="0">
                <a:solidFill>
                  <a:srgbClr val="FF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BOUNDARY</a:t>
            </a:r>
            <a:endParaRPr lang="en-US" sz="713" dirty="0"/>
          </a:p>
        </p:txBody>
      </p:sp>
      <p:sp>
        <p:nvSpPr>
          <p:cNvPr id="18" name="Text 11"/>
          <p:cNvSpPr/>
          <p:nvPr/>
        </p:nvSpPr>
        <p:spPr>
          <a:xfrm>
            <a:off x="476250" y="2133600"/>
            <a:ext cx="8572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91" b="1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ALB + ASG</a:t>
            </a:r>
            <a:endParaRPr lang="en-US" sz="891" dirty="0"/>
          </a:p>
        </p:txBody>
      </p:sp>
      <p:sp>
        <p:nvSpPr>
          <p:cNvPr id="19" name="Text 12"/>
          <p:cNvSpPr/>
          <p:nvPr/>
        </p:nvSpPr>
        <p:spPr>
          <a:xfrm>
            <a:off x="476250" y="2343150"/>
            <a:ext cx="8572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2"/>
              </a:lnSpc>
              <a:buNone/>
            </a:pPr>
            <a:r>
              <a:rPr lang="en-US" sz="713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HTTP 80</a:t>
            </a:r>
            <a:endParaRPr lang="en-US" sz="713" dirty="0"/>
          </a:p>
          <a:p>
            <a:pPr algn="l" indent="0" marL="0">
              <a:lnSpc>
                <a:spcPts val="962"/>
              </a:lnSpc>
              <a:buNone/>
            </a:pPr>
            <a:r>
              <a:rPr lang="en-US" sz="713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Gunicorn 5000</a:t>
            </a:r>
            <a:endParaRPr lang="en-US" sz="713" dirty="0"/>
          </a:p>
          <a:p>
            <a:pPr algn="l" indent="0" marL="0">
              <a:lnSpc>
                <a:spcPts val="962"/>
              </a:lnSpc>
              <a:buNone/>
            </a:pPr>
            <a:r>
              <a:rPr lang="en-US" sz="713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/health/live</a:t>
            </a:r>
            <a:endParaRPr lang="en-US" sz="713" dirty="0"/>
          </a:p>
        </p:txBody>
      </p:sp>
      <p:sp>
        <p:nvSpPr>
          <p:cNvPr id="20" name="Shape 13"/>
          <p:cNvSpPr/>
          <p:nvPr/>
        </p:nvSpPr>
        <p:spPr>
          <a:xfrm>
            <a:off x="1666875" y="1905000"/>
            <a:ext cx="1524000" cy="976312"/>
          </a:xfrm>
          <a:prstGeom prst="roundRect">
            <a:avLst>
              <a:gd name="adj" fmla="val 16859"/>
            </a:avLst>
          </a:prstGeom>
          <a:solidFill>
            <a:srgbClr val="171717"/>
          </a:solidFill>
          <a:ln w="6787">
            <a:solidFill>
              <a:srgbClr val="D97706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1762125" y="1990725"/>
            <a:ext cx="13335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4"/>
              </a:lnSpc>
              <a:buNone/>
            </a:pPr>
            <a:r>
              <a:rPr lang="en-US" sz="713" b="1" dirty="0">
                <a:solidFill>
                  <a:srgbClr val="D97706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FACTORY + AUTH</a:t>
            </a:r>
            <a:endParaRPr lang="en-US" sz="713" dirty="0"/>
          </a:p>
        </p:txBody>
      </p:sp>
      <p:sp>
        <p:nvSpPr>
          <p:cNvPr id="22" name="Text 15"/>
          <p:cNvSpPr/>
          <p:nvPr/>
        </p:nvSpPr>
        <p:spPr>
          <a:xfrm>
            <a:off x="1733550" y="2133600"/>
            <a:ext cx="13906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2"/>
              </a:lnSpc>
              <a:buNone/>
            </a:pPr>
            <a:r>
              <a:rPr lang="en-US" sz="819" b="1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create_app · AuthGuard</a:t>
            </a:r>
            <a:endParaRPr lang="en-US" sz="819" dirty="0"/>
          </a:p>
        </p:txBody>
      </p:sp>
      <p:sp>
        <p:nvSpPr>
          <p:cNvPr id="23" name="Text 16"/>
          <p:cNvSpPr/>
          <p:nvPr/>
        </p:nvSpPr>
        <p:spPr>
          <a:xfrm>
            <a:off x="1762125" y="2419350"/>
            <a:ext cx="13335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2"/>
              </a:lnSpc>
              <a:buNone/>
            </a:pPr>
            <a:r>
              <a:rPr lang="en-US" sz="713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Injeta adaptadores.</a:t>
            </a:r>
            <a:endParaRPr lang="en-US" sz="713" dirty="0"/>
          </a:p>
          <a:p>
            <a:pPr algn="l" indent="0" marL="0">
              <a:lnSpc>
                <a:spcPts val="962"/>
              </a:lnSpc>
              <a:buNone/>
            </a:pPr>
            <a:r>
              <a:rPr lang="en-US" sz="713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Registra blueprints.</a:t>
            </a:r>
            <a:endParaRPr lang="en-US" sz="713" dirty="0"/>
          </a:p>
          <a:p>
            <a:pPr algn="l" indent="0" marL="0">
              <a:lnSpc>
                <a:spcPts val="962"/>
              </a:lnSpc>
              <a:buNone/>
            </a:pPr>
            <a:r>
              <a:rPr lang="en-US" sz="713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Valida hash Bearer: 401 / 403.</a:t>
            </a:r>
            <a:endParaRPr lang="en-US" sz="713" dirty="0"/>
          </a:p>
        </p:txBody>
      </p:sp>
      <p:sp>
        <p:nvSpPr>
          <p:cNvPr id="24" name="Shape 17"/>
          <p:cNvSpPr/>
          <p:nvPr/>
        </p:nvSpPr>
        <p:spPr>
          <a:xfrm>
            <a:off x="3524250" y="1905000"/>
            <a:ext cx="1381125" cy="976312"/>
          </a:xfrm>
          <a:prstGeom prst="roundRect">
            <a:avLst>
              <a:gd name="adj" fmla="val 16859"/>
            </a:avLst>
          </a:prstGeom>
          <a:solidFill>
            <a:srgbClr val="171717"/>
          </a:solidFill>
          <a:ln w="6787">
            <a:solidFill>
              <a:srgbClr val="FF0000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3619500" y="1990725"/>
            <a:ext cx="11906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4"/>
              </a:lnSpc>
              <a:buNone/>
            </a:pPr>
            <a:r>
              <a:rPr lang="en-US" sz="713" b="1" dirty="0">
                <a:solidFill>
                  <a:srgbClr val="FF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INTERFACE</a:t>
            </a:r>
            <a:endParaRPr lang="en-US" sz="713" dirty="0"/>
          </a:p>
        </p:txBody>
      </p:sp>
      <p:sp>
        <p:nvSpPr>
          <p:cNvPr id="26" name="Text 19"/>
          <p:cNvSpPr/>
          <p:nvPr/>
        </p:nvSpPr>
        <p:spPr>
          <a:xfrm>
            <a:off x="3619500" y="2133600"/>
            <a:ext cx="119062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91" b="1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HTTP Blueprints</a:t>
            </a:r>
            <a:endParaRPr lang="en-US" sz="891" dirty="0"/>
          </a:p>
        </p:txBody>
      </p:sp>
      <p:sp>
        <p:nvSpPr>
          <p:cNvPr id="27" name="Text 20"/>
          <p:cNvSpPr/>
          <p:nvPr/>
        </p:nvSpPr>
        <p:spPr>
          <a:xfrm>
            <a:off x="3619500" y="2343150"/>
            <a:ext cx="11906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2"/>
              </a:lnSpc>
              <a:buNone/>
            </a:pPr>
            <a:r>
              <a:rPr lang="en-US" sz="713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events · timeline</a:t>
            </a:r>
            <a:endParaRPr lang="en-US" sz="713" dirty="0"/>
          </a:p>
          <a:p>
            <a:pPr algn="l" indent="0" marL="0">
              <a:lnSpc>
                <a:spcPts val="962"/>
              </a:lnSpc>
              <a:buNone/>
            </a:pPr>
            <a:r>
              <a:rPr lang="en-US" sz="713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series · hypotheses</a:t>
            </a:r>
            <a:endParaRPr lang="en-US" sz="713" dirty="0"/>
          </a:p>
          <a:p>
            <a:pPr algn="l" indent="0" marL="0">
              <a:lnSpc>
                <a:spcPts val="962"/>
              </a:lnSpc>
              <a:buNone/>
            </a:pPr>
            <a:r>
              <a:rPr lang="en-US" sz="713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signals · feedback</a:t>
            </a:r>
            <a:endParaRPr lang="en-US" sz="713" dirty="0"/>
          </a:p>
        </p:txBody>
      </p:sp>
      <p:sp>
        <p:nvSpPr>
          <p:cNvPr id="28" name="Shape 21"/>
          <p:cNvSpPr/>
          <p:nvPr/>
        </p:nvSpPr>
        <p:spPr>
          <a:xfrm>
            <a:off x="5143500" y="1905000"/>
            <a:ext cx="1714500" cy="976312"/>
          </a:xfrm>
          <a:prstGeom prst="roundRect">
            <a:avLst>
              <a:gd name="adj" fmla="val 16859"/>
            </a:avLst>
          </a:prstGeom>
          <a:solidFill>
            <a:srgbClr val="171717"/>
          </a:solidFill>
          <a:ln w="6787">
            <a:solidFill>
              <a:srgbClr val="FF0000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5238750" y="1990725"/>
            <a:ext cx="15240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4"/>
              </a:lnSpc>
              <a:buNone/>
            </a:pPr>
            <a:r>
              <a:rPr lang="en-US" sz="713" b="1" dirty="0">
                <a:solidFill>
                  <a:srgbClr val="FF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APPLICATION</a:t>
            </a:r>
            <a:endParaRPr lang="en-US" sz="713" dirty="0"/>
          </a:p>
        </p:txBody>
      </p:sp>
      <p:sp>
        <p:nvSpPr>
          <p:cNvPr id="30" name="Text 23"/>
          <p:cNvSpPr/>
          <p:nvPr/>
        </p:nvSpPr>
        <p:spPr>
          <a:xfrm>
            <a:off x="5238750" y="2133600"/>
            <a:ext cx="15240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91" b="1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Casos de uso</a:t>
            </a:r>
            <a:endParaRPr lang="en-US" sz="891" dirty="0"/>
          </a:p>
        </p:txBody>
      </p:sp>
      <p:sp>
        <p:nvSpPr>
          <p:cNvPr id="31" name="Text 24"/>
          <p:cNvSpPr/>
          <p:nvPr/>
        </p:nvSpPr>
        <p:spPr>
          <a:xfrm>
            <a:off x="5238750" y="2343150"/>
            <a:ext cx="1524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2"/>
              </a:lnSpc>
              <a:buNone/>
            </a:pPr>
            <a:r>
              <a:rPr lang="en-US" sz="713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SearchEvents · GetTimeline</a:t>
            </a:r>
            <a:endParaRPr lang="en-US" sz="713" dirty="0"/>
          </a:p>
          <a:p>
            <a:pPr algn="l" indent="0" marL="0">
              <a:lnSpc>
                <a:spcPts val="962"/>
              </a:lnSpc>
              <a:buNone/>
            </a:pPr>
            <a:r>
              <a:rPr lang="en-US" sz="713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GetBreakdown · GetCrosstab</a:t>
            </a:r>
            <a:endParaRPr lang="en-US" sz="713" dirty="0"/>
          </a:p>
          <a:p>
            <a:pPr algn="l" indent="0" marL="0">
              <a:lnSpc>
                <a:spcPts val="962"/>
              </a:lnSpc>
              <a:buNone/>
            </a:pPr>
            <a:r>
              <a:rPr lang="en-US" sz="713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GetTimeseries · GetFacets</a:t>
            </a:r>
            <a:endParaRPr lang="en-US" sz="713" dirty="0"/>
          </a:p>
          <a:p>
            <a:pPr algn="l" indent="0" marL="0">
              <a:lnSpc>
                <a:spcPts val="962"/>
              </a:lnSpc>
              <a:buNone/>
            </a:pPr>
            <a:r>
              <a:rPr lang="en-US" sz="713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GenerateSignals</a:t>
            </a:r>
            <a:endParaRPr lang="en-US" sz="713" dirty="0"/>
          </a:p>
        </p:txBody>
      </p:sp>
      <p:sp>
        <p:nvSpPr>
          <p:cNvPr id="32" name="Shape 25"/>
          <p:cNvSpPr/>
          <p:nvPr/>
        </p:nvSpPr>
        <p:spPr>
          <a:xfrm>
            <a:off x="7143750" y="1857375"/>
            <a:ext cx="1619250" cy="1071563"/>
          </a:xfrm>
          <a:prstGeom prst="roundRect">
            <a:avLst>
              <a:gd name="adj" fmla="val 13653"/>
            </a:avLst>
          </a:prstGeom>
          <a:solidFill>
            <a:srgbClr val="171717"/>
          </a:solidFill>
          <a:ln w="6787">
            <a:solidFill>
              <a:srgbClr val="94A3B8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7229475" y="1924050"/>
            <a:ext cx="14478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8"/>
              </a:lnSpc>
              <a:buNone/>
            </a:pPr>
            <a:r>
              <a:rPr lang="en-US" sz="713" dirty="0">
                <a:solidFill>
                  <a:srgbClr val="94A3B8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«Protocol»</a:t>
            </a:r>
            <a:endParaRPr lang="en-US" sz="713" dirty="0"/>
          </a:p>
        </p:txBody>
      </p:sp>
      <p:sp>
        <p:nvSpPr>
          <p:cNvPr id="34" name="Text 27"/>
          <p:cNvSpPr/>
          <p:nvPr/>
        </p:nvSpPr>
        <p:spPr>
          <a:xfrm>
            <a:off x="7229475" y="2047875"/>
            <a:ext cx="14478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891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EventRepository</a:t>
            </a:r>
            <a:endParaRPr lang="en-US" sz="891" dirty="0"/>
          </a:p>
        </p:txBody>
      </p:sp>
      <p:sp>
        <p:nvSpPr>
          <p:cNvPr id="35" name="Shape 28"/>
          <p:cNvSpPr/>
          <p:nvPr/>
        </p:nvSpPr>
        <p:spPr>
          <a:xfrm>
            <a:off x="7143750" y="2219325"/>
            <a:ext cx="1619250" cy="7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6" name="Text 29"/>
          <p:cNvSpPr/>
          <p:nvPr/>
        </p:nvSpPr>
        <p:spPr>
          <a:xfrm>
            <a:off x="7229475" y="2295525"/>
            <a:ext cx="1447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5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+ search() · get()</a:t>
            </a:r>
            <a:endParaRPr lang="en-US" sz="713" dirty="0"/>
          </a:p>
          <a:p>
            <a:pPr algn="l" indent="0" marL="0">
              <a:lnSpc>
                <a:spcPts val="955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+ breakdown() · crosstab()</a:t>
            </a:r>
            <a:endParaRPr lang="en-US" sz="713" dirty="0"/>
          </a:p>
          <a:p>
            <a:pPr algn="l" indent="0" marL="0">
              <a:lnSpc>
                <a:spcPts val="955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+ timeseries() · facets()</a:t>
            </a:r>
            <a:endParaRPr lang="en-US" sz="713" dirty="0"/>
          </a:p>
          <a:p>
            <a:pPr algn="l" indent="0" marL="0">
              <a:lnSpc>
                <a:spcPts val="955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+ ping()</a:t>
            </a:r>
            <a:endParaRPr lang="en-US" sz="713" dirty="0"/>
          </a:p>
        </p:txBody>
      </p:sp>
      <p:sp>
        <p:nvSpPr>
          <p:cNvPr id="37" name="Shape 30"/>
          <p:cNvSpPr/>
          <p:nvPr/>
        </p:nvSpPr>
        <p:spPr>
          <a:xfrm>
            <a:off x="381000" y="3333750"/>
            <a:ext cx="2571750" cy="1309688"/>
          </a:xfrm>
          <a:prstGeom prst="roundRect">
            <a:avLst>
              <a:gd name="adj" fmla="val 12567"/>
            </a:avLst>
          </a:prstGeom>
          <a:solidFill>
            <a:srgbClr val="090909"/>
          </a:solidFill>
          <a:ln w="6787">
            <a:solidFill>
              <a:srgbClr val="FF0000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476250" y="3419475"/>
            <a:ext cx="23812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4"/>
              </a:lnSpc>
              <a:buNone/>
            </a:pPr>
            <a:r>
              <a:rPr lang="en-US" sz="713" b="1" dirty="0">
                <a:solidFill>
                  <a:srgbClr val="FF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DOMÍNIO E OBJETOS DE VALOR</a:t>
            </a:r>
            <a:endParaRPr lang="en-US" sz="713" dirty="0"/>
          </a:p>
        </p:txBody>
      </p:sp>
      <p:sp>
        <p:nvSpPr>
          <p:cNvPr id="39" name="Text 32"/>
          <p:cNvSpPr/>
          <p:nvPr/>
        </p:nvSpPr>
        <p:spPr>
          <a:xfrm>
            <a:off x="476250" y="3590925"/>
            <a:ext cx="12382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1"/>
              </a:lnSpc>
              <a:buNone/>
            </a:pPr>
            <a:r>
              <a:rPr lang="en-US" sz="855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TelemetryEvent</a:t>
            </a:r>
            <a:endParaRPr lang="en-US" sz="855" dirty="0"/>
          </a:p>
        </p:txBody>
      </p:sp>
      <p:sp>
        <p:nvSpPr>
          <p:cNvPr id="40" name="Text 33"/>
          <p:cNvSpPr/>
          <p:nvPr/>
        </p:nvSpPr>
        <p:spPr>
          <a:xfrm>
            <a:off x="476250" y="3762375"/>
            <a:ext cx="12382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2"/>
              </a:lnSpc>
              <a:buNone/>
            </a:pPr>
            <a:r>
              <a:rPr lang="en-US" sz="713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event_id · occurred_at · session_id</a:t>
            </a:r>
            <a:endParaRPr lang="en-US" sz="713" dirty="0"/>
          </a:p>
          <a:p>
            <a:pPr algn="l" indent="0" marL="0">
              <a:lnSpc>
                <a:spcPts val="962"/>
              </a:lnSpc>
              <a:buNone/>
            </a:pPr>
            <a:r>
              <a:rPr lang="en-US" sz="713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user_id_hash · attributes</a:t>
            </a:r>
            <a:endParaRPr lang="en-US" sz="713" dirty="0"/>
          </a:p>
        </p:txBody>
      </p:sp>
      <p:sp>
        <p:nvSpPr>
          <p:cNvPr id="41" name="Text 34"/>
          <p:cNvSpPr/>
          <p:nvPr/>
        </p:nvSpPr>
        <p:spPr>
          <a:xfrm>
            <a:off x="1809750" y="3590925"/>
            <a:ext cx="1047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1"/>
              </a:lnSpc>
              <a:buNone/>
            </a:pPr>
            <a:r>
              <a:rPr lang="en-US" sz="855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EventFilters</a:t>
            </a:r>
            <a:endParaRPr lang="en-US" sz="855" dirty="0"/>
          </a:p>
          <a:p>
            <a:pPr algn="l" indent="0" marL="0">
              <a:lnSpc>
                <a:spcPts val="941"/>
              </a:lnSpc>
              <a:buNone/>
            </a:pPr>
            <a:r>
              <a:rPr lang="en-US" sz="855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EventPage</a:t>
            </a:r>
            <a:endParaRPr lang="en-US" sz="855" dirty="0"/>
          </a:p>
        </p:txBody>
      </p:sp>
      <p:sp>
        <p:nvSpPr>
          <p:cNvPr id="42" name="Text 35"/>
          <p:cNvSpPr/>
          <p:nvPr/>
        </p:nvSpPr>
        <p:spPr>
          <a:xfrm>
            <a:off x="1809750" y="3867150"/>
            <a:ext cx="1047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2"/>
              </a:lnSpc>
              <a:buNone/>
            </a:pPr>
            <a:r>
              <a:rPr lang="en-US" sz="713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filtros cumulativos</a:t>
            </a:r>
            <a:endParaRPr lang="en-US" sz="713" dirty="0"/>
          </a:p>
          <a:p>
            <a:pPr algn="l" indent="0" marL="0">
              <a:lnSpc>
                <a:spcPts val="962"/>
              </a:lnSpc>
              <a:buNone/>
            </a:pPr>
            <a:r>
              <a:rPr lang="en-US" sz="713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0..* TelemetryEvent</a:t>
            </a:r>
            <a:endParaRPr lang="en-US" sz="713" dirty="0"/>
          </a:p>
          <a:p>
            <a:pPr algn="l" indent="0" marL="0">
              <a:lnSpc>
                <a:spcPts val="962"/>
              </a:lnSpc>
              <a:buNone/>
            </a:pPr>
            <a:r>
              <a:rPr lang="en-US" sz="713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0..1 QueryStats</a:t>
            </a:r>
            <a:endParaRPr lang="en-US" sz="713" dirty="0"/>
          </a:p>
        </p:txBody>
      </p:sp>
      <p:sp>
        <p:nvSpPr>
          <p:cNvPr id="43" name="Text 36"/>
          <p:cNvSpPr/>
          <p:nvPr/>
        </p:nvSpPr>
        <p:spPr>
          <a:xfrm>
            <a:off x="476250" y="4295775"/>
            <a:ext cx="2381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4"/>
              </a:lnSpc>
              <a:buNone/>
            </a:pPr>
            <a:r>
              <a:rPr lang="en-US" sz="713" dirty="0">
                <a:solidFill>
                  <a:srgbClr val="D97706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TelemetryError → 422 · 415 · 404 · 409 em Problem Details</a:t>
            </a:r>
            <a:endParaRPr lang="en-US" sz="713" dirty="0"/>
          </a:p>
        </p:txBody>
      </p:sp>
      <p:sp>
        <p:nvSpPr>
          <p:cNvPr id="44" name="Shape 37"/>
          <p:cNvSpPr/>
          <p:nvPr/>
        </p:nvSpPr>
        <p:spPr>
          <a:xfrm>
            <a:off x="3195638" y="3333750"/>
            <a:ext cx="2571750" cy="1309688"/>
          </a:xfrm>
          <a:prstGeom prst="roundRect">
            <a:avLst>
              <a:gd name="adj" fmla="val 12567"/>
            </a:avLst>
          </a:prstGeom>
          <a:solidFill>
            <a:srgbClr val="171717"/>
          </a:solidFill>
          <a:ln w="6787">
            <a:solidFill>
              <a:srgbClr val="94A3B8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3290888" y="3419475"/>
            <a:ext cx="23812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4"/>
              </a:lnSpc>
              <a:buNone/>
            </a:pPr>
            <a:r>
              <a:rPr lang="en-US" sz="713" b="1" dirty="0">
                <a:solidFill>
                  <a:srgbClr val="94A3B8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ADAPTADORES</a:t>
            </a:r>
            <a:endParaRPr lang="en-US" sz="713" dirty="0"/>
          </a:p>
        </p:txBody>
      </p:sp>
      <p:sp>
        <p:nvSpPr>
          <p:cNvPr id="46" name="Text 39"/>
          <p:cNvSpPr/>
          <p:nvPr/>
        </p:nvSpPr>
        <p:spPr>
          <a:xfrm>
            <a:off x="3290888" y="3590925"/>
            <a:ext cx="11906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9"/>
              </a:lnSpc>
              <a:buNone/>
            </a:pPr>
            <a:r>
              <a:rPr lang="en-US" sz="926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PostgresEvent</a:t>
            </a:r>
            <a:endParaRPr lang="en-US" sz="926" dirty="0"/>
          </a:p>
          <a:p>
            <a:pPr algn="l" indent="0" marL="0">
              <a:lnSpc>
                <a:spcPts val="1019"/>
              </a:lnSpc>
              <a:buNone/>
            </a:pPr>
            <a:r>
              <a:rPr lang="en-US" sz="926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Repository</a:t>
            </a:r>
            <a:endParaRPr lang="en-US" sz="926" dirty="0"/>
          </a:p>
        </p:txBody>
      </p:sp>
      <p:sp>
        <p:nvSpPr>
          <p:cNvPr id="47" name="Text 40"/>
          <p:cNvSpPr/>
          <p:nvPr/>
        </p:nvSpPr>
        <p:spPr>
          <a:xfrm>
            <a:off x="3290888" y="3886200"/>
            <a:ext cx="116681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2"/>
              </a:lnSpc>
              <a:buNone/>
            </a:pPr>
            <a:r>
              <a:rPr lang="en-US" sz="713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realiza EventRepository</a:t>
            </a:r>
            <a:endParaRPr lang="en-US" sz="713" dirty="0"/>
          </a:p>
          <a:p>
            <a:pPr algn="l" indent="0" marL="0">
              <a:lnSpc>
                <a:spcPts val="962"/>
              </a:lnSpc>
              <a:buNone/>
            </a:pPr>
            <a:r>
              <a:rPr lang="en-US" sz="713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lê silver.v_session_event</a:t>
            </a:r>
            <a:endParaRPr lang="en-US" sz="713" dirty="0"/>
          </a:p>
          <a:p>
            <a:pPr algn="l" indent="0" marL="0">
              <a:lnSpc>
                <a:spcPts val="962"/>
              </a:lnSpc>
              <a:buNone/>
            </a:pPr>
            <a:r>
              <a:rPr lang="en-US" sz="713" dirty="0">
                <a:solidFill>
                  <a:srgbClr val="ADADAD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redige dado pessoal na saída</a:t>
            </a:r>
            <a:endParaRPr lang="en-US" sz="713" dirty="0"/>
          </a:p>
        </p:txBody>
      </p:sp>
      <p:sp>
        <p:nvSpPr>
          <p:cNvPr id="48" name="Text 41"/>
          <p:cNvSpPr/>
          <p:nvPr/>
        </p:nvSpPr>
        <p:spPr>
          <a:xfrm>
            <a:off x="4552950" y="3619500"/>
            <a:ext cx="1119188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7"/>
              </a:lnSpc>
              <a:buNone/>
            </a:pPr>
            <a:r>
              <a:rPr lang="en-US" sz="748" b="1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GoldRepository</a:t>
            </a:r>
            <a:endParaRPr lang="en-US" sz="748" dirty="0"/>
          </a:p>
          <a:p>
            <a:pPr algn="l" indent="0" marL="0">
              <a:lnSpc>
                <a:spcPts val="1047"/>
              </a:lnSpc>
              <a:buNone/>
            </a:pPr>
            <a:r>
              <a:rPr lang="en-US" sz="748" b="1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HypothesisRepository</a:t>
            </a:r>
            <a:endParaRPr lang="en-US" sz="748" dirty="0"/>
          </a:p>
          <a:p>
            <a:pPr algn="l" indent="0" marL="0">
              <a:lnSpc>
                <a:spcPts val="1047"/>
              </a:lnSpc>
              <a:buNone/>
            </a:pPr>
            <a:r>
              <a:rPr lang="en-US" sz="748" b="1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SignalsRepository</a:t>
            </a:r>
            <a:endParaRPr lang="en-US" sz="748" dirty="0"/>
          </a:p>
        </p:txBody>
      </p:sp>
      <p:sp>
        <p:nvSpPr>
          <p:cNvPr id="49" name="Text 42"/>
          <p:cNvSpPr/>
          <p:nvPr/>
        </p:nvSpPr>
        <p:spPr>
          <a:xfrm>
            <a:off x="4552950" y="4119562"/>
            <a:ext cx="11191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1"/>
              </a:lnSpc>
              <a:buNone/>
            </a:pPr>
            <a:r>
              <a:rPr lang="en-US" sz="713" dirty="0">
                <a:solidFill>
                  <a:srgbClr val="D97706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Única escrita: feedback</a:t>
            </a:r>
            <a:endParaRPr lang="en-US" sz="713" dirty="0"/>
          </a:p>
          <a:p>
            <a:pPr algn="l" indent="0" marL="0">
              <a:lnSpc>
                <a:spcPts val="891"/>
              </a:lnSpc>
              <a:buNone/>
            </a:pPr>
            <a:r>
              <a:rPr lang="en-US" sz="713" dirty="0">
                <a:solidFill>
                  <a:srgbClr val="D97706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idempotente de hipótese.</a:t>
            </a:r>
            <a:endParaRPr lang="en-US" sz="713" dirty="0"/>
          </a:p>
        </p:txBody>
      </p:sp>
      <p:sp>
        <p:nvSpPr>
          <p:cNvPr id="50" name="Shape 43"/>
          <p:cNvSpPr/>
          <p:nvPr/>
        </p:nvSpPr>
        <p:spPr>
          <a:xfrm>
            <a:off x="6286500" y="3333750"/>
            <a:ext cx="2476500" cy="1309688"/>
          </a:xfrm>
          <a:prstGeom prst="roundRect">
            <a:avLst>
              <a:gd name="adj" fmla="val 16756"/>
            </a:avLst>
          </a:prstGeom>
          <a:solidFill>
            <a:srgbClr val="FF0000">
              <a:alpha val="18000"/>
            </a:srgbClr>
          </a:solidFill>
          <a:ln w="6787">
            <a:solidFill>
              <a:srgbClr val="FF0000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6419850" y="3467100"/>
            <a:ext cx="22098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6"/>
              </a:lnSpc>
              <a:buNone/>
            </a:pPr>
            <a:r>
              <a:rPr lang="en-US" sz="1069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RDS POSTGRESQL</a:t>
            </a:r>
            <a:endParaRPr lang="en-US" sz="1069" dirty="0"/>
          </a:p>
        </p:txBody>
      </p:sp>
      <p:sp>
        <p:nvSpPr>
          <p:cNvPr id="52" name="Text 45"/>
          <p:cNvSpPr/>
          <p:nvPr/>
        </p:nvSpPr>
        <p:spPr>
          <a:xfrm>
            <a:off x="6419850" y="3705225"/>
            <a:ext cx="22098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1"/>
              </a:lnSpc>
              <a:buNone/>
            </a:pPr>
            <a:r>
              <a:rPr lang="en-US" sz="784" b="1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views v_* de silver · gold · sim</a:t>
            </a:r>
            <a:endParaRPr lang="en-US" sz="784" dirty="0"/>
          </a:p>
        </p:txBody>
      </p:sp>
      <p:sp>
        <p:nvSpPr>
          <p:cNvPr id="53" name="Text 46"/>
          <p:cNvSpPr/>
          <p:nvPr/>
        </p:nvSpPr>
        <p:spPr>
          <a:xfrm>
            <a:off x="6419850" y="3952875"/>
            <a:ext cx="2209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0"/>
              </a:lnSpc>
              <a:buNone/>
            </a:pPr>
            <a:r>
              <a:rPr lang="en-US" sz="748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available_at ≤ sim.now()</a:t>
            </a:r>
            <a:endParaRPr lang="en-US" sz="748" dirty="0"/>
          </a:p>
          <a:p>
            <a:pPr algn="ctr" indent="0" marL="0">
              <a:lnSpc>
                <a:spcPts val="1010"/>
              </a:lnSpc>
              <a:buNone/>
            </a:pPr>
            <a:r>
              <a:rPr lang="en-US" sz="748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argus_reader: SELECT apenas nas views</a:t>
            </a:r>
            <a:endParaRPr lang="en-US" sz="748" dirty="0"/>
          </a:p>
        </p:txBody>
      </p:sp>
      <p:pic>
        <p:nvPicPr>
          <p:cNvPr id="5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552950" y="2862263"/>
            <a:ext cx="3419475" cy="538163"/>
          </a:xfrm>
          <a:prstGeom prst="rect">
            <a:avLst/>
          </a:prstGeom>
        </p:spPr>
      </p:pic>
      <p:sp>
        <p:nvSpPr>
          <p:cNvPr id="55" name="Text 47"/>
          <p:cNvSpPr/>
          <p:nvPr/>
        </p:nvSpPr>
        <p:spPr>
          <a:xfrm>
            <a:off x="5762625" y="3024188"/>
            <a:ext cx="8572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4"/>
              </a:lnSpc>
              <a:buNone/>
            </a:pPr>
            <a:r>
              <a:rPr lang="en-US" sz="713" b="1" dirty="0">
                <a:solidFill>
                  <a:srgbClr val="94A3B8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realização</a:t>
            </a:r>
            <a:endParaRPr lang="en-US" sz="713" dirty="0"/>
          </a:p>
        </p:txBody>
      </p:sp>
      <p:pic>
        <p:nvPicPr>
          <p:cNvPr id="56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767388" y="3838575"/>
            <a:ext cx="600075" cy="133350"/>
          </a:xfrm>
          <a:prstGeom prst="rect">
            <a:avLst/>
          </a:prstGeom>
        </p:spPr>
      </p:pic>
      <p:sp>
        <p:nvSpPr>
          <p:cNvPr id="57" name="Text 48"/>
          <p:cNvSpPr/>
          <p:nvPr/>
        </p:nvSpPr>
        <p:spPr>
          <a:xfrm>
            <a:off x="5738813" y="3767138"/>
            <a:ext cx="5715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4"/>
              </a:lnSpc>
              <a:buNone/>
            </a:pPr>
            <a:r>
              <a:rPr lang="en-US" sz="713" b="1" dirty="0">
                <a:solidFill>
                  <a:srgbClr val="FF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consulta</a:t>
            </a:r>
            <a:endParaRPr lang="en-US" sz="713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242888"/>
            <a:ext cx="1457325" cy="223838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381000" y="247650"/>
            <a:ext cx="247650" cy="214313"/>
          </a:xfrm>
          <a:prstGeom prst="roundRect">
            <a:avLst>
              <a:gd name="adj" fmla="val 34133"/>
            </a:avLst>
          </a:prstGeom>
          <a:solidFill>
            <a:srgbClr val="FF000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1012" y="326231"/>
            <a:ext cx="47625" cy="571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" y="242888"/>
            <a:ext cx="1152525" cy="223838"/>
          </a:xfrm>
          <a:prstGeom prst="rect">
            <a:avLst/>
          </a:prstGeom>
          <a:noFill/>
          <a:ln/>
        </p:spPr>
      </p:sp>
      <p:sp>
        <p:nvSpPr>
          <p:cNvPr id="6" name="Text 3"/>
          <p:cNvSpPr/>
          <p:nvPr/>
        </p:nvSpPr>
        <p:spPr>
          <a:xfrm>
            <a:off x="685800" y="242888"/>
            <a:ext cx="10763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0"/>
              </a:lnSpc>
              <a:buNone/>
            </a:pPr>
            <a:r>
              <a:rPr lang="en-US" sz="1283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globoplay</a:t>
            </a:r>
            <a:endParaRPr lang="en-US" sz="1283" dirty="0"/>
          </a:p>
        </p:txBody>
      </p:sp>
      <p:sp>
        <p:nvSpPr>
          <p:cNvPr id="7" name="Text 4"/>
          <p:cNvSpPr/>
          <p:nvPr/>
        </p:nvSpPr>
        <p:spPr>
          <a:xfrm>
            <a:off x="1790700" y="242888"/>
            <a:ext cx="47625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buNone/>
            </a:pPr>
            <a:r>
              <a:rPr lang="en-US" sz="1283" dirty="0">
                <a:solidFill>
                  <a:srgbClr val="FF0000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|</a:t>
            </a:r>
            <a:endParaRPr lang="en-US" sz="1283" dirty="0"/>
          </a:p>
        </p:txBody>
      </p:sp>
      <p:sp>
        <p:nvSpPr>
          <p:cNvPr id="8" name="Shape 5"/>
          <p:cNvSpPr/>
          <p:nvPr/>
        </p:nvSpPr>
        <p:spPr>
          <a:xfrm>
            <a:off x="7620000" y="-857250"/>
            <a:ext cx="2000250" cy="2000250"/>
          </a:xfrm>
          <a:prstGeom prst="ellipse">
            <a:avLst/>
          </a:prstGeom>
          <a:noFill/>
          <a:ln w="208121">
            <a:solidFill>
              <a:srgbClr val="59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1000" y="628650"/>
            <a:ext cx="83820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2"/>
              </a:lnSpc>
              <a:buNone/>
            </a:pPr>
            <a:r>
              <a:rPr lang="en-US" sz="784" dirty="0">
                <a:solidFill>
                  <a:srgbClr val="FF0A05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UML · DIAGRAMA DE SEQUÊNCIA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381000" y="823913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4"/>
              </a:lnSpc>
              <a:buNone/>
            </a:pPr>
            <a:r>
              <a:rPr lang="en-US" sz="1995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Do evento à consulta no dashboard</a:t>
            </a:r>
            <a:endParaRPr lang="en-US" sz="1995" dirty="0"/>
          </a:p>
        </p:txBody>
      </p:sp>
      <p:sp>
        <p:nvSpPr>
          <p:cNvPr id="11" name="Shape 8"/>
          <p:cNvSpPr/>
          <p:nvPr/>
        </p:nvSpPr>
        <p:spPr>
          <a:xfrm>
            <a:off x="381000" y="1343025"/>
            <a:ext cx="8382000" cy="9525"/>
          </a:xfrm>
          <a:prstGeom prst="rect">
            <a:avLst/>
          </a:prstGeom>
          <a:solidFill>
            <a:srgbClr val="59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523875" y="1571625"/>
            <a:ext cx="1000125" cy="276225"/>
          </a:xfrm>
          <a:prstGeom prst="roundRect">
            <a:avLst/>
          </a:prstGeom>
          <a:solidFill>
            <a:srgbClr val="141414"/>
          </a:solidFill>
          <a:ln/>
        </p:spPr>
      </p:sp>
      <p:sp>
        <p:nvSpPr>
          <p:cNvPr id="13" name="Text 10"/>
          <p:cNvSpPr/>
          <p:nvPr/>
        </p:nvSpPr>
        <p:spPr>
          <a:xfrm>
            <a:off x="523875" y="1652588"/>
            <a:ext cx="10001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39"/>
              </a:lnSpc>
              <a:buNone/>
            </a:pPr>
            <a:r>
              <a:rPr lang="en-US" sz="677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Produtor</a:t>
            </a:r>
            <a:endParaRPr lang="en-US" sz="677" dirty="0"/>
          </a:p>
        </p:txBody>
      </p:sp>
      <p:sp>
        <p:nvSpPr>
          <p:cNvPr id="14" name="Shape 11"/>
          <p:cNvSpPr/>
          <p:nvPr/>
        </p:nvSpPr>
        <p:spPr>
          <a:xfrm>
            <a:off x="1857375" y="1571625"/>
            <a:ext cx="1000125" cy="276225"/>
          </a:xfrm>
          <a:prstGeom prst="roundRect">
            <a:avLst/>
          </a:prstGeom>
          <a:solidFill>
            <a:srgbClr val="141414"/>
          </a:solidFill>
          <a:ln/>
        </p:spPr>
      </p:sp>
      <p:sp>
        <p:nvSpPr>
          <p:cNvPr id="15" name="Text 12"/>
          <p:cNvSpPr/>
          <p:nvPr/>
        </p:nvSpPr>
        <p:spPr>
          <a:xfrm>
            <a:off x="1857375" y="1652588"/>
            <a:ext cx="10001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39"/>
              </a:lnSpc>
              <a:buNone/>
            </a:pPr>
            <a:r>
              <a:rPr lang="en-US" sz="677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API Gateway</a:t>
            </a:r>
            <a:endParaRPr lang="en-US" sz="677" dirty="0"/>
          </a:p>
        </p:txBody>
      </p:sp>
      <p:sp>
        <p:nvSpPr>
          <p:cNvPr id="16" name="Shape 13"/>
          <p:cNvSpPr/>
          <p:nvPr/>
        </p:nvSpPr>
        <p:spPr>
          <a:xfrm>
            <a:off x="3190875" y="1571625"/>
            <a:ext cx="1000125" cy="276225"/>
          </a:xfrm>
          <a:prstGeom prst="roundRect">
            <a:avLst/>
          </a:prstGeom>
          <a:solidFill>
            <a:srgbClr val="141414"/>
          </a:solidFill>
          <a:ln/>
        </p:spPr>
      </p:sp>
      <p:sp>
        <p:nvSpPr>
          <p:cNvPr id="17" name="Text 14"/>
          <p:cNvSpPr/>
          <p:nvPr/>
        </p:nvSpPr>
        <p:spPr>
          <a:xfrm>
            <a:off x="3190875" y="1652588"/>
            <a:ext cx="10001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39"/>
              </a:lnSpc>
              <a:buNone/>
            </a:pPr>
            <a:r>
              <a:rPr lang="en-US" sz="677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SQS</a:t>
            </a:r>
            <a:endParaRPr lang="en-US" sz="677" dirty="0"/>
          </a:p>
        </p:txBody>
      </p:sp>
      <p:sp>
        <p:nvSpPr>
          <p:cNvPr id="18" name="Shape 15"/>
          <p:cNvSpPr/>
          <p:nvPr/>
        </p:nvSpPr>
        <p:spPr>
          <a:xfrm>
            <a:off x="4524375" y="1571625"/>
            <a:ext cx="1000125" cy="276225"/>
          </a:xfrm>
          <a:prstGeom prst="roundRect">
            <a:avLst/>
          </a:prstGeom>
          <a:solidFill>
            <a:srgbClr val="141414"/>
          </a:solidFill>
          <a:ln/>
        </p:spPr>
      </p:sp>
      <p:sp>
        <p:nvSpPr>
          <p:cNvPr id="19" name="Text 16"/>
          <p:cNvSpPr/>
          <p:nvPr/>
        </p:nvSpPr>
        <p:spPr>
          <a:xfrm>
            <a:off x="4524375" y="1652588"/>
            <a:ext cx="10001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39"/>
              </a:lnSpc>
              <a:buNone/>
            </a:pPr>
            <a:r>
              <a:rPr lang="en-US" sz="677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Worker</a:t>
            </a:r>
            <a:endParaRPr lang="en-US" sz="677" dirty="0"/>
          </a:p>
        </p:txBody>
      </p:sp>
      <p:sp>
        <p:nvSpPr>
          <p:cNvPr id="20" name="Shape 17"/>
          <p:cNvSpPr/>
          <p:nvPr/>
        </p:nvSpPr>
        <p:spPr>
          <a:xfrm>
            <a:off x="5857875" y="1571625"/>
            <a:ext cx="1000125" cy="276225"/>
          </a:xfrm>
          <a:prstGeom prst="roundRect">
            <a:avLst/>
          </a:prstGeom>
          <a:solidFill>
            <a:srgbClr val="141414"/>
          </a:solidFill>
          <a:ln/>
        </p:spPr>
      </p:sp>
      <p:sp>
        <p:nvSpPr>
          <p:cNvPr id="21" name="Text 18"/>
          <p:cNvSpPr/>
          <p:nvPr/>
        </p:nvSpPr>
        <p:spPr>
          <a:xfrm>
            <a:off x="5857875" y="1652588"/>
            <a:ext cx="10001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39"/>
              </a:lnSpc>
              <a:buNone/>
            </a:pPr>
            <a:r>
              <a:rPr lang="en-US" sz="677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PostgreSQL</a:t>
            </a:r>
            <a:endParaRPr lang="en-US" sz="677" dirty="0"/>
          </a:p>
        </p:txBody>
      </p:sp>
      <p:sp>
        <p:nvSpPr>
          <p:cNvPr id="22" name="Shape 19"/>
          <p:cNvSpPr/>
          <p:nvPr/>
        </p:nvSpPr>
        <p:spPr>
          <a:xfrm>
            <a:off x="7191375" y="1571625"/>
            <a:ext cx="1000125" cy="276225"/>
          </a:xfrm>
          <a:prstGeom prst="roundRect">
            <a:avLst/>
          </a:prstGeom>
          <a:solidFill>
            <a:srgbClr val="141414"/>
          </a:solidFill>
          <a:ln/>
        </p:spPr>
      </p:sp>
      <p:sp>
        <p:nvSpPr>
          <p:cNvPr id="23" name="Text 20"/>
          <p:cNvSpPr/>
          <p:nvPr/>
        </p:nvSpPr>
        <p:spPr>
          <a:xfrm>
            <a:off x="7191375" y="1652588"/>
            <a:ext cx="10001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39"/>
              </a:lnSpc>
              <a:buNone/>
            </a:pPr>
            <a:r>
              <a:rPr lang="en-US" sz="677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Navegador/API</a:t>
            </a:r>
            <a:endParaRPr lang="en-US" sz="677" dirty="0"/>
          </a:p>
        </p:txBody>
      </p:sp>
      <p:sp>
        <p:nvSpPr>
          <p:cNvPr id="24" name="Shape 21"/>
          <p:cNvSpPr/>
          <p:nvPr/>
        </p:nvSpPr>
        <p:spPr>
          <a:xfrm>
            <a:off x="1023938" y="2071688"/>
            <a:ext cx="1333500" cy="0"/>
          </a:xfrm>
          <a:prstGeom prst="line">
            <a:avLst/>
          </a:prstGeom>
          <a:noFill/>
          <a:ln w="13573">
            <a:solidFill>
              <a:srgbClr val="FF0A05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357438" y="2038350"/>
            <a:ext cx="79446" cy="74153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081088" y="1943100"/>
            <a:ext cx="1219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641" dirty="0">
                <a:solidFill>
                  <a:srgbClr val="EBEBE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POST /v1/events</a:t>
            </a:r>
            <a:endParaRPr lang="en-US" sz="641" dirty="0"/>
          </a:p>
        </p:txBody>
      </p:sp>
      <p:sp>
        <p:nvSpPr>
          <p:cNvPr id="27" name="Shape 23"/>
          <p:cNvSpPr/>
          <p:nvPr/>
        </p:nvSpPr>
        <p:spPr>
          <a:xfrm>
            <a:off x="2357438" y="2357438"/>
            <a:ext cx="1333500" cy="0"/>
          </a:xfrm>
          <a:prstGeom prst="line">
            <a:avLst/>
          </a:prstGeom>
          <a:noFill/>
          <a:ln w="13573">
            <a:solidFill>
              <a:srgbClr val="FF0A05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686175" y="2319338"/>
            <a:ext cx="79446" cy="74153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2414588" y="2228850"/>
            <a:ext cx="1219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641" dirty="0">
                <a:solidFill>
                  <a:srgbClr val="EBEBE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SendMessage</a:t>
            </a:r>
            <a:endParaRPr lang="en-US" sz="641" dirty="0"/>
          </a:p>
        </p:txBody>
      </p:sp>
      <p:sp>
        <p:nvSpPr>
          <p:cNvPr id="30" name="Shape 25"/>
          <p:cNvSpPr/>
          <p:nvPr/>
        </p:nvSpPr>
        <p:spPr>
          <a:xfrm rot="-10800000">
            <a:off x="1023938" y="2619375"/>
            <a:ext cx="1333500" cy="0"/>
          </a:xfrm>
          <a:prstGeom prst="line">
            <a:avLst/>
          </a:prstGeom>
          <a:noFill/>
          <a:ln w="13573">
            <a:solidFill>
              <a:srgbClr val="ADADAD"/>
            </a:solidFill>
            <a:prstDash val="lgDash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57263" y="2590800"/>
            <a:ext cx="79446" cy="74153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081088" y="2490788"/>
            <a:ext cx="1219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641" dirty="0">
                <a:solidFill>
                  <a:srgbClr val="EBEBE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HTTP 202 · aceito na fila</a:t>
            </a:r>
            <a:endParaRPr lang="en-US" sz="641" dirty="0"/>
          </a:p>
        </p:txBody>
      </p:sp>
      <p:sp>
        <p:nvSpPr>
          <p:cNvPr id="33" name="Shape 27"/>
          <p:cNvSpPr/>
          <p:nvPr/>
        </p:nvSpPr>
        <p:spPr>
          <a:xfrm>
            <a:off x="3690937" y="2905125"/>
            <a:ext cx="1333500" cy="0"/>
          </a:xfrm>
          <a:prstGeom prst="line">
            <a:avLst/>
          </a:prstGeom>
          <a:noFill/>
          <a:ln w="13573">
            <a:solidFill>
              <a:srgbClr val="FF0A05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024438" y="2867025"/>
            <a:ext cx="79446" cy="74153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3748087" y="2776538"/>
            <a:ext cx="1219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641" dirty="0">
                <a:solidFill>
                  <a:srgbClr val="EBEBE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Poll e entrega</a:t>
            </a:r>
            <a:endParaRPr lang="en-US" sz="641" dirty="0"/>
          </a:p>
        </p:txBody>
      </p:sp>
      <p:sp>
        <p:nvSpPr>
          <p:cNvPr id="36" name="Shape 29"/>
          <p:cNvSpPr/>
          <p:nvPr/>
        </p:nvSpPr>
        <p:spPr>
          <a:xfrm>
            <a:off x="5024438" y="3190875"/>
            <a:ext cx="1333500" cy="0"/>
          </a:xfrm>
          <a:prstGeom prst="line">
            <a:avLst/>
          </a:prstGeom>
          <a:noFill/>
          <a:ln w="13573">
            <a:solidFill>
              <a:srgbClr val="FF0A05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357938" y="3152775"/>
            <a:ext cx="79446" cy="74153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5081588" y="3062288"/>
            <a:ext cx="1219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641" dirty="0">
                <a:solidFill>
                  <a:srgbClr val="EBEBE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valida + grava bronze.event</a:t>
            </a:r>
            <a:endParaRPr lang="en-US" sz="641" dirty="0"/>
          </a:p>
        </p:txBody>
      </p:sp>
      <p:sp>
        <p:nvSpPr>
          <p:cNvPr id="39" name="Shape 31"/>
          <p:cNvSpPr/>
          <p:nvPr/>
        </p:nvSpPr>
        <p:spPr>
          <a:xfrm rot="-10800000">
            <a:off x="3690937" y="3452813"/>
            <a:ext cx="1333500" cy="0"/>
          </a:xfrm>
          <a:prstGeom prst="line">
            <a:avLst/>
          </a:prstGeom>
          <a:noFill/>
          <a:ln w="13573">
            <a:solidFill>
              <a:srgbClr val="ADADAD"/>
            </a:solidFill>
            <a:prstDash val="lgDash"/>
          </a:ln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3624263" y="3424238"/>
            <a:ext cx="79446" cy="74153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3762375" y="3228975"/>
            <a:ext cx="1219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641" dirty="0">
                <a:solidFill>
                  <a:srgbClr val="EBEBE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 remove mensagem processada</a:t>
            </a:r>
            <a:endParaRPr lang="en-US" sz="641" dirty="0"/>
          </a:p>
        </p:txBody>
      </p:sp>
      <p:sp>
        <p:nvSpPr>
          <p:cNvPr id="42" name="Shape 33"/>
          <p:cNvSpPr/>
          <p:nvPr/>
        </p:nvSpPr>
        <p:spPr>
          <a:xfrm rot="-10800000">
            <a:off x="6357938" y="3762375"/>
            <a:ext cx="1333500" cy="0"/>
          </a:xfrm>
          <a:prstGeom prst="line">
            <a:avLst/>
          </a:prstGeom>
          <a:noFill/>
          <a:ln w="13573">
            <a:solidFill>
              <a:srgbClr val="61B2F2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286500" y="3733800"/>
            <a:ext cx="79446" cy="74153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6415088" y="3633788"/>
            <a:ext cx="1219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641" dirty="0">
                <a:solidFill>
                  <a:srgbClr val="EBEBE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 GET /api/v1/... · Bearer</a:t>
            </a:r>
            <a:endParaRPr lang="en-US" sz="641" dirty="0"/>
          </a:p>
        </p:txBody>
      </p:sp>
      <p:sp>
        <p:nvSpPr>
          <p:cNvPr id="45" name="Shape 35"/>
          <p:cNvSpPr/>
          <p:nvPr/>
        </p:nvSpPr>
        <p:spPr>
          <a:xfrm>
            <a:off x="6357938" y="4048125"/>
            <a:ext cx="1333500" cy="0"/>
          </a:xfrm>
          <a:prstGeom prst="line">
            <a:avLst/>
          </a:prstGeom>
          <a:noFill/>
          <a:ln w="13573">
            <a:solidFill>
              <a:srgbClr val="61B2F2"/>
            </a:solidFill>
            <a:prstDash val="lgDash"/>
          </a:ln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7691438" y="4010025"/>
            <a:ext cx="79446" cy="74154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6415088" y="3919537"/>
            <a:ext cx="1219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641" dirty="0">
                <a:solidFill>
                  <a:srgbClr val="EBEBE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 consulta views v_* + JSON</a:t>
            </a:r>
            <a:endParaRPr lang="en-US" sz="641" dirty="0"/>
          </a:p>
        </p:txBody>
      </p:sp>
      <p:sp>
        <p:nvSpPr>
          <p:cNvPr id="48" name="Text 37"/>
          <p:cNvSpPr/>
          <p:nvPr/>
        </p:nvSpPr>
        <p:spPr>
          <a:xfrm>
            <a:off x="523875" y="4629150"/>
            <a:ext cx="7143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2"/>
              </a:lnSpc>
              <a:buNone/>
            </a:pPr>
            <a:r>
              <a:rPr lang="en-US" sz="713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202 confirma entrada na fila — a persistência é comprovada somente depois, no banco.</a:t>
            </a:r>
            <a:endParaRPr lang="en-US" sz="713" dirty="0"/>
          </a:p>
        </p:txBody>
      </p:sp>
      <p:sp>
        <p:nvSpPr>
          <p:cNvPr id="49" name="Shape 38"/>
          <p:cNvSpPr/>
          <p:nvPr/>
        </p:nvSpPr>
        <p:spPr>
          <a:xfrm>
            <a:off x="1023938" y="1905000"/>
            <a:ext cx="9525" cy="2524125"/>
          </a:xfrm>
          <a:prstGeom prst="rect">
            <a:avLst/>
          </a:prstGeom>
          <a:solidFill>
            <a:srgbClr val="6B6B6B">
              <a:alpha val="70000"/>
            </a:srgbClr>
          </a:solidFill>
          <a:ln/>
        </p:spPr>
      </p:sp>
      <p:sp>
        <p:nvSpPr>
          <p:cNvPr id="50" name="Shape 39"/>
          <p:cNvSpPr/>
          <p:nvPr/>
        </p:nvSpPr>
        <p:spPr>
          <a:xfrm>
            <a:off x="2357438" y="1905000"/>
            <a:ext cx="9525" cy="2524125"/>
          </a:xfrm>
          <a:prstGeom prst="rect">
            <a:avLst/>
          </a:prstGeom>
          <a:solidFill>
            <a:srgbClr val="6B6B6B">
              <a:alpha val="70000"/>
            </a:srgbClr>
          </a:solidFill>
          <a:ln/>
        </p:spPr>
      </p:sp>
      <p:sp>
        <p:nvSpPr>
          <p:cNvPr id="51" name="Shape 40"/>
          <p:cNvSpPr/>
          <p:nvPr/>
        </p:nvSpPr>
        <p:spPr>
          <a:xfrm>
            <a:off x="3690937" y="1905000"/>
            <a:ext cx="9525" cy="2524125"/>
          </a:xfrm>
          <a:prstGeom prst="rect">
            <a:avLst/>
          </a:prstGeom>
          <a:solidFill>
            <a:srgbClr val="6B6B6B">
              <a:alpha val="70000"/>
            </a:srgbClr>
          </a:solidFill>
          <a:ln/>
        </p:spPr>
      </p:sp>
      <p:sp>
        <p:nvSpPr>
          <p:cNvPr id="52" name="Shape 41"/>
          <p:cNvSpPr/>
          <p:nvPr/>
        </p:nvSpPr>
        <p:spPr>
          <a:xfrm>
            <a:off x="5024438" y="1905000"/>
            <a:ext cx="9525" cy="2524125"/>
          </a:xfrm>
          <a:prstGeom prst="rect">
            <a:avLst/>
          </a:prstGeom>
          <a:solidFill>
            <a:srgbClr val="6B6B6B">
              <a:alpha val="70000"/>
            </a:srgbClr>
          </a:solidFill>
          <a:ln/>
        </p:spPr>
      </p:sp>
      <p:sp>
        <p:nvSpPr>
          <p:cNvPr id="53" name="Shape 42"/>
          <p:cNvSpPr/>
          <p:nvPr/>
        </p:nvSpPr>
        <p:spPr>
          <a:xfrm>
            <a:off x="6357938" y="1905000"/>
            <a:ext cx="9525" cy="2524125"/>
          </a:xfrm>
          <a:prstGeom prst="rect">
            <a:avLst/>
          </a:prstGeom>
          <a:solidFill>
            <a:srgbClr val="6B6B6B">
              <a:alpha val="70000"/>
            </a:srgbClr>
          </a:solidFill>
          <a:ln/>
        </p:spPr>
      </p:sp>
      <p:sp>
        <p:nvSpPr>
          <p:cNvPr id="54" name="Shape 43"/>
          <p:cNvSpPr/>
          <p:nvPr/>
        </p:nvSpPr>
        <p:spPr>
          <a:xfrm>
            <a:off x="7691438" y="1905000"/>
            <a:ext cx="9525" cy="2524125"/>
          </a:xfrm>
          <a:prstGeom prst="rect">
            <a:avLst/>
          </a:prstGeom>
          <a:solidFill>
            <a:srgbClr val="6B6B6B">
              <a:alpha val="70000"/>
            </a:srgbClr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04875" y="3095625"/>
            <a:ext cx="2476500" cy="2476500"/>
          </a:xfrm>
          <a:prstGeom prst="ellipse">
            <a:avLst/>
          </a:prstGeom>
          <a:noFill/>
          <a:ln w="271463">
            <a:solidFill>
              <a:srgbClr val="59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91375" y="-762000"/>
            <a:ext cx="2381250" cy="2381250"/>
          </a:xfrm>
          <a:prstGeom prst="ellipse">
            <a:avLst/>
          </a:prstGeom>
          <a:noFill/>
          <a:ln w="190024">
            <a:solidFill>
              <a:srgbClr val="FF0A0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1500" y="1428750"/>
            <a:ext cx="6905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9"/>
              </a:lnSpc>
              <a:buNone/>
            </a:pPr>
            <a:r>
              <a:rPr lang="en-US" sz="926" dirty="0">
                <a:solidFill>
                  <a:srgbClr val="FF0A05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VALIDAÇÃO DOS REQUISITOS NÃO FUNCIONAIS</a:t>
            </a:r>
            <a:endParaRPr lang="en-US" sz="926" dirty="0"/>
          </a:p>
        </p:txBody>
      </p:sp>
      <p:sp>
        <p:nvSpPr>
          <p:cNvPr id="5" name="Text 3"/>
          <p:cNvSpPr/>
          <p:nvPr/>
        </p:nvSpPr>
        <p:spPr>
          <a:xfrm>
            <a:off x="571500" y="1785938"/>
            <a:ext cx="690562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38"/>
              </a:lnSpc>
              <a:buNone/>
            </a:pPr>
            <a:r>
              <a:rPr lang="en-US" sz="3741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TESTES K6</a:t>
            </a:r>
            <a:endParaRPr lang="en-US" sz="3741" dirty="0"/>
          </a:p>
        </p:txBody>
      </p:sp>
      <p:sp>
        <p:nvSpPr>
          <p:cNvPr id="6" name="Text 4"/>
          <p:cNvSpPr/>
          <p:nvPr/>
        </p:nvSpPr>
        <p:spPr>
          <a:xfrm>
            <a:off x="600075" y="2595563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7"/>
              </a:lnSpc>
              <a:buNone/>
            </a:pPr>
            <a:r>
              <a:rPr lang="en-US" sz="1104" dirty="0">
                <a:solidFill>
                  <a:srgbClr val="ADADAD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Carga, tempo de resposta, escala e recuperação</a:t>
            </a:r>
            <a:endParaRPr lang="en-US" sz="1104" dirty="0"/>
          </a:p>
        </p:txBody>
      </p:sp>
      <p:sp>
        <p:nvSpPr>
          <p:cNvPr id="7" name="Shape 5"/>
          <p:cNvSpPr/>
          <p:nvPr/>
        </p:nvSpPr>
        <p:spPr>
          <a:xfrm>
            <a:off x="600075" y="3000375"/>
            <a:ext cx="2476500" cy="47625"/>
          </a:xfrm>
          <a:prstGeom prst="roundRect">
            <a:avLst/>
          </a:prstGeom>
          <a:solidFill>
            <a:srgbClr val="FF0A05"/>
          </a:solidFill>
          <a:ln/>
        </p:spPr>
      </p:sp>
      <p:sp>
        <p:nvSpPr>
          <p:cNvPr id="8" name="Shape 6"/>
          <p:cNvSpPr/>
          <p:nvPr/>
        </p:nvSpPr>
        <p:spPr>
          <a:xfrm>
            <a:off x="381000" y="242888"/>
            <a:ext cx="1457325" cy="223838"/>
          </a:xfrm>
          <a:prstGeom prst="rect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381000" y="247650"/>
            <a:ext cx="247650" cy="214313"/>
          </a:xfrm>
          <a:prstGeom prst="roundRect">
            <a:avLst>
              <a:gd name="adj" fmla="val 34133"/>
            </a:avLst>
          </a:prstGeom>
          <a:solidFill>
            <a:srgbClr val="FF000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1012" y="326231"/>
            <a:ext cx="47625" cy="5715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85800" y="242888"/>
            <a:ext cx="1152525" cy="223838"/>
          </a:xfrm>
          <a:prstGeom prst="rect">
            <a:avLst/>
          </a:prstGeom>
          <a:noFill/>
          <a:ln/>
        </p:spPr>
      </p:sp>
      <p:sp>
        <p:nvSpPr>
          <p:cNvPr id="12" name="Text 9"/>
          <p:cNvSpPr/>
          <p:nvPr/>
        </p:nvSpPr>
        <p:spPr>
          <a:xfrm>
            <a:off x="685800" y="242888"/>
            <a:ext cx="10763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0"/>
              </a:lnSpc>
              <a:buNone/>
            </a:pPr>
            <a:r>
              <a:rPr lang="en-US" sz="1283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globoplay</a:t>
            </a:r>
            <a:endParaRPr lang="en-US" sz="1283" dirty="0"/>
          </a:p>
        </p:txBody>
      </p:sp>
      <p:sp>
        <p:nvSpPr>
          <p:cNvPr id="13" name="Text 10"/>
          <p:cNvSpPr/>
          <p:nvPr/>
        </p:nvSpPr>
        <p:spPr>
          <a:xfrm>
            <a:off x="1790700" y="242888"/>
            <a:ext cx="47625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buNone/>
            </a:pPr>
            <a:r>
              <a:rPr lang="en-US" sz="1283" dirty="0">
                <a:solidFill>
                  <a:srgbClr val="FF0000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|</a:t>
            </a:r>
            <a:endParaRPr lang="en-US" sz="1283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0" y="-857250"/>
            <a:ext cx="2000250" cy="2000250"/>
          </a:xfrm>
          <a:prstGeom prst="ellipse">
            <a:avLst/>
          </a:prstGeom>
          <a:noFill/>
          <a:ln w="208121">
            <a:solidFill>
              <a:srgbClr val="59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1000" y="628650"/>
            <a:ext cx="83820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2"/>
              </a:lnSpc>
              <a:buNone/>
            </a:pPr>
            <a:r>
              <a:rPr lang="en-US" sz="784" dirty="0">
                <a:solidFill>
                  <a:srgbClr val="FF0A05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 QUE FOI TESTADO</a:t>
            </a:r>
            <a:endParaRPr lang="en-US" sz="784" dirty="0"/>
          </a:p>
        </p:txBody>
      </p:sp>
      <p:sp>
        <p:nvSpPr>
          <p:cNvPr id="4" name="Text 2"/>
          <p:cNvSpPr/>
          <p:nvPr/>
        </p:nvSpPr>
        <p:spPr>
          <a:xfrm>
            <a:off x="381000" y="823913"/>
            <a:ext cx="7620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2"/>
              </a:lnSpc>
              <a:buNone/>
            </a:pPr>
            <a:r>
              <a:rPr lang="en-US" sz="2066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Cinco RNFs, três perguntas simples</a:t>
            </a:r>
            <a:endParaRPr lang="en-US" sz="2066" dirty="0"/>
          </a:p>
        </p:txBody>
      </p:sp>
      <p:sp>
        <p:nvSpPr>
          <p:cNvPr id="5" name="Shape 3"/>
          <p:cNvSpPr/>
          <p:nvPr/>
        </p:nvSpPr>
        <p:spPr>
          <a:xfrm>
            <a:off x="381000" y="1343025"/>
            <a:ext cx="8382000" cy="9525"/>
          </a:xfrm>
          <a:prstGeom prst="rect">
            <a:avLst/>
          </a:prstGeom>
          <a:solidFill>
            <a:srgbClr val="590000"/>
          </a:solidFill>
          <a:ln/>
        </p:spPr>
      </p:sp>
      <p:sp>
        <p:nvSpPr>
          <p:cNvPr id="6" name="Shape 4"/>
          <p:cNvSpPr/>
          <p:nvPr/>
        </p:nvSpPr>
        <p:spPr>
          <a:xfrm>
            <a:off x="381000" y="1666875"/>
            <a:ext cx="2476500" cy="2047875"/>
          </a:xfrm>
          <a:prstGeom prst="roundRect">
            <a:avLst>
              <a:gd name="adj" fmla="val 9823"/>
            </a:avLst>
          </a:prstGeom>
          <a:solidFill>
            <a:srgbClr val="141414"/>
          </a:solidFill>
          <a:ln/>
        </p:spPr>
      </p:sp>
      <p:sp>
        <p:nvSpPr>
          <p:cNvPr id="7" name="Shape 5"/>
          <p:cNvSpPr/>
          <p:nvPr/>
        </p:nvSpPr>
        <p:spPr>
          <a:xfrm>
            <a:off x="381000" y="1666875"/>
            <a:ext cx="47625" cy="2047875"/>
          </a:xfrm>
          <a:prstGeom prst="roundRect">
            <a:avLst/>
          </a:prstGeom>
          <a:solidFill>
            <a:srgbClr val="FF0A05"/>
          </a:solidFill>
          <a:ln/>
        </p:spPr>
      </p:sp>
      <p:sp>
        <p:nvSpPr>
          <p:cNvPr id="8" name="Text 6"/>
          <p:cNvSpPr/>
          <p:nvPr/>
        </p:nvSpPr>
        <p:spPr>
          <a:xfrm>
            <a:off x="552450" y="1819275"/>
            <a:ext cx="21336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7"/>
              </a:lnSpc>
              <a:buNone/>
            </a:pPr>
            <a:r>
              <a:rPr lang="en-US" sz="998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 sistema aguenta?</a:t>
            </a:r>
            <a:endParaRPr lang="en-US" sz="998" dirty="0"/>
          </a:p>
        </p:txBody>
      </p:sp>
      <p:sp>
        <p:nvSpPr>
          <p:cNvPr id="9" name="Text 7"/>
          <p:cNvSpPr/>
          <p:nvPr/>
        </p:nvSpPr>
        <p:spPr>
          <a:xfrm>
            <a:off x="552450" y="2114550"/>
            <a:ext cx="21336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ADADAD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RNF01 mede capacidade.</a:t>
            </a:r>
            <a:endParaRPr lang="en-US" sz="784" dirty="0"/>
          </a:p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ADADAD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RNF03 verifica se dobrar recursos permite dobrar a carga.</a:t>
            </a:r>
            <a:endParaRPr lang="en-US" sz="784" dirty="0"/>
          </a:p>
        </p:txBody>
      </p:sp>
      <p:sp>
        <p:nvSpPr>
          <p:cNvPr id="10" name="Shape 8"/>
          <p:cNvSpPr/>
          <p:nvPr/>
        </p:nvSpPr>
        <p:spPr>
          <a:xfrm>
            <a:off x="552450" y="3419475"/>
            <a:ext cx="762000" cy="180975"/>
          </a:xfrm>
          <a:prstGeom prst="roundRect">
            <a:avLst/>
          </a:prstGeom>
          <a:solidFill>
            <a:srgbClr val="47DB94"/>
          </a:solidFill>
          <a:ln/>
        </p:spPr>
      </p:sp>
      <p:sp>
        <p:nvSpPr>
          <p:cNvPr id="11" name="Text 9"/>
          <p:cNvSpPr/>
          <p:nvPr/>
        </p:nvSpPr>
        <p:spPr>
          <a:xfrm>
            <a:off x="552450" y="3457575"/>
            <a:ext cx="762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90"/>
              </a:lnSpc>
              <a:buNone/>
            </a:pPr>
            <a:r>
              <a:rPr lang="en-US" sz="570" b="1" dirty="0">
                <a:solidFill>
                  <a:srgbClr val="06060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APROVADO</a:t>
            </a:r>
            <a:endParaRPr lang="en-US" sz="570" dirty="0"/>
          </a:p>
        </p:txBody>
      </p:sp>
      <p:sp>
        <p:nvSpPr>
          <p:cNvPr id="12" name="Shape 10"/>
          <p:cNvSpPr/>
          <p:nvPr/>
        </p:nvSpPr>
        <p:spPr>
          <a:xfrm>
            <a:off x="2952750" y="1666875"/>
            <a:ext cx="2476500" cy="2047875"/>
          </a:xfrm>
          <a:prstGeom prst="roundRect">
            <a:avLst>
              <a:gd name="adj" fmla="val 9823"/>
            </a:avLst>
          </a:prstGeom>
          <a:solidFill>
            <a:srgbClr val="141414"/>
          </a:solidFill>
          <a:ln/>
        </p:spPr>
      </p:sp>
      <p:sp>
        <p:nvSpPr>
          <p:cNvPr id="13" name="Shape 11"/>
          <p:cNvSpPr/>
          <p:nvPr/>
        </p:nvSpPr>
        <p:spPr>
          <a:xfrm>
            <a:off x="2952750" y="1666875"/>
            <a:ext cx="47625" cy="2047875"/>
          </a:xfrm>
          <a:prstGeom prst="roundRect">
            <a:avLst/>
          </a:prstGeom>
          <a:solidFill>
            <a:srgbClr val="FF0A05"/>
          </a:solidFill>
          <a:ln/>
        </p:spPr>
      </p:sp>
      <p:sp>
        <p:nvSpPr>
          <p:cNvPr id="14" name="Text 12"/>
          <p:cNvSpPr/>
          <p:nvPr/>
        </p:nvSpPr>
        <p:spPr>
          <a:xfrm>
            <a:off x="3124200" y="1819275"/>
            <a:ext cx="21336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7"/>
              </a:lnSpc>
              <a:buNone/>
            </a:pPr>
            <a:r>
              <a:rPr lang="en-US" sz="998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Responde rápido?</a:t>
            </a:r>
            <a:endParaRPr lang="en-US" sz="998" dirty="0"/>
          </a:p>
        </p:txBody>
      </p:sp>
      <p:sp>
        <p:nvSpPr>
          <p:cNvPr id="15" name="Text 13"/>
          <p:cNvSpPr/>
          <p:nvPr/>
        </p:nvSpPr>
        <p:spPr>
          <a:xfrm>
            <a:off x="3124200" y="2114550"/>
            <a:ext cx="21336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ADADAD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RNF02 executa consultas concorrentes e mede p95, p99 e o maior tempo observado.</a:t>
            </a:r>
            <a:endParaRPr lang="en-US" sz="784" dirty="0"/>
          </a:p>
        </p:txBody>
      </p:sp>
      <p:sp>
        <p:nvSpPr>
          <p:cNvPr id="16" name="Shape 14"/>
          <p:cNvSpPr/>
          <p:nvPr/>
        </p:nvSpPr>
        <p:spPr>
          <a:xfrm>
            <a:off x="3124200" y="3419475"/>
            <a:ext cx="762000" cy="180975"/>
          </a:xfrm>
          <a:prstGeom prst="roundRect">
            <a:avLst/>
          </a:prstGeom>
          <a:solidFill>
            <a:srgbClr val="47DB94"/>
          </a:solidFill>
          <a:ln/>
        </p:spPr>
      </p:sp>
      <p:sp>
        <p:nvSpPr>
          <p:cNvPr id="17" name="Text 15"/>
          <p:cNvSpPr/>
          <p:nvPr/>
        </p:nvSpPr>
        <p:spPr>
          <a:xfrm>
            <a:off x="3124200" y="3457575"/>
            <a:ext cx="762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90"/>
              </a:lnSpc>
              <a:buNone/>
            </a:pPr>
            <a:r>
              <a:rPr lang="en-US" sz="570" b="1" dirty="0">
                <a:solidFill>
                  <a:srgbClr val="06060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APROVADO</a:t>
            </a:r>
            <a:endParaRPr lang="en-US" sz="570" dirty="0"/>
          </a:p>
        </p:txBody>
      </p:sp>
      <p:sp>
        <p:nvSpPr>
          <p:cNvPr id="18" name="Shape 16"/>
          <p:cNvSpPr/>
          <p:nvPr/>
        </p:nvSpPr>
        <p:spPr>
          <a:xfrm>
            <a:off x="5524500" y="1666875"/>
            <a:ext cx="2857500" cy="2047875"/>
          </a:xfrm>
          <a:prstGeom prst="roundRect">
            <a:avLst>
              <a:gd name="adj" fmla="val 9823"/>
            </a:avLst>
          </a:prstGeom>
          <a:solidFill>
            <a:srgbClr val="141414"/>
          </a:solidFill>
          <a:ln/>
        </p:spPr>
      </p:sp>
      <p:sp>
        <p:nvSpPr>
          <p:cNvPr id="19" name="Shape 17"/>
          <p:cNvSpPr/>
          <p:nvPr/>
        </p:nvSpPr>
        <p:spPr>
          <a:xfrm>
            <a:off x="5524500" y="1666875"/>
            <a:ext cx="47625" cy="2047875"/>
          </a:xfrm>
          <a:prstGeom prst="roundRect">
            <a:avLst/>
          </a:prstGeom>
          <a:solidFill>
            <a:srgbClr val="FF0A05"/>
          </a:solidFill>
          <a:ln/>
        </p:spPr>
      </p:sp>
      <p:sp>
        <p:nvSpPr>
          <p:cNvPr id="20" name="Text 18"/>
          <p:cNvSpPr/>
          <p:nvPr/>
        </p:nvSpPr>
        <p:spPr>
          <a:xfrm>
            <a:off x="5695950" y="1819275"/>
            <a:ext cx="25146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7"/>
              </a:lnSpc>
              <a:buNone/>
            </a:pPr>
            <a:r>
              <a:rPr lang="en-US" sz="998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 falhar, recupera?</a:t>
            </a:r>
            <a:endParaRPr lang="en-US" sz="998" dirty="0"/>
          </a:p>
        </p:txBody>
      </p:sp>
      <p:sp>
        <p:nvSpPr>
          <p:cNvPr id="21" name="Text 19"/>
          <p:cNvSpPr/>
          <p:nvPr/>
        </p:nvSpPr>
        <p:spPr>
          <a:xfrm>
            <a:off x="5695950" y="2114550"/>
            <a:ext cx="25146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ADADAD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RNF04 rejeita entradas inválidas.</a:t>
            </a:r>
            <a:endParaRPr lang="en-US" sz="784" dirty="0"/>
          </a:p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ADADAD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RNF05 força backlog e timeout.</a:t>
            </a:r>
            <a:endParaRPr lang="en-US" sz="784" dirty="0"/>
          </a:p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ADADAD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RNF11 verifica registros de falha.</a:t>
            </a:r>
            <a:endParaRPr lang="en-US" sz="784" dirty="0"/>
          </a:p>
        </p:txBody>
      </p:sp>
      <p:sp>
        <p:nvSpPr>
          <p:cNvPr id="22" name="Shape 20"/>
          <p:cNvSpPr/>
          <p:nvPr/>
        </p:nvSpPr>
        <p:spPr>
          <a:xfrm>
            <a:off x="5695950" y="3419475"/>
            <a:ext cx="762000" cy="180975"/>
          </a:xfrm>
          <a:prstGeom prst="roundRect">
            <a:avLst/>
          </a:prstGeom>
          <a:solidFill>
            <a:srgbClr val="FFA81F"/>
          </a:solidFill>
          <a:ln/>
        </p:spPr>
      </p:sp>
      <p:sp>
        <p:nvSpPr>
          <p:cNvPr id="23" name="Text 21"/>
          <p:cNvSpPr/>
          <p:nvPr/>
        </p:nvSpPr>
        <p:spPr>
          <a:xfrm>
            <a:off x="5695950" y="3457575"/>
            <a:ext cx="762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90"/>
              </a:lnSpc>
              <a:buNone/>
            </a:pPr>
            <a:r>
              <a:rPr lang="en-US" sz="570" b="1" dirty="0">
                <a:solidFill>
                  <a:srgbClr val="06060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PARCIAL</a:t>
            </a:r>
            <a:endParaRPr lang="en-US" sz="570" dirty="0"/>
          </a:p>
        </p:txBody>
      </p:sp>
      <p:sp>
        <p:nvSpPr>
          <p:cNvPr id="24" name="Text 22"/>
          <p:cNvSpPr/>
          <p:nvPr/>
        </p:nvSpPr>
        <p:spPr>
          <a:xfrm>
            <a:off x="381000" y="4024313"/>
            <a:ext cx="762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5"/>
              </a:lnSpc>
              <a:buNone/>
            </a:pPr>
            <a:r>
              <a:rPr lang="en-US" sz="748" dirty="0">
                <a:solidFill>
                  <a:srgbClr val="ADADAD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k6 mede o cliente; SQS, banco, DLQ e CloudWatch completam a prova do fluxo assíncrono.</a:t>
            </a:r>
            <a:endParaRPr lang="en-US" sz="748" dirty="0"/>
          </a:p>
        </p:txBody>
      </p:sp>
      <p:sp>
        <p:nvSpPr>
          <p:cNvPr id="25" name="Shape 23"/>
          <p:cNvSpPr/>
          <p:nvPr/>
        </p:nvSpPr>
        <p:spPr>
          <a:xfrm>
            <a:off x="381000" y="242888"/>
            <a:ext cx="1457325" cy="223838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381000" y="247650"/>
            <a:ext cx="247650" cy="214313"/>
          </a:xfrm>
          <a:prstGeom prst="roundRect">
            <a:avLst>
              <a:gd name="adj" fmla="val 34133"/>
            </a:avLst>
          </a:prstGeom>
          <a:solidFill>
            <a:srgbClr val="FF0000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1012" y="326231"/>
            <a:ext cx="47625" cy="5715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685800" y="242888"/>
            <a:ext cx="1152525" cy="223838"/>
          </a:xfrm>
          <a:prstGeom prst="rect">
            <a:avLst/>
          </a:prstGeom>
          <a:noFill/>
          <a:ln/>
        </p:spPr>
      </p:sp>
      <p:sp>
        <p:nvSpPr>
          <p:cNvPr id="29" name="Text 26"/>
          <p:cNvSpPr/>
          <p:nvPr/>
        </p:nvSpPr>
        <p:spPr>
          <a:xfrm>
            <a:off x="685800" y="242888"/>
            <a:ext cx="10763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0"/>
              </a:lnSpc>
              <a:buNone/>
            </a:pPr>
            <a:r>
              <a:rPr lang="en-US" sz="1283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globoplay</a:t>
            </a:r>
            <a:endParaRPr lang="en-US" sz="1283" dirty="0"/>
          </a:p>
        </p:txBody>
      </p:sp>
      <p:sp>
        <p:nvSpPr>
          <p:cNvPr id="30" name="Text 27"/>
          <p:cNvSpPr/>
          <p:nvPr/>
        </p:nvSpPr>
        <p:spPr>
          <a:xfrm>
            <a:off x="1790700" y="242888"/>
            <a:ext cx="47625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buNone/>
            </a:pPr>
            <a:r>
              <a:rPr lang="en-US" sz="1283" dirty="0">
                <a:solidFill>
                  <a:srgbClr val="FF0000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|</a:t>
            </a:r>
            <a:endParaRPr lang="en-US" sz="1283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0" y="-857250"/>
            <a:ext cx="2000250" cy="2000250"/>
          </a:xfrm>
          <a:prstGeom prst="ellipse">
            <a:avLst/>
          </a:prstGeom>
          <a:noFill/>
          <a:ln w="208121">
            <a:solidFill>
              <a:srgbClr val="59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1000" y="628650"/>
            <a:ext cx="83820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2"/>
              </a:lnSpc>
              <a:buNone/>
            </a:pPr>
            <a:r>
              <a:rPr lang="en-US" sz="784" dirty="0">
                <a:solidFill>
                  <a:srgbClr val="FF0A05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RNF01 · CAPACIDADE</a:t>
            </a:r>
            <a:endParaRPr lang="en-US" sz="784" dirty="0"/>
          </a:p>
        </p:txBody>
      </p:sp>
      <p:sp>
        <p:nvSpPr>
          <p:cNvPr id="4" name="Text 2"/>
          <p:cNvSpPr/>
          <p:nvPr/>
        </p:nvSpPr>
        <p:spPr>
          <a:xfrm>
            <a:off x="381000" y="823913"/>
            <a:ext cx="7620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2"/>
              </a:lnSpc>
              <a:buNone/>
            </a:pPr>
            <a:r>
              <a:rPr lang="en-US" sz="2066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 pico foi absorvido sem perda</a:t>
            </a:r>
            <a:endParaRPr lang="en-US" sz="2066" dirty="0"/>
          </a:p>
        </p:txBody>
      </p:sp>
      <p:sp>
        <p:nvSpPr>
          <p:cNvPr id="5" name="Shape 3"/>
          <p:cNvSpPr/>
          <p:nvPr/>
        </p:nvSpPr>
        <p:spPr>
          <a:xfrm>
            <a:off x="381000" y="1343025"/>
            <a:ext cx="8382000" cy="9525"/>
          </a:xfrm>
          <a:prstGeom prst="rect">
            <a:avLst/>
          </a:prstGeom>
          <a:solidFill>
            <a:srgbClr val="590000"/>
          </a:solidFill>
          <a:ln/>
        </p:spPr>
      </p:sp>
      <p:sp>
        <p:nvSpPr>
          <p:cNvPr id="6" name="Text 4"/>
          <p:cNvSpPr/>
          <p:nvPr/>
        </p:nvSpPr>
        <p:spPr>
          <a:xfrm>
            <a:off x="428625" y="1666875"/>
            <a:ext cx="219075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en-US" sz="2921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10.000</a:t>
            </a:r>
            <a:endParaRPr lang="en-US" sz="2921" dirty="0"/>
          </a:p>
        </p:txBody>
      </p:sp>
      <p:sp>
        <p:nvSpPr>
          <p:cNvPr id="7" name="Text 5"/>
          <p:cNvSpPr/>
          <p:nvPr/>
        </p:nvSpPr>
        <p:spPr>
          <a:xfrm>
            <a:off x="476250" y="2166938"/>
            <a:ext cx="2047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962" b="1" dirty="0">
                <a:solidFill>
                  <a:srgbClr val="FF0A0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eventos por minuto</a:t>
            </a:r>
            <a:endParaRPr lang="en-US" sz="962" dirty="0"/>
          </a:p>
        </p:txBody>
      </p:sp>
      <p:sp>
        <p:nvSpPr>
          <p:cNvPr id="8" name="Text 6"/>
          <p:cNvSpPr/>
          <p:nvPr/>
        </p:nvSpPr>
        <p:spPr>
          <a:xfrm>
            <a:off x="476250" y="2547938"/>
            <a:ext cx="204787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55" dirty="0">
                <a:solidFill>
                  <a:srgbClr val="ADADAD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12.152 aceitos</a:t>
            </a:r>
            <a:endParaRPr lang="en-US" sz="855" dirty="0"/>
          </a:p>
          <a:p>
            <a:pPr algn="l" indent="0" marL="0">
              <a:lnSpc>
                <a:spcPts val="1035"/>
              </a:lnSpc>
              <a:buNone/>
            </a:pPr>
            <a:r>
              <a:rPr lang="en-US" sz="855" dirty="0">
                <a:solidFill>
                  <a:srgbClr val="ADADAD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12.152 persistidos</a:t>
            </a:r>
            <a:endParaRPr lang="en-US" sz="855" dirty="0"/>
          </a:p>
          <a:p>
            <a:pPr algn="l" indent="0" marL="0">
              <a:lnSpc>
                <a:spcPts val="1035"/>
              </a:lnSpc>
              <a:buNone/>
            </a:pPr>
            <a:r>
              <a:rPr lang="en-US" sz="855" dirty="0">
                <a:solidFill>
                  <a:srgbClr val="ADADAD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descartes</a:t>
            </a:r>
            <a:endParaRPr lang="en-US" sz="855" dirty="0"/>
          </a:p>
          <a:p>
            <a:pPr algn="l" indent="0" marL="0">
              <a:lnSpc>
                <a:spcPts val="1035"/>
              </a:lnSpc>
              <a:buNone/>
            </a:pPr>
            <a:r>
              <a:rPr lang="en-US" sz="855" dirty="0">
                <a:solidFill>
                  <a:srgbClr val="ADADAD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p95 de 161,8 ms</a:t>
            </a:r>
            <a:endParaRPr lang="en-US" sz="855" dirty="0"/>
          </a:p>
        </p:txBody>
      </p:sp>
      <p:sp>
        <p:nvSpPr>
          <p:cNvPr id="9" name="Shape 7"/>
          <p:cNvSpPr/>
          <p:nvPr/>
        </p:nvSpPr>
        <p:spPr>
          <a:xfrm>
            <a:off x="2809875" y="1666875"/>
            <a:ext cx="19050" cy="2238375"/>
          </a:xfrm>
          <a:prstGeom prst="roundRect">
            <a:avLst/>
          </a:prstGeom>
          <a:solidFill>
            <a:srgbClr val="590000"/>
          </a:solidFill>
          <a:ln/>
        </p:spPr>
      </p:sp>
      <p:sp>
        <p:nvSpPr>
          <p:cNvPr id="10" name="Text 8"/>
          <p:cNvSpPr/>
          <p:nvPr/>
        </p:nvSpPr>
        <p:spPr>
          <a:xfrm>
            <a:off x="3095625" y="1666875"/>
            <a:ext cx="4524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2"/>
              </a:lnSpc>
              <a:buNone/>
            </a:pPr>
            <a:r>
              <a:rPr lang="en-US" sz="1211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Teste revisado por lotes</a:t>
            </a:r>
            <a:endParaRPr lang="en-US" sz="1211" dirty="0"/>
          </a:p>
        </p:txBody>
      </p:sp>
      <p:sp>
        <p:nvSpPr>
          <p:cNvPr id="11" name="Text 9"/>
          <p:cNvSpPr/>
          <p:nvPr/>
        </p:nvSpPr>
        <p:spPr>
          <a:xfrm>
            <a:off x="3095625" y="2000250"/>
            <a:ext cx="47625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8"/>
              </a:lnSpc>
              <a:buNone/>
            </a:pPr>
            <a:r>
              <a:rPr lang="en-US" sz="891" dirty="0">
                <a:solidFill>
                  <a:srgbClr val="ADADAD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requisito também foi testado como ciclos de 150 mil eventos acumulados.</a:t>
            </a:r>
            <a:endParaRPr lang="en-US" sz="891" dirty="0"/>
          </a:p>
        </p:txBody>
      </p:sp>
      <p:sp>
        <p:nvSpPr>
          <p:cNvPr id="12" name="Shape 10"/>
          <p:cNvSpPr/>
          <p:nvPr/>
        </p:nvSpPr>
        <p:spPr>
          <a:xfrm>
            <a:off x="3095625" y="2547938"/>
            <a:ext cx="1143000" cy="857250"/>
          </a:xfrm>
          <a:prstGeom prst="roundRect">
            <a:avLst/>
          </a:prstGeom>
          <a:solidFill>
            <a:srgbClr val="141414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2657475"/>
            <a:ext cx="933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55" b="1" dirty="0">
                <a:solidFill>
                  <a:srgbClr val="FF0A05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 lote</a:t>
            </a:r>
            <a:endParaRPr lang="en-US" sz="855" dirty="0"/>
          </a:p>
        </p:txBody>
      </p:sp>
      <p:sp>
        <p:nvSpPr>
          <p:cNvPr id="14" name="Text 12"/>
          <p:cNvSpPr/>
          <p:nvPr/>
        </p:nvSpPr>
        <p:spPr>
          <a:xfrm>
            <a:off x="3200400" y="2895600"/>
            <a:ext cx="9334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1140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150 mil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3200400" y="3167063"/>
            <a:ext cx="9334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2"/>
              </a:lnSpc>
              <a:buNone/>
            </a:pPr>
            <a:r>
              <a:rPr lang="en-US" sz="713" dirty="0">
                <a:solidFill>
                  <a:srgbClr val="ADADAD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drenou em 120 s</a:t>
            </a:r>
            <a:endParaRPr lang="en-US" sz="713" dirty="0"/>
          </a:p>
        </p:txBody>
      </p:sp>
      <p:sp>
        <p:nvSpPr>
          <p:cNvPr id="16" name="Shape 14"/>
          <p:cNvSpPr/>
          <p:nvPr/>
        </p:nvSpPr>
        <p:spPr>
          <a:xfrm>
            <a:off x="4381500" y="2547938"/>
            <a:ext cx="1143000" cy="857250"/>
          </a:xfrm>
          <a:prstGeom prst="roundRect">
            <a:avLst/>
          </a:prstGeom>
          <a:solidFill>
            <a:srgbClr val="141414"/>
          </a:solidFill>
          <a:ln/>
        </p:spPr>
      </p:sp>
      <p:sp>
        <p:nvSpPr>
          <p:cNvPr id="17" name="Text 15"/>
          <p:cNvSpPr/>
          <p:nvPr/>
        </p:nvSpPr>
        <p:spPr>
          <a:xfrm>
            <a:off x="4486275" y="2657475"/>
            <a:ext cx="933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55" b="1" dirty="0">
                <a:solidFill>
                  <a:srgbClr val="FF0A05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 lotes</a:t>
            </a:r>
            <a:endParaRPr lang="en-US" sz="855" dirty="0"/>
          </a:p>
        </p:txBody>
      </p:sp>
      <p:sp>
        <p:nvSpPr>
          <p:cNvPr id="18" name="Text 16"/>
          <p:cNvSpPr/>
          <p:nvPr/>
        </p:nvSpPr>
        <p:spPr>
          <a:xfrm>
            <a:off x="4486275" y="2895600"/>
            <a:ext cx="9334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1140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300 mil</a:t>
            </a:r>
            <a:endParaRPr lang="en-US" sz="1140" dirty="0"/>
          </a:p>
        </p:txBody>
      </p:sp>
      <p:sp>
        <p:nvSpPr>
          <p:cNvPr id="19" name="Text 17"/>
          <p:cNvSpPr/>
          <p:nvPr/>
        </p:nvSpPr>
        <p:spPr>
          <a:xfrm>
            <a:off x="4486275" y="3167063"/>
            <a:ext cx="9334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2"/>
              </a:lnSpc>
              <a:buNone/>
            </a:pPr>
            <a:r>
              <a:rPr lang="en-US" sz="713" dirty="0">
                <a:solidFill>
                  <a:srgbClr val="ADADAD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drenou em 191 s</a:t>
            </a:r>
            <a:endParaRPr lang="en-US" sz="713" dirty="0"/>
          </a:p>
        </p:txBody>
      </p:sp>
      <p:sp>
        <p:nvSpPr>
          <p:cNvPr id="20" name="Shape 18"/>
          <p:cNvSpPr/>
          <p:nvPr/>
        </p:nvSpPr>
        <p:spPr>
          <a:xfrm>
            <a:off x="5667375" y="2547938"/>
            <a:ext cx="1143000" cy="857250"/>
          </a:xfrm>
          <a:prstGeom prst="roundRect">
            <a:avLst/>
          </a:prstGeom>
          <a:solidFill>
            <a:srgbClr val="141414"/>
          </a:solidFill>
          <a:ln/>
        </p:spPr>
      </p:sp>
      <p:sp>
        <p:nvSpPr>
          <p:cNvPr id="21" name="Text 19"/>
          <p:cNvSpPr/>
          <p:nvPr/>
        </p:nvSpPr>
        <p:spPr>
          <a:xfrm>
            <a:off x="5772150" y="2657475"/>
            <a:ext cx="933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55" b="1" dirty="0">
                <a:solidFill>
                  <a:srgbClr val="FF0A05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 lotes</a:t>
            </a:r>
            <a:endParaRPr lang="en-US" sz="855" dirty="0"/>
          </a:p>
        </p:txBody>
      </p:sp>
      <p:sp>
        <p:nvSpPr>
          <p:cNvPr id="22" name="Text 20"/>
          <p:cNvSpPr/>
          <p:nvPr/>
        </p:nvSpPr>
        <p:spPr>
          <a:xfrm>
            <a:off x="5772150" y="2895600"/>
            <a:ext cx="9334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1140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450 mil</a:t>
            </a:r>
            <a:endParaRPr lang="en-US" sz="1140" dirty="0"/>
          </a:p>
        </p:txBody>
      </p:sp>
      <p:sp>
        <p:nvSpPr>
          <p:cNvPr id="23" name="Text 21"/>
          <p:cNvSpPr/>
          <p:nvPr/>
        </p:nvSpPr>
        <p:spPr>
          <a:xfrm>
            <a:off x="5772150" y="3167063"/>
            <a:ext cx="9334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2"/>
              </a:lnSpc>
              <a:buNone/>
            </a:pPr>
            <a:r>
              <a:rPr lang="en-US" sz="713" dirty="0">
                <a:solidFill>
                  <a:srgbClr val="ADADAD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drenou em 259 s</a:t>
            </a:r>
            <a:endParaRPr lang="en-US" sz="713" dirty="0"/>
          </a:p>
        </p:txBody>
      </p:sp>
      <p:sp>
        <p:nvSpPr>
          <p:cNvPr id="24" name="Shape 22"/>
          <p:cNvSpPr/>
          <p:nvPr/>
        </p:nvSpPr>
        <p:spPr>
          <a:xfrm>
            <a:off x="6953250" y="2547938"/>
            <a:ext cx="1143000" cy="857250"/>
          </a:xfrm>
          <a:prstGeom prst="roundRect">
            <a:avLst/>
          </a:prstGeom>
          <a:solidFill>
            <a:srgbClr val="141414"/>
          </a:solidFill>
          <a:ln/>
        </p:spPr>
      </p:sp>
      <p:sp>
        <p:nvSpPr>
          <p:cNvPr id="25" name="Text 23"/>
          <p:cNvSpPr/>
          <p:nvPr/>
        </p:nvSpPr>
        <p:spPr>
          <a:xfrm>
            <a:off x="7058025" y="2657475"/>
            <a:ext cx="933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55" b="1" dirty="0">
                <a:solidFill>
                  <a:srgbClr val="FF0A05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 lotes</a:t>
            </a:r>
            <a:endParaRPr lang="en-US" sz="855" dirty="0"/>
          </a:p>
        </p:txBody>
      </p:sp>
      <p:sp>
        <p:nvSpPr>
          <p:cNvPr id="26" name="Text 24"/>
          <p:cNvSpPr/>
          <p:nvPr/>
        </p:nvSpPr>
        <p:spPr>
          <a:xfrm>
            <a:off x="7058025" y="2895600"/>
            <a:ext cx="9334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1140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600 mil</a:t>
            </a:r>
            <a:endParaRPr lang="en-US" sz="1140" dirty="0"/>
          </a:p>
        </p:txBody>
      </p:sp>
      <p:sp>
        <p:nvSpPr>
          <p:cNvPr id="27" name="Text 25"/>
          <p:cNvSpPr/>
          <p:nvPr/>
        </p:nvSpPr>
        <p:spPr>
          <a:xfrm>
            <a:off x="7058025" y="3167063"/>
            <a:ext cx="9334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2"/>
              </a:lnSpc>
              <a:buNone/>
            </a:pPr>
            <a:r>
              <a:rPr lang="en-US" sz="713" dirty="0">
                <a:solidFill>
                  <a:srgbClr val="ADADAD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drenou em 346 s</a:t>
            </a:r>
            <a:endParaRPr lang="en-US" sz="713" dirty="0"/>
          </a:p>
        </p:txBody>
      </p:sp>
      <p:sp>
        <p:nvSpPr>
          <p:cNvPr id="28" name="Text 26"/>
          <p:cNvSpPr/>
          <p:nvPr/>
        </p:nvSpPr>
        <p:spPr>
          <a:xfrm>
            <a:off x="3095625" y="3643313"/>
            <a:ext cx="50006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2"/>
              </a:lnSpc>
              <a:buNone/>
            </a:pPr>
            <a:r>
              <a:rPr lang="en-US" sz="81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Todos drenaram antes do limite de 7 min 30 s, com DLQ zerada.</a:t>
            </a:r>
            <a:endParaRPr lang="en-US" sz="819" dirty="0"/>
          </a:p>
        </p:txBody>
      </p:sp>
      <p:sp>
        <p:nvSpPr>
          <p:cNvPr id="29" name="Shape 27"/>
          <p:cNvSpPr/>
          <p:nvPr/>
        </p:nvSpPr>
        <p:spPr>
          <a:xfrm>
            <a:off x="381000" y="242888"/>
            <a:ext cx="1457325" cy="223838"/>
          </a:xfrm>
          <a:prstGeom prst="rect">
            <a:avLst/>
          </a:prstGeom>
          <a:noFill/>
          <a:ln/>
        </p:spPr>
      </p:sp>
      <p:sp>
        <p:nvSpPr>
          <p:cNvPr id="30" name="Shape 28"/>
          <p:cNvSpPr/>
          <p:nvPr/>
        </p:nvSpPr>
        <p:spPr>
          <a:xfrm>
            <a:off x="381000" y="247650"/>
            <a:ext cx="247650" cy="214313"/>
          </a:xfrm>
          <a:prstGeom prst="roundRect">
            <a:avLst>
              <a:gd name="adj" fmla="val 34133"/>
            </a:avLst>
          </a:prstGeom>
          <a:solidFill>
            <a:srgbClr val="FF0000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1012" y="326231"/>
            <a:ext cx="47625" cy="57150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685800" y="242888"/>
            <a:ext cx="1152525" cy="223838"/>
          </a:xfrm>
          <a:prstGeom prst="rect">
            <a:avLst/>
          </a:prstGeom>
          <a:noFill/>
          <a:ln/>
        </p:spPr>
      </p:sp>
      <p:sp>
        <p:nvSpPr>
          <p:cNvPr id="33" name="Text 30"/>
          <p:cNvSpPr/>
          <p:nvPr/>
        </p:nvSpPr>
        <p:spPr>
          <a:xfrm>
            <a:off x="685800" y="242888"/>
            <a:ext cx="10763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0"/>
              </a:lnSpc>
              <a:buNone/>
            </a:pPr>
            <a:r>
              <a:rPr lang="en-US" sz="1283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globoplay</a:t>
            </a:r>
            <a:endParaRPr lang="en-US" sz="1283" dirty="0"/>
          </a:p>
        </p:txBody>
      </p:sp>
      <p:sp>
        <p:nvSpPr>
          <p:cNvPr id="34" name="Text 31"/>
          <p:cNvSpPr/>
          <p:nvPr/>
        </p:nvSpPr>
        <p:spPr>
          <a:xfrm>
            <a:off x="1790700" y="242888"/>
            <a:ext cx="47625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buNone/>
            </a:pPr>
            <a:r>
              <a:rPr lang="en-US" sz="1283" dirty="0">
                <a:solidFill>
                  <a:srgbClr val="FF0000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|</a:t>
            </a:r>
            <a:endParaRPr lang="en-US" sz="128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0" y="-857250"/>
            <a:ext cx="2000250" cy="2000250"/>
          </a:xfrm>
          <a:prstGeom prst="ellipse">
            <a:avLst/>
          </a:prstGeom>
          <a:noFill/>
          <a:ln w="208121">
            <a:solidFill>
              <a:srgbClr val="59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1000" y="628650"/>
            <a:ext cx="83820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2"/>
              </a:lnSpc>
              <a:buNone/>
            </a:pPr>
            <a:r>
              <a:rPr lang="en-US" sz="784" dirty="0">
                <a:solidFill>
                  <a:srgbClr val="FF0A05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RNF02 + RNF03</a:t>
            </a:r>
            <a:endParaRPr lang="en-US" sz="784" dirty="0"/>
          </a:p>
        </p:txBody>
      </p:sp>
      <p:sp>
        <p:nvSpPr>
          <p:cNvPr id="4" name="Text 2"/>
          <p:cNvSpPr/>
          <p:nvPr/>
        </p:nvSpPr>
        <p:spPr>
          <a:xfrm>
            <a:off x="381000" y="823913"/>
            <a:ext cx="7620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2"/>
              </a:lnSpc>
              <a:buNone/>
            </a:pPr>
            <a:r>
              <a:rPr lang="en-US" sz="2066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Rapidez sob carga e escala em 2×</a:t>
            </a:r>
            <a:endParaRPr lang="en-US" sz="2066" dirty="0"/>
          </a:p>
        </p:txBody>
      </p:sp>
      <p:sp>
        <p:nvSpPr>
          <p:cNvPr id="5" name="Shape 3"/>
          <p:cNvSpPr/>
          <p:nvPr/>
        </p:nvSpPr>
        <p:spPr>
          <a:xfrm>
            <a:off x="381000" y="1343025"/>
            <a:ext cx="8382000" cy="9525"/>
          </a:xfrm>
          <a:prstGeom prst="rect">
            <a:avLst/>
          </a:prstGeom>
          <a:solidFill>
            <a:srgbClr val="590000"/>
          </a:solidFill>
          <a:ln/>
        </p:spPr>
      </p:sp>
      <p:sp>
        <p:nvSpPr>
          <p:cNvPr id="6" name="Text 4"/>
          <p:cNvSpPr/>
          <p:nvPr/>
        </p:nvSpPr>
        <p:spPr>
          <a:xfrm>
            <a:off x="476250" y="1762125"/>
            <a:ext cx="238125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46"/>
              </a:lnSpc>
              <a:buNone/>
            </a:pPr>
            <a:r>
              <a:rPr lang="en-US" sz="2779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4.587</a:t>
            </a:r>
            <a:endParaRPr lang="en-US" sz="2779" dirty="0"/>
          </a:p>
        </p:txBody>
      </p:sp>
      <p:sp>
        <p:nvSpPr>
          <p:cNvPr id="7" name="Text 5"/>
          <p:cNvSpPr/>
          <p:nvPr/>
        </p:nvSpPr>
        <p:spPr>
          <a:xfrm>
            <a:off x="500063" y="2214563"/>
            <a:ext cx="22383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962" b="1" dirty="0">
                <a:solidFill>
                  <a:srgbClr val="FF0A0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consultas no RNF02</a:t>
            </a:r>
            <a:endParaRPr lang="en-US" sz="962" dirty="0"/>
          </a:p>
        </p:txBody>
      </p:sp>
      <p:sp>
        <p:nvSpPr>
          <p:cNvPr id="8" name="Text 6"/>
          <p:cNvSpPr/>
          <p:nvPr/>
        </p:nvSpPr>
        <p:spPr>
          <a:xfrm>
            <a:off x="500063" y="2595563"/>
            <a:ext cx="23812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55" dirty="0">
                <a:solidFill>
                  <a:srgbClr val="ADADAD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 HTTP 200</a:t>
            </a:r>
            <a:endParaRPr lang="en-US" sz="855" dirty="0"/>
          </a:p>
          <a:p>
            <a:pPr algn="l" indent="0" marL="0">
              <a:lnSpc>
                <a:spcPts val="1035"/>
              </a:lnSpc>
              <a:buNone/>
            </a:pPr>
            <a:r>
              <a:rPr lang="en-US" sz="855" dirty="0">
                <a:solidFill>
                  <a:srgbClr val="ADADAD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acima de 5 segundos</a:t>
            </a:r>
            <a:endParaRPr lang="en-US" sz="855" dirty="0"/>
          </a:p>
          <a:p>
            <a:pPr algn="l" indent="0" marL="0">
              <a:lnSpc>
                <a:spcPts val="1035"/>
              </a:lnSpc>
              <a:buNone/>
            </a:pPr>
            <a:r>
              <a:rPr lang="en-US" sz="855" dirty="0">
                <a:solidFill>
                  <a:srgbClr val="ADADAD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p95 de 181,2 ms</a:t>
            </a:r>
            <a:endParaRPr lang="en-US" sz="855" dirty="0"/>
          </a:p>
          <a:p>
            <a:pPr algn="l" indent="0" marL="0">
              <a:lnSpc>
                <a:spcPts val="1035"/>
              </a:lnSpc>
              <a:buNone/>
            </a:pPr>
            <a:r>
              <a:rPr lang="en-US" sz="855" dirty="0">
                <a:solidFill>
                  <a:srgbClr val="ADADAD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máximo de 1,58 s</a:t>
            </a:r>
            <a:endParaRPr lang="en-US" sz="855" dirty="0"/>
          </a:p>
        </p:txBody>
      </p:sp>
      <p:sp>
        <p:nvSpPr>
          <p:cNvPr id="9" name="Shape 7"/>
          <p:cNvSpPr/>
          <p:nvPr/>
        </p:nvSpPr>
        <p:spPr>
          <a:xfrm>
            <a:off x="3667125" y="1666875"/>
            <a:ext cx="4048125" cy="1905000"/>
          </a:xfrm>
          <a:prstGeom prst="roundRect">
            <a:avLst/>
          </a:prstGeom>
          <a:solidFill>
            <a:srgbClr val="141414"/>
          </a:solidFill>
          <a:ln/>
        </p:spPr>
      </p:sp>
      <p:sp>
        <p:nvSpPr>
          <p:cNvPr id="10" name="Text 8"/>
          <p:cNvSpPr/>
          <p:nvPr/>
        </p:nvSpPr>
        <p:spPr>
          <a:xfrm>
            <a:off x="3929063" y="1881187"/>
            <a:ext cx="104775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4"/>
              </a:lnSpc>
              <a:buNone/>
            </a:pPr>
            <a:r>
              <a:rPr lang="en-US" sz="3278" b="1" dirty="0">
                <a:solidFill>
                  <a:srgbClr val="FF0A05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2×</a:t>
            </a:r>
            <a:endParaRPr lang="en-US" sz="3278" dirty="0"/>
          </a:p>
        </p:txBody>
      </p:sp>
      <p:sp>
        <p:nvSpPr>
          <p:cNvPr id="11" name="Text 9"/>
          <p:cNvSpPr/>
          <p:nvPr/>
        </p:nvSpPr>
        <p:spPr>
          <a:xfrm>
            <a:off x="5048250" y="1952625"/>
            <a:ext cx="2381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9"/>
              </a:lnSpc>
              <a:buNone/>
            </a:pPr>
            <a:r>
              <a:rPr lang="en-US" sz="1104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mais carga + mais recursos</a:t>
            </a:r>
            <a:endParaRPr lang="en-US" sz="1104" dirty="0"/>
          </a:p>
        </p:txBody>
      </p:sp>
      <p:sp>
        <p:nvSpPr>
          <p:cNvPr id="12" name="Text 10"/>
          <p:cNvSpPr/>
          <p:nvPr/>
        </p:nvSpPr>
        <p:spPr>
          <a:xfrm>
            <a:off x="5048250" y="2305050"/>
            <a:ext cx="23812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55" dirty="0">
                <a:solidFill>
                  <a:srgbClr val="ADADAD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task → 2 tasks</a:t>
            </a:r>
            <a:endParaRPr lang="en-US" sz="855" dirty="0"/>
          </a:p>
          <a:p>
            <a:pPr algn="l" indent="0" marL="0">
              <a:lnSpc>
                <a:spcPts val="1035"/>
              </a:lnSpc>
              <a:buNone/>
            </a:pPr>
            <a:r>
              <a:rPr lang="en-US" sz="855" dirty="0">
                <a:solidFill>
                  <a:srgbClr val="ADADAD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1.000/min → 2.000/min</a:t>
            </a:r>
            <a:endParaRPr lang="en-US" sz="855" dirty="0"/>
          </a:p>
          <a:p>
            <a:pPr algn="l" indent="0" marL="0">
              <a:lnSpc>
                <a:spcPts val="1035"/>
              </a:lnSpc>
              <a:buNone/>
            </a:pPr>
            <a:r>
              <a:rPr lang="en-US" sz="855" dirty="0">
                <a:solidFill>
                  <a:srgbClr val="ADADAD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3.203/3.203 eventos persistidos</a:t>
            </a:r>
            <a:endParaRPr lang="en-US" sz="855" dirty="0"/>
          </a:p>
          <a:p>
            <a:pPr algn="l" indent="0" marL="0">
              <a:lnSpc>
                <a:spcPts val="1035"/>
              </a:lnSpc>
              <a:buNone/>
            </a:pPr>
            <a:r>
              <a:rPr lang="en-US" sz="855" dirty="0">
                <a:solidFill>
                  <a:srgbClr val="ADADAD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mudança no contrato</a:t>
            </a:r>
            <a:endParaRPr lang="en-US" sz="855" dirty="0"/>
          </a:p>
        </p:txBody>
      </p:sp>
      <p:sp>
        <p:nvSpPr>
          <p:cNvPr id="13" name="Shape 11"/>
          <p:cNvSpPr/>
          <p:nvPr/>
        </p:nvSpPr>
        <p:spPr>
          <a:xfrm>
            <a:off x="3929063" y="3238500"/>
            <a:ext cx="1047750" cy="209550"/>
          </a:xfrm>
          <a:prstGeom prst="roundRect">
            <a:avLst/>
          </a:prstGeom>
          <a:solidFill>
            <a:srgbClr val="47DB94"/>
          </a:solidFill>
          <a:ln/>
        </p:spPr>
      </p:sp>
      <p:sp>
        <p:nvSpPr>
          <p:cNvPr id="14" name="Text 12"/>
          <p:cNvSpPr/>
          <p:nvPr/>
        </p:nvSpPr>
        <p:spPr>
          <a:xfrm>
            <a:off x="3929063" y="3286125"/>
            <a:ext cx="10477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06060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APROVADO EM 2×</a:t>
            </a:r>
            <a:endParaRPr lang="en-US" sz="606" dirty="0"/>
          </a:p>
        </p:txBody>
      </p:sp>
      <p:sp>
        <p:nvSpPr>
          <p:cNvPr id="15" name="Text 13"/>
          <p:cNvSpPr/>
          <p:nvPr/>
        </p:nvSpPr>
        <p:spPr>
          <a:xfrm>
            <a:off x="381000" y="4048125"/>
            <a:ext cx="7143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5"/>
              </a:lnSpc>
              <a:buNone/>
            </a:pPr>
            <a:r>
              <a:rPr lang="en-US" sz="748" dirty="0">
                <a:solidFill>
                  <a:srgbClr val="ADADAD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ensaio comprova o fator 2×; não determina o ponto de saturação do sistema.</a:t>
            </a:r>
            <a:endParaRPr lang="en-US" sz="748" dirty="0"/>
          </a:p>
        </p:txBody>
      </p:sp>
      <p:sp>
        <p:nvSpPr>
          <p:cNvPr id="16" name="Shape 14"/>
          <p:cNvSpPr/>
          <p:nvPr/>
        </p:nvSpPr>
        <p:spPr>
          <a:xfrm>
            <a:off x="381000" y="242888"/>
            <a:ext cx="1457325" cy="223838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381000" y="247650"/>
            <a:ext cx="247650" cy="214313"/>
          </a:xfrm>
          <a:prstGeom prst="roundRect">
            <a:avLst>
              <a:gd name="adj" fmla="val 34133"/>
            </a:avLst>
          </a:prstGeom>
          <a:solidFill>
            <a:srgbClr val="FF0000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1012" y="326231"/>
            <a:ext cx="47625" cy="5715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685800" y="242888"/>
            <a:ext cx="1152525" cy="223838"/>
          </a:xfrm>
          <a:prstGeom prst="rect">
            <a:avLst/>
          </a:prstGeom>
          <a:noFill/>
          <a:ln/>
        </p:spPr>
      </p:sp>
      <p:sp>
        <p:nvSpPr>
          <p:cNvPr id="20" name="Text 17"/>
          <p:cNvSpPr/>
          <p:nvPr/>
        </p:nvSpPr>
        <p:spPr>
          <a:xfrm>
            <a:off x="685800" y="242888"/>
            <a:ext cx="10763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0"/>
              </a:lnSpc>
              <a:buNone/>
            </a:pPr>
            <a:r>
              <a:rPr lang="en-US" sz="1283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globoplay</a:t>
            </a:r>
            <a:endParaRPr lang="en-US" sz="1283" dirty="0"/>
          </a:p>
        </p:txBody>
      </p:sp>
      <p:sp>
        <p:nvSpPr>
          <p:cNvPr id="21" name="Text 18"/>
          <p:cNvSpPr/>
          <p:nvPr/>
        </p:nvSpPr>
        <p:spPr>
          <a:xfrm>
            <a:off x="1790700" y="242888"/>
            <a:ext cx="47625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buNone/>
            </a:pPr>
            <a:r>
              <a:rPr lang="en-US" sz="1283" dirty="0">
                <a:solidFill>
                  <a:srgbClr val="FF0000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|</a:t>
            </a:r>
            <a:endParaRPr lang="en-US" sz="1283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0" y="-857250"/>
            <a:ext cx="2000250" cy="2000250"/>
          </a:xfrm>
          <a:prstGeom prst="ellipse">
            <a:avLst/>
          </a:prstGeom>
          <a:noFill/>
          <a:ln w="208121">
            <a:solidFill>
              <a:srgbClr val="59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1000" y="628650"/>
            <a:ext cx="83820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2"/>
              </a:lnSpc>
              <a:buNone/>
            </a:pPr>
            <a:r>
              <a:rPr lang="en-US" sz="784" dirty="0">
                <a:solidFill>
                  <a:srgbClr val="FF0A05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RNF04 + RNF05 + RNF11</a:t>
            </a:r>
            <a:endParaRPr lang="en-US" sz="784" dirty="0"/>
          </a:p>
        </p:txBody>
      </p:sp>
      <p:sp>
        <p:nvSpPr>
          <p:cNvPr id="4" name="Text 2"/>
          <p:cNvSpPr/>
          <p:nvPr/>
        </p:nvSpPr>
        <p:spPr>
          <a:xfrm>
            <a:off x="381000" y="823913"/>
            <a:ext cx="7620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2"/>
              </a:lnSpc>
              <a:buNone/>
            </a:pPr>
            <a:r>
              <a:rPr lang="en-US" sz="2066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Resiliência: o que passou e o que falta</a:t>
            </a:r>
            <a:endParaRPr lang="en-US" sz="2066" dirty="0"/>
          </a:p>
        </p:txBody>
      </p:sp>
      <p:sp>
        <p:nvSpPr>
          <p:cNvPr id="5" name="Shape 3"/>
          <p:cNvSpPr/>
          <p:nvPr/>
        </p:nvSpPr>
        <p:spPr>
          <a:xfrm>
            <a:off x="381000" y="1343025"/>
            <a:ext cx="8382000" cy="9525"/>
          </a:xfrm>
          <a:prstGeom prst="rect">
            <a:avLst/>
          </a:prstGeom>
          <a:solidFill>
            <a:srgbClr val="590000"/>
          </a:solidFill>
          <a:ln/>
        </p:spPr>
      </p:sp>
      <p:sp>
        <p:nvSpPr>
          <p:cNvPr id="6" name="Text 4"/>
          <p:cNvSpPr/>
          <p:nvPr/>
        </p:nvSpPr>
        <p:spPr>
          <a:xfrm>
            <a:off x="428625" y="1666875"/>
            <a:ext cx="8572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9"/>
              </a:lnSpc>
              <a:buNone/>
            </a:pPr>
            <a:r>
              <a:rPr lang="en-US" sz="926" b="1" dirty="0">
                <a:solidFill>
                  <a:srgbClr val="47DB94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RNF04</a:t>
            </a:r>
            <a:endParaRPr lang="en-US" sz="926" dirty="0"/>
          </a:p>
        </p:txBody>
      </p:sp>
      <p:sp>
        <p:nvSpPr>
          <p:cNvPr id="7" name="Text 5"/>
          <p:cNvSpPr/>
          <p:nvPr/>
        </p:nvSpPr>
        <p:spPr>
          <a:xfrm>
            <a:off x="1381125" y="1666875"/>
            <a:ext cx="404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3"/>
              </a:lnSpc>
              <a:buNone/>
            </a:pPr>
            <a:r>
              <a:rPr lang="en-US" sz="962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18/18 inválidos identificados</a:t>
            </a:r>
            <a:endParaRPr lang="en-US" sz="962" dirty="0"/>
          </a:p>
        </p:txBody>
      </p:sp>
      <p:sp>
        <p:nvSpPr>
          <p:cNvPr id="8" name="Text 6"/>
          <p:cNvSpPr/>
          <p:nvPr/>
        </p:nvSpPr>
        <p:spPr>
          <a:xfrm>
            <a:off x="1381125" y="1895475"/>
            <a:ext cx="50006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5"/>
              </a:lnSpc>
              <a:buNone/>
            </a:pPr>
            <a:r>
              <a:rPr lang="en-US" sz="748" dirty="0">
                <a:solidFill>
                  <a:srgbClr val="ADADAD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150/150 eventos válidos continuaram sendo processados.</a:t>
            </a:r>
            <a:endParaRPr lang="en-US" sz="748" dirty="0"/>
          </a:p>
        </p:txBody>
      </p:sp>
      <p:sp>
        <p:nvSpPr>
          <p:cNvPr id="9" name="Shape 7"/>
          <p:cNvSpPr/>
          <p:nvPr/>
        </p:nvSpPr>
        <p:spPr>
          <a:xfrm>
            <a:off x="7191375" y="1685925"/>
            <a:ext cx="809625" cy="190500"/>
          </a:xfrm>
          <a:prstGeom prst="roundRect">
            <a:avLst/>
          </a:prstGeom>
          <a:solidFill>
            <a:srgbClr val="47DB94"/>
          </a:solidFill>
          <a:ln/>
        </p:spPr>
      </p:sp>
      <p:sp>
        <p:nvSpPr>
          <p:cNvPr id="10" name="Text 8"/>
          <p:cNvSpPr/>
          <p:nvPr/>
        </p:nvSpPr>
        <p:spPr>
          <a:xfrm>
            <a:off x="7191375" y="1724025"/>
            <a:ext cx="8096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90"/>
              </a:lnSpc>
              <a:buNone/>
            </a:pPr>
            <a:r>
              <a:rPr lang="en-US" sz="570" b="1" dirty="0">
                <a:solidFill>
                  <a:srgbClr val="06060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APROVADO</a:t>
            </a:r>
            <a:endParaRPr lang="en-US" sz="570" dirty="0"/>
          </a:p>
        </p:txBody>
      </p:sp>
      <p:sp>
        <p:nvSpPr>
          <p:cNvPr id="11" name="Text 9"/>
          <p:cNvSpPr/>
          <p:nvPr/>
        </p:nvSpPr>
        <p:spPr>
          <a:xfrm>
            <a:off x="428625" y="2405063"/>
            <a:ext cx="8572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9"/>
              </a:lnSpc>
              <a:buNone/>
            </a:pPr>
            <a:r>
              <a:rPr lang="en-US" sz="926" b="1" dirty="0">
                <a:solidFill>
                  <a:srgbClr val="47DB94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RNF05</a:t>
            </a:r>
            <a:endParaRPr lang="en-US" sz="926" dirty="0"/>
          </a:p>
        </p:txBody>
      </p:sp>
      <p:sp>
        <p:nvSpPr>
          <p:cNvPr id="12" name="Text 10"/>
          <p:cNvSpPr/>
          <p:nvPr/>
        </p:nvSpPr>
        <p:spPr>
          <a:xfrm>
            <a:off x="1381125" y="2405063"/>
            <a:ext cx="404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3"/>
              </a:lnSpc>
              <a:buNone/>
            </a:pPr>
            <a:r>
              <a:rPr lang="en-US" sz="962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Backlog de 1.001 recuperado</a:t>
            </a:r>
            <a:endParaRPr lang="en-US" sz="962" dirty="0"/>
          </a:p>
        </p:txBody>
      </p:sp>
      <p:sp>
        <p:nvSpPr>
          <p:cNvPr id="13" name="Text 11"/>
          <p:cNvSpPr/>
          <p:nvPr/>
        </p:nvSpPr>
        <p:spPr>
          <a:xfrm>
            <a:off x="1381125" y="2633663"/>
            <a:ext cx="50006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5"/>
              </a:lnSpc>
              <a:buNone/>
            </a:pPr>
            <a:r>
              <a:rPr lang="en-US" sz="748" dirty="0">
                <a:solidFill>
                  <a:srgbClr val="ADADAD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Fila 0→1.001→0 e banco +1.001 depois da retomada.</a:t>
            </a:r>
            <a:endParaRPr lang="en-US" sz="748" dirty="0"/>
          </a:p>
        </p:txBody>
      </p:sp>
      <p:sp>
        <p:nvSpPr>
          <p:cNvPr id="14" name="Shape 12"/>
          <p:cNvSpPr/>
          <p:nvPr/>
        </p:nvSpPr>
        <p:spPr>
          <a:xfrm>
            <a:off x="7191375" y="2424113"/>
            <a:ext cx="809625" cy="190500"/>
          </a:xfrm>
          <a:prstGeom prst="roundRect">
            <a:avLst/>
          </a:prstGeom>
          <a:solidFill>
            <a:srgbClr val="47DB94"/>
          </a:solidFill>
          <a:ln/>
        </p:spPr>
      </p:sp>
      <p:sp>
        <p:nvSpPr>
          <p:cNvPr id="15" name="Text 13"/>
          <p:cNvSpPr/>
          <p:nvPr/>
        </p:nvSpPr>
        <p:spPr>
          <a:xfrm>
            <a:off x="7191375" y="2462213"/>
            <a:ext cx="8096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90"/>
              </a:lnSpc>
              <a:buNone/>
            </a:pPr>
            <a:r>
              <a:rPr lang="en-US" sz="570" b="1" dirty="0">
                <a:solidFill>
                  <a:srgbClr val="06060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APROVADO</a:t>
            </a:r>
            <a:endParaRPr lang="en-US" sz="570" dirty="0"/>
          </a:p>
        </p:txBody>
      </p:sp>
      <p:sp>
        <p:nvSpPr>
          <p:cNvPr id="16" name="Text 14"/>
          <p:cNvSpPr/>
          <p:nvPr/>
        </p:nvSpPr>
        <p:spPr>
          <a:xfrm>
            <a:off x="428625" y="3100388"/>
            <a:ext cx="8572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9"/>
              </a:lnSpc>
              <a:buNone/>
            </a:pPr>
            <a:r>
              <a:rPr lang="en-US" sz="926" b="1" dirty="0">
                <a:solidFill>
                  <a:srgbClr val="FFA81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RNF11</a:t>
            </a:r>
            <a:endParaRPr lang="en-US" sz="926" dirty="0"/>
          </a:p>
        </p:txBody>
      </p:sp>
      <p:sp>
        <p:nvSpPr>
          <p:cNvPr id="17" name="Text 15"/>
          <p:cNvSpPr/>
          <p:nvPr/>
        </p:nvSpPr>
        <p:spPr>
          <a:xfrm>
            <a:off x="1333500" y="3109913"/>
            <a:ext cx="404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3"/>
              </a:lnSpc>
              <a:buNone/>
            </a:pPr>
            <a:r>
              <a:rPr lang="en-US" sz="962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Falhas têm causas específicas</a:t>
            </a:r>
            <a:endParaRPr lang="en-US" sz="962" dirty="0"/>
          </a:p>
        </p:txBody>
      </p:sp>
      <p:sp>
        <p:nvSpPr>
          <p:cNvPr id="18" name="Text 16"/>
          <p:cNvSpPr/>
          <p:nvPr/>
        </p:nvSpPr>
        <p:spPr>
          <a:xfrm>
            <a:off x="1333500" y="3338513"/>
            <a:ext cx="50006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5"/>
              </a:lnSpc>
              <a:buNone/>
            </a:pPr>
            <a:r>
              <a:rPr lang="en-US" sz="748" dirty="0">
                <a:solidFill>
                  <a:srgbClr val="ADADAD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Ainda faltam evidências completas de horário, etapa e ausência de dado sensível.</a:t>
            </a:r>
            <a:endParaRPr lang="en-US" sz="748" dirty="0"/>
          </a:p>
        </p:txBody>
      </p:sp>
      <p:sp>
        <p:nvSpPr>
          <p:cNvPr id="19" name="Shape 17"/>
          <p:cNvSpPr/>
          <p:nvPr/>
        </p:nvSpPr>
        <p:spPr>
          <a:xfrm>
            <a:off x="7143750" y="3128963"/>
            <a:ext cx="809625" cy="190500"/>
          </a:xfrm>
          <a:prstGeom prst="roundRect">
            <a:avLst/>
          </a:prstGeom>
          <a:solidFill>
            <a:srgbClr val="FFA81F"/>
          </a:solidFill>
          <a:ln/>
        </p:spPr>
      </p:sp>
      <p:sp>
        <p:nvSpPr>
          <p:cNvPr id="20" name="Text 18"/>
          <p:cNvSpPr/>
          <p:nvPr/>
        </p:nvSpPr>
        <p:spPr>
          <a:xfrm>
            <a:off x="7143750" y="3167063"/>
            <a:ext cx="8096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90"/>
              </a:lnSpc>
              <a:buNone/>
            </a:pPr>
            <a:r>
              <a:rPr lang="en-US" sz="570" b="1" dirty="0">
                <a:solidFill>
                  <a:srgbClr val="06060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PARCIAL</a:t>
            </a:r>
            <a:endParaRPr lang="en-US" sz="570" dirty="0"/>
          </a:p>
        </p:txBody>
      </p:sp>
      <p:sp>
        <p:nvSpPr>
          <p:cNvPr id="21" name="Text 19"/>
          <p:cNvSpPr/>
          <p:nvPr/>
        </p:nvSpPr>
        <p:spPr>
          <a:xfrm>
            <a:off x="381000" y="4691063"/>
            <a:ext cx="78581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9"/>
              </a:lnSpc>
              <a:buNone/>
            </a:pPr>
            <a:r>
              <a:rPr lang="en-US" sz="677" dirty="0">
                <a:solidFill>
                  <a:srgbClr val="ADADAD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Frescor ponta a ponta do lote continua não comprovado até a migration 029 ser aplicada e validada remotamente.</a:t>
            </a:r>
            <a:endParaRPr lang="en-US" sz="677" dirty="0"/>
          </a:p>
        </p:txBody>
      </p:sp>
      <p:sp>
        <p:nvSpPr>
          <p:cNvPr id="22" name="Shape 20"/>
          <p:cNvSpPr/>
          <p:nvPr/>
        </p:nvSpPr>
        <p:spPr>
          <a:xfrm>
            <a:off x="381000" y="242888"/>
            <a:ext cx="1457325" cy="223838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381000" y="247650"/>
            <a:ext cx="247650" cy="214313"/>
          </a:xfrm>
          <a:prstGeom prst="roundRect">
            <a:avLst>
              <a:gd name="adj" fmla="val 34133"/>
            </a:avLst>
          </a:prstGeom>
          <a:solidFill>
            <a:srgbClr val="FF0000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1012" y="326231"/>
            <a:ext cx="47625" cy="5715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685800" y="242888"/>
            <a:ext cx="1152525" cy="223838"/>
          </a:xfrm>
          <a:prstGeom prst="rect">
            <a:avLst/>
          </a:prstGeom>
          <a:noFill/>
          <a:ln/>
        </p:spPr>
      </p:sp>
      <p:sp>
        <p:nvSpPr>
          <p:cNvPr id="26" name="Text 23"/>
          <p:cNvSpPr/>
          <p:nvPr/>
        </p:nvSpPr>
        <p:spPr>
          <a:xfrm>
            <a:off x="685800" y="242888"/>
            <a:ext cx="10763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0"/>
              </a:lnSpc>
              <a:buNone/>
            </a:pPr>
            <a:r>
              <a:rPr lang="en-US" sz="1283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globoplay</a:t>
            </a:r>
            <a:endParaRPr lang="en-US" sz="1283" dirty="0"/>
          </a:p>
        </p:txBody>
      </p:sp>
      <p:sp>
        <p:nvSpPr>
          <p:cNvPr id="27" name="Text 24"/>
          <p:cNvSpPr/>
          <p:nvPr/>
        </p:nvSpPr>
        <p:spPr>
          <a:xfrm>
            <a:off x="1790700" y="242888"/>
            <a:ext cx="47625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buNone/>
            </a:pPr>
            <a:r>
              <a:rPr lang="en-US" sz="1283" dirty="0">
                <a:solidFill>
                  <a:srgbClr val="FF0000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|</a:t>
            </a:r>
            <a:endParaRPr lang="en-US" sz="1283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2026-09-11T17:04:09Z</dcterms:created>
  <dcterms:modified xsi:type="dcterms:W3CDTF">2026-09-11T17:04:09Z</dcterms:modified>
</cp:coreProperties>
</file>