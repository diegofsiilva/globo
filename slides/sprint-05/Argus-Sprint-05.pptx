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embeddings/data1.xlsx" ContentType="application/vnd.openxmlformats-officedocument.spreadsheetml.sheet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charts/chart2.xml" ContentType="application/vnd.openxmlformats-officedocument.drawingml.chart+xml"/>
  <Override PartName="/ppt/embeddings/data2.xlsx" ContentType="application/vnd.openxmlformats-officedocument.spreadsheetml.sheet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Master"/>
  </p:sldMasterIdLst>
  <p:notesMasterIdLst>
    <p:notesMasterId r:id="rIdNotesMaster"/>
  </p:notesMasterIdLst>
  <p:sldIdLst>
    <p:sldId id="257" r:id="rIdSlide1"/>
    <p:sldId id="258" r:id="rIdSlide2"/>
    <p:sldId id="259" r:id="rIdSlide3"/>
    <p:sldId id="260" r:id="rIdSlide4"/>
    <p:sldId id="261" r:id="rIdSlide5"/>
    <p:sldId id="262" r:id="rIdSlide6"/>
    <p:sldId id="263" r:id="rIdSlide7"/>
    <p:sldId id="264" r:id="rIdSlide8"/>
    <p:sldId id="265" r:id="rIdSlide9"/>
    <p:sldId id="266" r:id="rIdSlide10"/>
    <p:sldId id="267" r:id="rIdSlide11"/>
    <p:sldId id="268" r:id="rIdSlide12"/>
    <p:sldId id="269" r:id="rIdSlide13"/>
    <p:sldId id="270" r:id="rIdSlide14"/>
    <p:sldId id="271" r:id="rIdSlide15"/>
    <p:sldId id="272" r:id="rIdSlide16"/>
    <p:sldId id="273" r:id="rIdSlide17"/>
    <p:sldId id="274" r:id="rIdSlide18"/>
    <p:sldId id="275" r:id="rIdSlide19"/>
    <p:sldId id="276" r:id="rIdSlide20"/>
    <p:sldId id="277" r:id="rIdSlide21"/>
    <p:sldId id="278" r:id="rIdSlide22"/>
    <p:sldId id="279" r:id="rIdSlide23"/>
    <p:sldId id="280" r:id="rIdSlide24"/>
    <p:sldId id="281" r:id="rIdSlide25"/>
  </p:sldIdLst>
  <p:sldSz cx="12192000" cy="6858000" type="screen16x9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Master" Type="http://schemas.openxmlformats.org/officeDocument/2006/relationships/slideMaster" Target="slideMasters/slideMaster1.xml"/><Relationship Id="rIdNotesMaster" Type="http://schemas.openxmlformats.org/officeDocument/2006/relationships/notesMaster" Target="notesMasters/notesMaster1.xml"/><Relationship Id="rIdTheme" Type="http://schemas.openxmlformats.org/officeDocument/2006/relationships/theme" Target="theme/theme1.xml"/><Relationship Id="rIdSlide1" Type="http://schemas.openxmlformats.org/officeDocument/2006/relationships/slide" Target="slides/slide1.xml"/><Relationship Id="rIdSlide2" Type="http://schemas.openxmlformats.org/officeDocument/2006/relationships/slide" Target="slides/slide2.xml"/><Relationship Id="rIdSlide3" Type="http://schemas.openxmlformats.org/officeDocument/2006/relationships/slide" Target="slides/slide3.xml"/><Relationship Id="rIdSlide4" Type="http://schemas.openxmlformats.org/officeDocument/2006/relationships/slide" Target="slides/slide4.xml"/><Relationship Id="rIdSlide5" Type="http://schemas.openxmlformats.org/officeDocument/2006/relationships/slide" Target="slides/slide5.xml"/><Relationship Id="rIdSlide6" Type="http://schemas.openxmlformats.org/officeDocument/2006/relationships/slide" Target="slides/slide6.xml"/><Relationship Id="rIdSlide7" Type="http://schemas.openxmlformats.org/officeDocument/2006/relationships/slide" Target="slides/slide7.xml"/><Relationship Id="rIdSlide8" Type="http://schemas.openxmlformats.org/officeDocument/2006/relationships/slide" Target="slides/slide8.xml"/><Relationship Id="rIdSlide9" Type="http://schemas.openxmlformats.org/officeDocument/2006/relationships/slide" Target="slides/slide9.xml"/><Relationship Id="rIdSlide10" Type="http://schemas.openxmlformats.org/officeDocument/2006/relationships/slide" Target="slides/slide10.xml"/><Relationship Id="rIdSlide11" Type="http://schemas.openxmlformats.org/officeDocument/2006/relationships/slide" Target="slides/slide11.xml"/><Relationship Id="rIdSlide12" Type="http://schemas.openxmlformats.org/officeDocument/2006/relationships/slide" Target="slides/slide12.xml"/><Relationship Id="rIdSlide13" Type="http://schemas.openxmlformats.org/officeDocument/2006/relationships/slide" Target="slides/slide13.xml"/><Relationship Id="rIdSlide14" Type="http://schemas.openxmlformats.org/officeDocument/2006/relationships/slide" Target="slides/slide14.xml"/><Relationship Id="rIdSlide15" Type="http://schemas.openxmlformats.org/officeDocument/2006/relationships/slide" Target="slides/slide15.xml"/><Relationship Id="rIdSlide16" Type="http://schemas.openxmlformats.org/officeDocument/2006/relationships/slide" Target="slides/slide16.xml"/><Relationship Id="rIdSlide17" Type="http://schemas.openxmlformats.org/officeDocument/2006/relationships/slide" Target="slides/slide17.xml"/><Relationship Id="rIdSlide18" Type="http://schemas.openxmlformats.org/officeDocument/2006/relationships/slide" Target="slides/slide18.xml"/><Relationship Id="rIdSlide19" Type="http://schemas.openxmlformats.org/officeDocument/2006/relationships/slide" Target="slides/slide19.xml"/><Relationship Id="rIdSlide20" Type="http://schemas.openxmlformats.org/officeDocument/2006/relationships/slide" Target="slides/slide20.xml"/><Relationship Id="rIdSlide21" Type="http://schemas.openxmlformats.org/officeDocument/2006/relationships/slide" Target="slides/slide21.xml"/><Relationship Id="rIdSlide22" Type="http://schemas.openxmlformats.org/officeDocument/2006/relationships/slide" Target="slides/slide22.xml"/><Relationship Id="rIdSlide23" Type="http://schemas.openxmlformats.org/officeDocument/2006/relationships/slide" Target="slides/slide23.xml"/><Relationship Id="rIdSlide24" Type="http://schemas.openxmlformats.org/officeDocument/2006/relationships/slide" Target="slides/slide24.xml"/><Relationship Id="rIdSlide25" Type="http://schemas.openxmlformats.org/officeDocument/2006/relationships/slide" Target="slides/slide25.xml"/></Relationships>
</file>

<file path=ppt/charts/_rels/chart1.xml.rels><?xml version="1.0" encoding="UTF-8" standalone="yes"?><Relationships xmlns="http://schemas.openxmlformats.org/package/2006/relationships"><Relationship Id="rIdWorkbook" Type="http://schemas.openxmlformats.org/officeDocument/2006/relationships/package" Target="../embeddings/data1.xlsx"/></Relationships>
</file>

<file path=ppt/charts/_rels/chart2.xml.rels><?xml version="1.0" encoding="UTF-8" standalone="yes"?><Relationships xmlns="http://schemas.openxmlformats.org/package/2006/relationships"><Relationship Id="rIdWorkbook" Type="http://schemas.openxmlformats.org/officeDocument/2006/relationships/package" Target="../embeddings/data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Data!$B$1</c:f>
              <c:strCache>
                <c:ptCount val="1"/>
                <c:pt idx="0">
                  <c:v>Tempo de drenagem</c:v>
                </c:pt>
              </c:strCache>
            </c:strRef>
          </c:tx>
          <c:spPr>
            <a:solidFill>
              <a:srgbClr val="FF1A00"/>
            </a:solidFill>
            <a:ln w="9525">
              <a:noFill/>
              <a:prstDash val="solid"/>
            </a:ln>
          </c:spPr>
          <c:cat>
            <c:strRef>
              <c:f>Data!$A$2:$A$5</c:f>
              <c:strCache>
                <c:ptCount val="4"/>
                <c:pt idx="0">
                  <c:v>150 mil</c:v>
                </c:pt>
                <c:pt idx="1">
                  <c:v>300 mil</c:v>
                </c:pt>
                <c:pt idx="2">
                  <c:v>450 mil</c:v>
                </c:pt>
                <c:pt idx="3">
                  <c:v>600 mil</c:v>
                </c:pt>
              </c:strCache>
            </c:strRef>
          </c:cat>
          <c:val>
            <c:numRef>
              <c:f>Data!$B$2:$B$5</c:f>
              <c:numCache>
                <c:formatCode>0</c:formatCode>
                <c:ptCount val="4"/>
                <c:pt idx="0">
                  <c:v>120</c:v>
                </c:pt>
                <c:pt idx="1">
                  <c:v>191</c:v>
                </c:pt>
                <c:pt idx="2">
                  <c:v>259</c:v>
                </c:pt>
                <c:pt idx="3">
                  <c:v>346</c:v>
                </c:pt>
              </c:numCache>
            </c:numRef>
          </c:val>
        </c:ser>
        <c:dLbls>
          <c:txPr>
            <a:bodyPr/>
            <a:lstStyle/>
            <a:p>
              <a:pPr>
                <a:defRPr sz="1725">
                  <a:solidFill>
                    <a:srgbClr val="B9B9BE"/>
                  </a:solidFill>
                  <a:latin typeface="Arial"/>
                </a:defRPr>
              </a:pPr>
              <a:endParaRPr lang="pt-BR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1001"/>
        <c:axId val="1002"/>
      </c:barChart>
      <c:catAx>
        <c:axId val="10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363638"/>
            </a:solidFill>
            <a:prstDash val="solid"/>
          </a:ln>
        </c:spPr>
        <c:txPr>
          <a:bodyPr/>
          <a:lstStyle/>
          <a:p>
            <a:pPr>
              <a:defRPr sz="1500">
                <a:solidFill>
                  <a:srgbClr val="B9B9BE"/>
                </a:solidFill>
                <a:latin typeface="Arial"/>
              </a:defRPr>
            </a:pPr>
            <a:endParaRPr lang="pt-BR"/>
          </a:p>
        </c:txPr>
        <c:crossAx val="1002"/>
        <c:crosses val="autoZero"/>
        <c:auto val="1"/>
        <c:lblAlgn val="ctr"/>
        <c:lblOffset val="100"/>
      </c:catAx>
      <c:valAx>
        <c:axId val="1002"/>
        <c:scaling>
          <c:orientation val="minMax"/>
          <c:max val="450"/>
          <c:min val="0"/>
        </c:scaling>
        <c:delete val="0"/>
        <c:axPos val="l"/>
        <c:majorGridlines>
          <c:spPr>
            <a:ln w="9525">
              <a:solidFill>
                <a:srgbClr val="363638"/>
              </a:solidFill>
              <a:prstDash val="solid"/>
            </a:ln>
          </c:spPr>
        </c:majorGridlines>
        <c:numFmt formatCode="0&quot; s&quot;" sourceLinked="0"/>
        <c:majorTickMark val="none"/>
        <c:minorTickMark val="none"/>
        <c:tickLblPos val="nextTo"/>
        <c:spPr>
          <a:ln w="9525">
            <a:solidFill>
              <a:srgbClr val="363638"/>
            </a:solidFill>
            <a:prstDash val="solid"/>
          </a:ln>
        </c:spPr>
        <c:txPr>
          <a:bodyPr/>
          <a:lstStyle/>
          <a:p>
            <a:pPr>
              <a:defRPr sz="1350">
                <a:solidFill>
                  <a:srgbClr val="B9B9BE"/>
                </a:solidFill>
                <a:latin typeface="Arial"/>
              </a:defRPr>
            </a:pPr>
            <a:endParaRPr lang="pt-BR"/>
          </a:p>
        </c:txPr>
        <c:crossAx val="1001"/>
        <c:crosses val="autoZero"/>
        <c:crossBetween val="between"/>
      </c:valAx>
      <c:spPr>
        <a:solidFill>
          <a:srgbClr val="0A0A0A"/>
        </a:solidFill>
        <a:ln w="9525">
          <a:noFill/>
          <a:prstDash val="solid"/>
        </a:ln>
      </c:spPr>
    </c:plotArea>
    <c:plotVisOnly val="1"/>
    <c:dispBlanksAs val="gap"/>
  </c:chart>
  <c:spPr>
    <a:solidFill>
      <a:srgbClr val="0A0A0A"/>
    </a:solidFill>
    <a:ln w="9525">
      <a:noFill/>
      <a:prstDash val="solid"/>
    </a:ln>
  </c:spPr>
  <c:txPr>
    <a:bodyPr/>
    <a:lstStyle/>
    <a:p>
      <a:pPr>
        <a:defRPr sz="1500">
          <a:solidFill>
            <a:srgbClr val="B9B9BE"/>
          </a:solidFill>
          <a:latin typeface="Arial"/>
        </a:defRPr>
      </a:pPr>
      <a:endParaRPr lang="pt-BR"/>
    </a:p>
  </c:txPr>
  <c:externalData r:id="rIdWorkbook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Data!$B$1</c:f>
              <c:strCache>
                <c:ptCount val="1"/>
                <c:pt idx="0">
                  <c:v>p95 das requisições</c:v>
                </c:pt>
              </c:strCache>
            </c:strRef>
          </c:tx>
          <c:spPr>
            <a:solidFill>
              <a:srgbClr val="FF1A00"/>
            </a:solidFill>
            <a:ln w="9525">
              <a:noFill/>
              <a:prstDash val="solid"/>
            </a:ln>
          </c:spPr>
          <c:cat>
            <c:strRef>
              <c:f>Data!$A$2:$A$4</c:f>
              <c:strCache>
                <c:ptCount val="3"/>
                <c:pt idx="0">
                  <c:v>5 VUs</c:v>
                </c:pt>
                <c:pt idx="1">
                  <c:v>25 VUs</c:v>
                </c:pt>
                <c:pt idx="2">
                  <c:v>100 VUs</c:v>
                </c:pt>
              </c:strCache>
            </c:strRef>
          </c:cat>
          <c:val>
            <c:numRef>
              <c:f>Data!$B$2:$B$4</c:f>
              <c:numCache>
                <c:formatCode>0</c:formatCode>
                <c:ptCount val="3"/>
                <c:pt idx="0">
                  <c:v>260</c:v>
                </c:pt>
                <c:pt idx="1">
                  <c:v>304</c:v>
                </c:pt>
                <c:pt idx="2">
                  <c:v>841</c:v>
                </c:pt>
              </c:numCache>
            </c:numRef>
          </c:val>
        </c:ser>
        <c:dLbls>
          <c:txPr>
            <a:bodyPr/>
            <a:lstStyle/>
            <a:p>
              <a:pPr>
                <a:defRPr sz="1725">
                  <a:solidFill>
                    <a:srgbClr val="B9B9BE"/>
                  </a:solidFill>
                  <a:latin typeface="Arial"/>
                </a:defRPr>
              </a:pPr>
              <a:endParaRPr lang="pt-BR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1001"/>
        <c:axId val="1002"/>
      </c:barChart>
      <c:catAx>
        <c:axId val="10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363638"/>
            </a:solidFill>
            <a:prstDash val="solid"/>
          </a:ln>
        </c:spPr>
        <c:txPr>
          <a:bodyPr/>
          <a:lstStyle/>
          <a:p>
            <a:pPr>
              <a:defRPr sz="1500">
                <a:solidFill>
                  <a:srgbClr val="B9B9BE"/>
                </a:solidFill>
                <a:latin typeface="Arial"/>
              </a:defRPr>
            </a:pPr>
            <a:endParaRPr lang="pt-BR"/>
          </a:p>
        </c:txPr>
        <c:crossAx val="1002"/>
        <c:crosses val="autoZero"/>
        <c:auto val="1"/>
        <c:lblAlgn val="ctr"/>
        <c:lblOffset val="100"/>
      </c:catAx>
      <c:valAx>
        <c:axId val="1002"/>
        <c:scaling>
          <c:orientation val="minMax"/>
          <c:max val="1000"/>
          <c:min val="0"/>
        </c:scaling>
        <c:delete val="0"/>
        <c:axPos val="l"/>
        <c:majorGridlines>
          <c:spPr>
            <a:ln w="9525">
              <a:solidFill>
                <a:srgbClr val="363638"/>
              </a:solidFill>
              <a:prstDash val="solid"/>
            </a:ln>
          </c:spPr>
        </c:majorGridlines>
        <c:numFmt formatCode="0&quot; ms&quot;" sourceLinked="0"/>
        <c:majorTickMark val="none"/>
        <c:minorTickMark val="none"/>
        <c:tickLblPos val="nextTo"/>
        <c:spPr>
          <a:ln w="9525">
            <a:solidFill>
              <a:srgbClr val="363638"/>
            </a:solidFill>
            <a:prstDash val="solid"/>
          </a:ln>
        </c:spPr>
        <c:txPr>
          <a:bodyPr/>
          <a:lstStyle/>
          <a:p>
            <a:pPr>
              <a:defRPr sz="1350">
                <a:solidFill>
                  <a:srgbClr val="B9B9BE"/>
                </a:solidFill>
                <a:latin typeface="Arial"/>
              </a:defRPr>
            </a:pPr>
            <a:endParaRPr lang="pt-BR"/>
          </a:p>
        </c:txPr>
        <c:crossAx val="1001"/>
        <c:crosses val="autoZero"/>
        <c:crossBetween val="between"/>
      </c:valAx>
      <c:spPr>
        <a:solidFill>
          <a:srgbClr val="0A0A0A"/>
        </a:solidFill>
        <a:ln w="9525">
          <a:noFill/>
          <a:prstDash val="solid"/>
        </a:ln>
      </c:spPr>
    </c:plotArea>
    <c:plotVisOnly val="1"/>
    <c:dispBlanksAs val="gap"/>
  </c:chart>
  <c:spPr>
    <a:solidFill>
      <a:srgbClr val="0A0A0A"/>
    </a:solidFill>
    <a:ln w="9525">
      <a:noFill/>
      <a:prstDash val="solid"/>
    </a:ln>
  </c:spPr>
  <c:txPr>
    <a:bodyPr/>
    <a:lstStyle/>
    <a:p>
      <a:pPr>
        <a:defRPr sz="1500">
          <a:solidFill>
            <a:srgbClr val="B9B9BE"/>
          </a:solidFill>
          <a:latin typeface="Arial"/>
        </a:defRPr>
      </a:pPr>
      <a:endParaRPr lang="pt-BR"/>
    </a:p>
  </c:txPr>
  <c:externalData r:id="rIdWorkbook">
    <c:autoUpdate val="0"/>
  </c:externalData>
</c:chartSpace>
</file>

<file path=ppt/notesMasters/_rels/notesMaster1.xml.rels><?xml version="1.0" encoding="UTF-8" standalone="yes"?><Relationships xmlns="http://schemas.openxmlformats.org/package/2006/relationships"><Relationship Id="rIdTheme" Type="http://schemas.openxmlformats.org/officeDocument/2006/relationships/theme" Target="../theme/theme1.xml"/></Relationships>
</file>

<file path=ppt/notesMasters/notesMaster1.xml><?xml version="1.0" encoding="utf-8"?>
<p:notes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/>
</p:notesMaster>
</file>

<file path=ppt/notesSlides/_rels/notesSlide1.xml.rels><?xml version="1.0" encoding="UTF-8" standalone="yes"?><Relationships xmlns="http://schemas.openxmlformats.org/package/2006/relationships"><Relationship Id="rIdNotesMaster" Type="http://schemas.openxmlformats.org/officeDocument/2006/relationships/notesMaster" Target="../notesMasters/notesMaster1.xml"/><Relationship Id="rIdSlide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NotesMaster" Type="http://schemas.openxmlformats.org/officeDocument/2006/relationships/notesMaster" Target="../notesMasters/notesMaster1.xml"/><Relationship Id="rIdSlide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NotesMaster" Type="http://schemas.openxmlformats.org/officeDocument/2006/relationships/notesMaster" Target="../notesMasters/notesMaster1.xml"/><Relationship Id="rIdSlide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NotesMaster" Type="http://schemas.openxmlformats.org/officeDocument/2006/relationships/notesMaster" Target="../notesMasters/notesMaster1.xml"/><Relationship Id="rIdSlide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NotesMaster" Type="http://schemas.openxmlformats.org/officeDocument/2006/relationships/notesMaster" Target="../notesMasters/notesMaster1.xml"/><Relationship Id="rIdSlide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NotesMaster" Type="http://schemas.openxmlformats.org/officeDocument/2006/relationships/notesMaster" Target="../notesMasters/notesMaster1.xml"/><Relationship Id="rIdSlide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NotesMaster" Type="http://schemas.openxmlformats.org/officeDocument/2006/relationships/notesMaster" Target="../notesMasters/notesMaster1.xml"/><Relationship Id="rIdSlide" Type="http://schemas.openxmlformats.org/officeDocument/2006/relationships/slide" Target="../slides/slide7.xml"/></Relationships>
</file>

<file path=ppt/notesSlides/_rels/notesSlide8.xml.rels><?xml version="1.0" encoding="UTF-8" standalone="yes"?><Relationships xmlns="http://schemas.openxmlformats.org/package/2006/relationships"><Relationship Id="rIdNotesMaster" Type="http://schemas.openxmlformats.org/officeDocument/2006/relationships/notesMaster" Target="../notesMasters/notesMaster1.xml"/><Relationship Id="rIdSlide" Type="http://schemas.openxmlformats.org/officeDocument/2006/relationships/slide" Target="../slides/slide8.xml"/></Relationships>
</file>

<file path=ppt/notesSlides/_rels/notesSlide9.xml.rels><?xml version="1.0" encoding="UTF-8" standalone="yes"?><Relationships xmlns="http://schemas.openxmlformats.org/package/2006/relationships"><Relationship Id="rIdNotesMaster" Type="http://schemas.openxmlformats.org/officeDocument/2006/relationships/notesMaster" Target="../notesMasters/notesMaster1.xml"/><Relationship Id="rIdSlide" Type="http://schemas.openxmlformats.org/officeDocument/2006/relationships/slide" Target="../slides/slide9.xml"/></Relationships>
</file>

<file path=ppt/notesSlides/_rels/notesSlide10.xml.rels><?xml version="1.0" encoding="UTF-8" standalone="yes"?><Relationships xmlns="http://schemas.openxmlformats.org/package/2006/relationships"><Relationship Id="rIdNotesMaster" Type="http://schemas.openxmlformats.org/officeDocument/2006/relationships/notesMaster" Target="../notesMasters/notesMaster1.xml"/><Relationship Id="rIdSlide" Type="http://schemas.openxmlformats.org/officeDocument/2006/relationships/slide" Target="../slides/slide10.xml"/></Relationships>
</file>

<file path=ppt/notesSlides/_rels/notesSlide11.xml.rels><?xml version="1.0" encoding="UTF-8" standalone="yes"?><Relationships xmlns="http://schemas.openxmlformats.org/package/2006/relationships"><Relationship Id="rIdNotesMaster" Type="http://schemas.openxmlformats.org/officeDocument/2006/relationships/notesMaster" Target="../notesMasters/notesMaster1.xml"/><Relationship Id="rIdSlide" Type="http://schemas.openxmlformats.org/officeDocument/2006/relationships/slide" Target="../slides/slide11.xml"/></Relationships>
</file>

<file path=ppt/notesSlides/_rels/notesSlide12.xml.rels><?xml version="1.0" encoding="UTF-8" standalone="yes"?><Relationships xmlns="http://schemas.openxmlformats.org/package/2006/relationships"><Relationship Id="rIdNotesMaster" Type="http://schemas.openxmlformats.org/officeDocument/2006/relationships/notesMaster" Target="../notesMasters/notesMaster1.xml"/><Relationship Id="rIdSlide" Type="http://schemas.openxmlformats.org/officeDocument/2006/relationships/slide" Target="../slides/slide12.xml"/></Relationships>
</file>

<file path=ppt/notesSlides/_rels/notesSlide13.xml.rels><?xml version="1.0" encoding="UTF-8" standalone="yes"?><Relationships xmlns="http://schemas.openxmlformats.org/package/2006/relationships"><Relationship Id="rIdNotesMaster" Type="http://schemas.openxmlformats.org/officeDocument/2006/relationships/notesMaster" Target="../notesMasters/notesMaster1.xml"/><Relationship Id="rIdSlide" Type="http://schemas.openxmlformats.org/officeDocument/2006/relationships/slide" Target="../slides/slide13.xml"/></Relationships>
</file>

<file path=ppt/notesSlides/_rels/notesSlide14.xml.rels><?xml version="1.0" encoding="UTF-8" standalone="yes"?><Relationships xmlns="http://schemas.openxmlformats.org/package/2006/relationships"><Relationship Id="rIdNotesMaster" Type="http://schemas.openxmlformats.org/officeDocument/2006/relationships/notesMaster" Target="../notesMasters/notesMaster1.xml"/><Relationship Id="rIdSlide" Type="http://schemas.openxmlformats.org/officeDocument/2006/relationships/slide" Target="../slides/slide14.xml"/></Relationships>
</file>

<file path=ppt/notesSlides/_rels/notesSlide15.xml.rels><?xml version="1.0" encoding="UTF-8" standalone="yes"?><Relationships xmlns="http://schemas.openxmlformats.org/package/2006/relationships"><Relationship Id="rIdNotesMaster" Type="http://schemas.openxmlformats.org/officeDocument/2006/relationships/notesMaster" Target="../notesMasters/notesMaster1.xml"/><Relationship Id="rIdSlide" Type="http://schemas.openxmlformats.org/officeDocument/2006/relationships/slide" Target="../slides/slide15.xml"/></Relationships>
</file>

<file path=ppt/notesSlides/_rels/notesSlide16.xml.rels><?xml version="1.0" encoding="UTF-8" standalone="yes"?><Relationships xmlns="http://schemas.openxmlformats.org/package/2006/relationships"><Relationship Id="rIdNotesMaster" Type="http://schemas.openxmlformats.org/officeDocument/2006/relationships/notesMaster" Target="../notesMasters/notesMaster1.xml"/><Relationship Id="rIdSlide" Type="http://schemas.openxmlformats.org/officeDocument/2006/relationships/slide" Target="../slides/slide16.xml"/></Relationships>
</file>

<file path=ppt/notesSlides/_rels/notesSlide17.xml.rels><?xml version="1.0" encoding="UTF-8" standalone="yes"?><Relationships xmlns="http://schemas.openxmlformats.org/package/2006/relationships"><Relationship Id="rIdNotesMaster" Type="http://schemas.openxmlformats.org/officeDocument/2006/relationships/notesMaster" Target="../notesMasters/notesMaster1.xml"/><Relationship Id="rIdSlide" Type="http://schemas.openxmlformats.org/officeDocument/2006/relationships/slide" Target="../slides/slide17.xml"/></Relationships>
</file>

<file path=ppt/notesSlides/_rels/notesSlide18.xml.rels><?xml version="1.0" encoding="UTF-8" standalone="yes"?><Relationships xmlns="http://schemas.openxmlformats.org/package/2006/relationships"><Relationship Id="rIdNotesMaster" Type="http://schemas.openxmlformats.org/officeDocument/2006/relationships/notesMaster" Target="../notesMasters/notesMaster1.xml"/><Relationship Id="rIdSlide" Type="http://schemas.openxmlformats.org/officeDocument/2006/relationships/slide" Target="../slides/slide18.xml"/></Relationships>
</file>

<file path=ppt/notesSlides/_rels/notesSlide19.xml.rels><?xml version="1.0" encoding="UTF-8" standalone="yes"?><Relationships xmlns="http://schemas.openxmlformats.org/package/2006/relationships"><Relationship Id="rIdNotesMaster" Type="http://schemas.openxmlformats.org/officeDocument/2006/relationships/notesMaster" Target="../notesMasters/notesMaster1.xml"/><Relationship Id="rIdSlide" Type="http://schemas.openxmlformats.org/officeDocument/2006/relationships/slide" Target="../slides/slide19.xml"/></Relationships>
</file>

<file path=ppt/notesSlides/_rels/notesSlide20.xml.rels><?xml version="1.0" encoding="UTF-8" standalone="yes"?><Relationships xmlns="http://schemas.openxmlformats.org/package/2006/relationships"><Relationship Id="rIdNotesMaster" Type="http://schemas.openxmlformats.org/officeDocument/2006/relationships/notesMaster" Target="../notesMasters/notesMaster1.xml"/><Relationship Id="rIdSlide" Type="http://schemas.openxmlformats.org/officeDocument/2006/relationships/slide" Target="../slides/slide20.xml"/></Relationships>
</file>

<file path=ppt/notesSlides/_rels/notesSlide21.xml.rels><?xml version="1.0" encoding="UTF-8" standalone="yes"?><Relationships xmlns="http://schemas.openxmlformats.org/package/2006/relationships"><Relationship Id="rIdNotesMaster" Type="http://schemas.openxmlformats.org/officeDocument/2006/relationships/notesMaster" Target="../notesMasters/notesMaster1.xml"/><Relationship Id="rIdSlide" Type="http://schemas.openxmlformats.org/officeDocument/2006/relationships/slide" Target="../slides/slide21.xml"/></Relationships>
</file>

<file path=ppt/notesSlides/_rels/notesSlide22.xml.rels><?xml version="1.0" encoding="UTF-8" standalone="yes"?><Relationships xmlns="http://schemas.openxmlformats.org/package/2006/relationships"><Relationship Id="rIdNotesMaster" Type="http://schemas.openxmlformats.org/officeDocument/2006/relationships/notesMaster" Target="../notesMasters/notesMaster1.xml"/><Relationship Id="rIdSlide" Type="http://schemas.openxmlformats.org/officeDocument/2006/relationships/slide" Target="../slides/slide22.xml"/></Relationships>
</file>

<file path=ppt/notesSlides/_rels/notesSlide23.xml.rels><?xml version="1.0" encoding="UTF-8" standalone="yes"?><Relationships xmlns="http://schemas.openxmlformats.org/package/2006/relationships"><Relationship Id="rIdNotesMaster" Type="http://schemas.openxmlformats.org/officeDocument/2006/relationships/notesMaster" Target="../notesMasters/notesMaster1.xml"/><Relationship Id="rIdSlide" Type="http://schemas.openxmlformats.org/officeDocument/2006/relationships/slide" Target="../slides/slide23.xml"/></Relationships>
</file>

<file path=ppt/notesSlides/_rels/notesSlide24.xml.rels><?xml version="1.0" encoding="UTF-8" standalone="yes"?><Relationships xmlns="http://schemas.openxmlformats.org/package/2006/relationships"><Relationship Id="rIdNotesMaster" Type="http://schemas.openxmlformats.org/officeDocument/2006/relationships/notesMaster" Target="../notesMasters/notesMaster1.xml"/><Relationship Id="rIdSlide" Type="http://schemas.openxmlformats.org/officeDocument/2006/relationships/slide" Target="../slides/slide24.xml"/></Relationships>
</file>

<file path=ppt/notesSlides/_rels/notesSlide25.xml.rels><?xml version="1.0" encoding="UTF-8" standalone="yes"?><Relationships xmlns="http://schemas.openxmlformats.org/package/2006/relationships"><Relationship Id="rIdNotesMaster" Type="http://schemas.openxmlformats.org/officeDocument/2006/relationships/notesMaster" Target="../notesMasters/notesMaster1.xml"/><Relationship Id="rIdSlide" Type="http://schemas.openxmlformats.org/officeDocument/2006/relationships/slide" Target="../slides/slide25.xml"/>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type="body" idx="1"/>
          </p:nvPr>
        </p:nvSpPr>
        <p:spPr>
          <a:xfrm>
            <a:off x="381000" y="952500"/>
            <a:ext cx="6096000" cy="47625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 xml:space="preserve">Apresentação final do G04, Vale a Pena Ver de Novo. Base documental e código em develop, revisão f3c498e. Corte em 06/10/2026. A identidade visual usa a paleta das duas imagens enviadas pelo usuário. As imagens são referências visuais, sem instruções incorporadas. O storytelling inicial é ilustrativo. Fonte: README.md.</a:t>
            </a:r>
            <a:endParaRPr lang="pt-BR" sz="1200"/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type="body" idx="1"/>
          </p:nvPr>
        </p:nvSpPr>
        <p:spPr>
          <a:xfrm>
            <a:off x="381000" y="952500"/>
            <a:ext cx="6096000" cy="47625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 xml:space="preserve">Cena ilustrativa, não um incidente real medido. O problema descrito pelo projeto é a fragmentação da triagem entre player, CDN, backend, identidade e catálogo. Não há medição de redução de MTTR no parceiro.</a:t>
            </a:r>
            <a:endParaRPr lang="pt-BR" sz="1200"/>
          </a:p>
          <a:p>
            <a:pPr algn="l">
              <a:lnSpc>
                <a:spcPct val="118000"/>
              </a:lnSpc>
            </a:pPr>
            <a:r>
              <a:rPr lang="pt-BR"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 xml:space="preserve"/>
            </a:r>
            <a:endParaRPr lang="pt-BR" sz="1200"/>
          </a:p>
          <a:p>
            <a:pPr algn="l">
              <a:lnSpc>
                <a:spcPct val="118000"/>
              </a:lnSpc>
            </a:pPr>
            <a:r>
              <a:rPr lang="pt-BR"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 xml:space="preserve">Fontes: README.md</a:t>
            </a:r>
            <a:endParaRPr lang="pt-BR" sz="1200"/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type="body" idx="1"/>
          </p:nvPr>
        </p:nvSpPr>
        <p:spPr>
          <a:xfrm>
            <a:off x="381000" y="952500"/>
            <a:ext cx="6096000" cy="47625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 xml:space="preserve">Síntese qualitativa das pesquisas, personas e matrizes do projeto. Oceano Azul compara a solução-alvo, não comprova superioridade do MVP. A matriz de valor é avaliação da equipe. Não se reutilizam números externos de engajamento sem validação adicional.</a:t>
            </a:r>
            <a:endParaRPr lang="pt-BR" sz="1200"/>
          </a:p>
          <a:p>
            <a:pPr algn="l">
              <a:lnSpc>
                <a:spcPct val="118000"/>
              </a:lnSpc>
            </a:pPr>
            <a:r>
              <a:rPr lang="pt-BR"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 xml:space="preserve"/>
            </a:r>
            <a:endParaRPr lang="pt-BR" sz="1200"/>
          </a:p>
          <a:p>
            <a:pPr algn="l">
              <a:lnSpc>
                <a:spcPct val="118000"/>
              </a:lnSpc>
            </a:pPr>
            <a:r>
              <a:rPr lang="pt-BR"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 xml:space="preserve">Fontes: artefatos/entendimento_negocio.md; artefatos/entendimento_ux.md</a:t>
            </a:r>
            <a:endParaRPr lang="pt-BR" sz="1200"/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type="body" idx="1"/>
          </p:nvPr>
        </p:nvSpPr>
        <p:spPr>
          <a:xfrm>
            <a:off x="381000" y="952500"/>
            <a:ext cx="6096000" cy="47625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 xml:space="preserve">O motor determinístico e suas regras estão no código e têm testes. O fluxo completo de alta carga/frescor e o agente IA alternativo ainda não estão validados em produção. A apresentação trata o que foi resolvido total ou parcialmente, conforme a referência fornecida pelo usuário.</a:t>
            </a:r>
            <a:endParaRPr lang="pt-BR" sz="1200"/>
          </a:p>
          <a:p>
            <a:pPr algn="l">
              <a:lnSpc>
                <a:spcPct val="118000"/>
              </a:lnSpc>
            </a:pPr>
            <a:r>
              <a:rPr lang="pt-BR"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 xml:space="preserve"/>
            </a:r>
            <a:endParaRPr lang="pt-BR" sz="1200"/>
          </a:p>
          <a:p>
            <a:pPr algn="l">
              <a:lnSpc>
                <a:spcPct val="118000"/>
              </a:lnSpc>
            </a:pPr>
            <a:r>
              <a:rPr lang="pt-BR"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 xml:space="preserve">Fontes: artefatos/arquitetura-final.md; artefatos/testes-funcionais.md; artefatos/arquitetura-agente-hipoteses-ia.md</a:t>
            </a:r>
            <a:endParaRPr lang="pt-BR" sz="1200"/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type="body" idx="1"/>
          </p:nvPr>
        </p:nvSpPr>
        <p:spPr>
          <a:xfrm>
            <a:off x="381000" y="952500"/>
            <a:ext cx="6096000" cy="47625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 xml:space="preserve">O diagrama mostra o caminho lógico de escrita e consulta. Gateway e SQS desacoplam os clientes dos consumidores. Os workers gravam Bronze, o processamento constrói Silver e Gold, e o EKS serve a leitura. O controle temporal impede acesso a informações que ainda não estariam disponíveis no presente simulado. A camada Detect coordena execuções, checkpoints, baseline e claims.</a:t>
            </a:r>
            <a:endParaRPr lang="pt-BR" sz="1200"/>
          </a:p>
          <a:p>
            <a:pPr algn="l">
              <a:lnSpc>
                <a:spcPct val="118000"/>
              </a:lnSpc>
            </a:pPr>
            <a:r>
              <a:rPr lang="pt-BR"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 xml:space="preserve"/>
            </a:r>
            <a:endParaRPr lang="pt-BR" sz="1200"/>
          </a:p>
          <a:p>
            <a:pPr algn="l">
              <a:lnSpc>
                <a:spcPct val="118000"/>
              </a:lnSpc>
            </a:pPr>
            <a:r>
              <a:rPr lang="pt-BR"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 xml:space="preserve">Fontes: artefatos/arquitetura-final.md; README.md</a:t>
            </a:r>
            <a:endParaRPr lang="pt-BR" sz="1200"/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type="body" idx="1"/>
          </p:nvPr>
        </p:nvSpPr>
        <p:spPr>
          <a:xfrm>
            <a:off x="381000" y="952500"/>
            <a:ext cx="6096000" cy="47625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 xml:space="preserve">O fluxo de TV recebe request, screen_view, session, video_view, vitals e error. O fluxo CDC registra a mudança e atualiza a tabela corrente na mesma transação. CSV e Parquet entram por um serviço próprio e usam ingest.file_job no PostgreSQL, sem SQS. Essa importação aceita o envelope de eventos da TV, e não qualquer tabela CDC. A carga inicial via loader/COPY é um bootstrap separado. O README atual do worker esclarece que o envio usa a sessão existente do painel.</a:t>
            </a:r>
            <a:endParaRPr lang="pt-BR" sz="1200"/>
          </a:p>
          <a:p>
            <a:pPr algn="l">
              <a:lnSpc>
                <a:spcPct val="118000"/>
              </a:lnSpc>
            </a:pPr>
            <a:r>
              <a:rPr lang="pt-BR"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 xml:space="preserve"/>
            </a:r>
            <a:endParaRPr lang="pt-BR" sz="1200"/>
          </a:p>
          <a:p>
            <a:pPr algn="l">
              <a:lnSpc>
                <a:spcPct val="118000"/>
              </a:lnSpc>
            </a:pPr>
            <a:r>
              <a:rPr lang="pt-BR"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 xml:space="preserve">Fontes: README.md; artefatos/plano-ingestao-arquivos.md; apps/fullstack/worker/README.md</a:t>
            </a:r>
            <a:endParaRPr lang="pt-BR" sz="1200"/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type="body" idx="1"/>
          </p:nvPr>
        </p:nvSpPr>
        <p:spPr>
          <a:xfrm>
            <a:off x="381000" y="952500"/>
            <a:ext cx="6096000" cy="47625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 xml:space="preserve">A implementação observada usa Python para backend, workers, ETL e regras. Flask, psycopg e Pydantic são dependências existentes. Go é uma alternativa técnica, não um componente implementado. Goroutines e channels são documentados em Effective Go. Em CPython com GIL, threads são úteis para I/O, mas limitadas para bytecode CPU-bound. A adequação ao projeto é avaliação de engenharia, não resultado de benchmark Go versus Python. Não há comparação controlada de custo, memória ou vazão entre as linguagens no repositório.</a:t>
            </a:r>
            <a:endParaRPr lang="pt-BR" sz="1200"/>
          </a:p>
          <a:p>
            <a:pPr algn="l">
              <a:lnSpc>
                <a:spcPct val="118000"/>
              </a:lnSpc>
            </a:pPr>
            <a:r>
              <a:rPr lang="pt-BR"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 xml:space="preserve"/>
            </a:r>
            <a:endParaRPr lang="pt-BR" sz="1200"/>
          </a:p>
          <a:p>
            <a:pPr algn="l">
              <a:lnSpc>
                <a:spcPct val="118000"/>
              </a:lnSpc>
            </a:pPr>
            <a:r>
              <a:rPr lang="pt-BR"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 xml:space="preserve">Fontes: apps/fullstack/backend/pyproject.toml; apps/fullstack/processing/pyproject.toml; https://go.dev/doc/effective_go; https://docs.python.org/3/library/threading.html</a:t>
            </a:r>
            <a:endParaRPr lang="pt-BR" sz="1200"/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type="body" idx="1"/>
          </p:nvPr>
        </p:nvSpPr>
        <p:spPr>
          <a:xfrm>
            <a:off x="381000" y="952500"/>
            <a:ext cx="6096000" cy="47625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 xml:space="preserve">O exemplo é ilustrativo. As regras produzem candidatas, não causas confirmadas. O código pondera A, anomalia (25%), T, proximidade temporal (20%), C, corroboração (20%), E, especificidade (15%), I, impacto (15%) e Q, qualidade (5%). Normaliza o score pelos pesos disponíveis e aplica uma penalidade de 30 × X por contradição. Features ausentes reduzem a cobertura. Confiança alta exige score ≥ 80, cobertura ≥ 0,80, Q ≥ 0,70 e contradição &lt; 0,5. Confiança média exige score ≥ 60, cobertura ≥ 0,60 e contradição &lt; 0,8. Score não é probabilidade.</a:t>
            </a:r>
            <a:endParaRPr lang="pt-BR" sz="1200"/>
          </a:p>
          <a:p>
            <a:pPr algn="l">
              <a:lnSpc>
                <a:spcPct val="118000"/>
              </a:lnSpc>
            </a:pPr>
            <a:r>
              <a:rPr lang="pt-BR"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 xml:space="preserve"/>
            </a:r>
            <a:endParaRPr lang="pt-BR" sz="1200"/>
          </a:p>
          <a:p>
            <a:pPr algn="l">
              <a:lnSpc>
                <a:spcPct val="118000"/>
              </a:lnSpc>
            </a:pPr>
            <a:r>
              <a:rPr lang="pt-BR"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 xml:space="preserve">Fontes: artefatos/correlacao_dados.md; apps/fullstack/processing/src/argus_processing/scoring.py; apps/fullstack/processing/src/argus_processing/rules.py</a:t>
            </a:r>
            <a:endParaRPr lang="pt-BR" sz="1200"/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type="body" idx="1"/>
          </p:nvPr>
        </p:nvSpPr>
        <p:spPr>
          <a:xfrm>
            <a:off x="381000" y="952500"/>
            <a:ext cx="6096000" cy="47625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 xml:space="preserve">O motor atual é determinístico. O refinador Ollama recebe uma hipótese publicada, produz texto estruturado e valida as referências citadas. Não participa do cálculo de score nem da ingestão. Sua integração no EKS ainda não foi validada. O agente alternativo é uma proposta de MVA: investiga fatos de um checkpoint sem receber rótulos, scores ou hipóteses do motor atual. Modelo e provedor desse agente ainda estão em aberto. OLLAMA_MODEL é configurável e, quando vazio, o cliente consulta /api/tags e usa o primeiro modelo instalado. Não há evidência de um modelo específico em execução.</a:t>
            </a:r>
            <a:endParaRPr lang="pt-BR" sz="1200"/>
          </a:p>
          <a:p>
            <a:pPr algn="l">
              <a:lnSpc>
                <a:spcPct val="118000"/>
              </a:lnSpc>
            </a:pPr>
            <a:r>
              <a:rPr lang="pt-BR"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 xml:space="preserve"/>
            </a:r>
            <a:endParaRPr lang="pt-BR" sz="1200"/>
          </a:p>
          <a:p>
            <a:pPr algn="l">
              <a:lnSpc>
                <a:spcPct val="118000"/>
              </a:lnSpc>
            </a:pPr>
            <a:r>
              <a:rPr lang="pt-BR"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 xml:space="preserve">Fontes: artefatos/arquitetura-agente-hipoteses-ia.md; apps/fullstack/backend/src/telemetry/infrastructure/ollama.py; apps/fullstack/backend/src/telemetry/config.py</a:t>
            </a:r>
            <a:endParaRPr lang="pt-BR" sz="1200"/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type="body" idx="1"/>
          </p:nvPr>
        </p:nvSpPr>
        <p:spPr>
          <a:xfrm>
            <a:off x="381000" y="952500"/>
            <a:ext cx="6096000" cy="47625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 xml:space="preserve">Captura histórica versionada da tela Agora. Serve para mostrar a interface, não provar incidente real, ganho de MTTR nem validar todas as rotas atuais. O clock da simulação e os filtros ajudam a contextualizar os desvios. Não editar métricas da captura.</a:t>
            </a:r>
            <a:endParaRPr lang="pt-BR" sz="1200"/>
          </a:p>
          <a:p>
            <a:pPr algn="l">
              <a:lnSpc>
                <a:spcPct val="118000"/>
              </a:lnSpc>
            </a:pPr>
            <a:r>
              <a:rPr lang="pt-BR"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 xml:space="preserve"/>
            </a:r>
            <a:endParaRPr lang="pt-BR" sz="1200"/>
          </a:p>
          <a:p>
            <a:pPr algn="l">
              <a:lnSpc>
                <a:spcPct val="118000"/>
              </a:lnSpc>
            </a:pPr>
            <a:r>
              <a:rPr lang="pt-BR"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 xml:space="preserve">Fontes: artefatos/assets/captura_agora_tema_escuro.png; artefatos/frontend.md</a:t>
            </a:r>
            <a:endParaRPr lang="pt-BR" sz="1200"/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type="body" idx="1"/>
          </p:nvPr>
        </p:nvSpPr>
        <p:spPr>
          <a:xfrm>
            <a:off x="381000" y="952500"/>
            <a:ext cx="6096000" cy="47625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 xml:space="preserve">A finalização documentada em 05/10 registra 92 testes de frontend em 16 arquivos e 125 testes de worker com PostgreSQL real. Um teste legado de SIGTERM, com semântica POSIX, ficou fora da execução Windows. A revisão visual simulou a fronteira HTTP, enquanto os testes Python verificaram a persistência real. Os limites são 50 MiB, 100 mil registros e 64 colunas. Não houve publicação AWS, e a imagem final com a sonda ajustada e os novos Deployments ainda não foram executados.</a:t>
            </a:r>
            <a:endParaRPr lang="pt-BR" sz="1200"/>
          </a:p>
          <a:p>
            <a:pPr algn="l">
              <a:lnSpc>
                <a:spcPct val="118000"/>
              </a:lnSpc>
            </a:pPr>
            <a:r>
              <a:rPr lang="pt-BR"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 xml:space="preserve"/>
            </a:r>
            <a:endParaRPr lang="pt-BR" sz="1200"/>
          </a:p>
          <a:p>
            <a:pPr algn="l">
              <a:lnSpc>
                <a:spcPct val="118000"/>
              </a:lnSpc>
            </a:pPr>
            <a:r>
              <a:rPr lang="pt-BR"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 xml:space="preserve">Fontes: artefatos/plano-ingestao-arquivos.md; apps/fullstack/worker/README.md</a:t>
            </a:r>
            <a:endParaRPr lang="pt-BR" sz="1200"/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type="body" idx="1"/>
          </p:nvPr>
        </p:nvSpPr>
        <p:spPr>
          <a:xfrm>
            <a:off x="381000" y="952500"/>
            <a:ext cx="6096000" cy="47625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 xml:space="preserve">EKS Auto Mode para API Flask/gunicorn e frontend nginx/Next.js estático. ECS Fargate para event/merge workers, simulator e processing, além da task loader. A restrição do Learner Lab a IRSA/Pod Identity motivou preservar as tasks IAM no ECS. O ALB nasce do Ingress. Terraform cria infraestrutura, Kustomize define overlays e Job aplica migrations. Observado em setembro: banco Single-AZ, um NAT, pods co-localizados e nós em sub-redes públicas. Arquivos novos têm manifests mas não publicação AWS comprovada.</a:t>
            </a:r>
            <a:endParaRPr lang="pt-BR" sz="1200"/>
          </a:p>
          <a:p>
            <a:pPr algn="l">
              <a:lnSpc>
                <a:spcPct val="118000"/>
              </a:lnSpc>
            </a:pPr>
            <a:r>
              <a:rPr lang="pt-BR"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 xml:space="preserve"/>
            </a:r>
            <a:endParaRPr lang="pt-BR" sz="1200"/>
          </a:p>
          <a:p>
            <a:pPr algn="l">
              <a:lnSpc>
                <a:spcPct val="118000"/>
              </a:lnSpc>
            </a:pPr>
            <a:r>
              <a:rPr lang="pt-BR"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 xml:space="preserve">Fontes: artefatos/arquitetura-final.md; artefatos/conteineres-final.md</a:t>
            </a:r>
            <a:endParaRPr lang="pt-BR" sz="1200"/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type="body" idx="1"/>
          </p:nvPr>
        </p:nvSpPr>
        <p:spPr>
          <a:xfrm>
            <a:off x="381000" y="952500"/>
            <a:ext cx="6096000" cy="47625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 xml:space="preserve">A apresentação reúne ensaios já registrados no repositório, sem afirmar uma nova execução integral. A ingestão foi medida na AWS em setembro. O dashboard teve rodadas no EKS em 21 e 24/09 com geradores em locais diferentes. A resiliência foi ensaiada no kind de um nó. Os testes de arquivos são locais e usam dados sintéticos e PostgreSQL real. Esses ambientes não demonstram redução do tempo de diagnóstico na operação do parceiro.</a:t>
            </a:r>
            <a:endParaRPr lang="pt-BR" sz="1200"/>
          </a:p>
          <a:p>
            <a:pPr algn="l">
              <a:lnSpc>
                <a:spcPct val="118000"/>
              </a:lnSpc>
            </a:pPr>
            <a:r>
              <a:rPr lang="pt-BR"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 xml:space="preserve"/>
            </a:r>
            <a:endParaRPr lang="pt-BR" sz="1200"/>
          </a:p>
          <a:p>
            <a:pPr algn="l">
              <a:lnSpc>
                <a:spcPct val="118000"/>
              </a:lnSpc>
            </a:pPr>
            <a:r>
              <a:rPr lang="pt-BR"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 xml:space="preserve">Fontes: artefatos/testes-funcionais.md; artefatos/testes-carga-inicial.md; artefatos/plano-ingestao-arquivos.md; artefatos/arquitetura-final.md</a:t>
            </a:r>
            <a:endParaRPr lang="pt-BR" sz="1200"/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type="body" idx="1"/>
          </p:nvPr>
        </p:nvSpPr>
        <p:spPr>
          <a:xfrm>
            <a:off x="381000" y="952500"/>
            <a:ext cx="6096000" cy="47625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 xml:space="preserve">Na rodada de 09/09, a drenagem foi de 120, 191, 259 e 346 segundos para 150, 300, 450 e 600 mil eventos. O critério era 450 segundos. A soma foi de 1,5 milhão de eventos reconciliados por ItemsWritten, com DLQ zerada. O gráfico compara apenas essa rodada. Uma reexecução posterior registrou 89 segundos para um lote. Fila drenada não significa evento disponível na API. Contagens agregadas também não substituem conferência por ID e por duplicidade.</a:t>
            </a:r>
            <a:endParaRPr lang="pt-BR" sz="1200"/>
          </a:p>
          <a:p>
            <a:pPr algn="l">
              <a:lnSpc>
                <a:spcPct val="118000"/>
              </a:lnSpc>
            </a:pPr>
            <a:r>
              <a:rPr lang="pt-BR"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 xml:space="preserve"/>
            </a:r>
            <a:endParaRPr lang="pt-BR" sz="1200"/>
          </a:p>
          <a:p>
            <a:pPr algn="l">
              <a:lnSpc>
                <a:spcPct val="118000"/>
              </a:lnSpc>
            </a:pPr>
            <a:r>
              <a:rPr lang="pt-BR"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 xml:space="preserve">Fontes: artefatos/testes-carga-inicial.md; artefatos/assets/performance/evidencias-lotes-2026-09-09.json</a:t>
            </a:r>
            <a:endParaRPr lang="pt-BR" sz="1200"/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type="body" idx="1"/>
          </p:nvPr>
        </p:nvSpPr>
        <p:spPr>
          <a:xfrm>
            <a:off x="381000" y="952500"/>
            <a:ext cx="6096000" cy="47625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 xml:space="preserve">Em 24/09, o EKS Auto Mode 1.33 tinha metrics-server ativo. O k6 rodou na máquina do desenvolvedor, fora da VPC, portanto a latência de rede participa do resultado. Os níveis de 5, 25 e 100 usuários tiveram p95 de requisição de 260, 304 e 841 ms, respectivamente. O p95 da abertura de tela foi de 410, 490 e 969 ms. Todos os critérios por tela passaram, com zero erro e 100% de telas completas. O HPA registrou ScalingActive=True e ValidMetricFound, mas não ocorreu SuccessfulRescale. O total agregado do JSON é 24.177, enquanto os três níveis somam 24.176. O slide evita usar esse total como evidência de reconciliação.</a:t>
            </a:r>
            <a:endParaRPr lang="pt-BR" sz="1200"/>
          </a:p>
          <a:p>
            <a:pPr algn="l">
              <a:lnSpc>
                <a:spcPct val="118000"/>
              </a:lnSpc>
            </a:pPr>
            <a:r>
              <a:rPr lang="pt-BR"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 xml:space="preserve"/>
            </a:r>
            <a:endParaRPr lang="pt-BR" sz="1200"/>
          </a:p>
          <a:p>
            <a:pPr algn="l">
              <a:lnSpc>
                <a:spcPct val="118000"/>
              </a:lnSpc>
            </a:pPr>
            <a:r>
              <a:rPr lang="pt-BR"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 xml:space="preserve">Fontes: artefatos/testes-funcionais.md; artefatos/evidencias/carga-kubernetes-2026-09-24/carga-ui_resultado_20260925T004042Z.json</a:t>
            </a:r>
            <a:endParaRPr lang="pt-BR" sz="1200"/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type="body" idx="1"/>
          </p:nvPr>
        </p:nvSpPr>
        <p:spPr>
          <a:xfrm>
            <a:off x="381000" y="952500"/>
            <a:ext cx="6096000" cy="47625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 xml:space="preserve">A saturação de 21/09 é uma rodada distinta. Sem metrics-server, o HPA não tinha métricas e o backend permaneceu com duas réplicas. O nível de 200 usuários reprovou nos critérios das telas Agora e Recorte, apesar de zero erro HTTP. Os níveis de 450 e 900 usuários tiveram 15,21% e 24,80% de erros. O maior nível aprovado foi 100 e o primeiro reprovado foi 200, o que apenas delimita o intervalo experimental. O RDS chegou a 86% de CPU e os pods reiniciaram sob saturação. A repetição de 24/09 validou as métricas do HPA, mas não repetiu o teto de carga.</a:t>
            </a:r>
            <a:endParaRPr lang="pt-BR" sz="1200"/>
          </a:p>
          <a:p>
            <a:pPr algn="l">
              <a:lnSpc>
                <a:spcPct val="118000"/>
              </a:lnSpc>
            </a:pPr>
            <a:r>
              <a:rPr lang="pt-BR"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 xml:space="preserve"/>
            </a:r>
            <a:endParaRPr lang="pt-BR" sz="1200"/>
          </a:p>
          <a:p>
            <a:pPr algn="l">
              <a:lnSpc>
                <a:spcPct val="118000"/>
              </a:lnSpc>
            </a:pPr>
            <a:r>
              <a:rPr lang="pt-BR"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 xml:space="preserve">Fontes: artefatos/testes-funcionais.md; artefatos/evidencias/carga-kubernetes/rodada-b-resultado.json</a:t>
            </a:r>
            <a:endParaRPr lang="pt-BR" sz="1200"/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type="body" idx="1"/>
          </p:nvPr>
        </p:nvSpPr>
        <p:spPr>
          <a:xfrm>
            <a:off x="381000" y="952500"/>
            <a:ext cx="6096000" cy="47625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 xml:space="preserve">Os ensaios ocorreram no kind local em 24/09, com um nó e k6 a 5 usuários. Com uma réplica, a exclusão do pod gerou 14,3% de falhas e a recomposição levou 8,3 segundos. Com duas réplicas, o novo pod ficou Ready em 6,2 segundos e não houve falhas. Na imagem inexistente, os pods antigos continuaram atendendo e o rollback manual levou 3 segundos. A indisponibilidade do banco retirou o backend do balanceamento sem reinício. Como o banco usava emptyDir, a recuperação exigiu reaplicar migrations. Isso não comprova failover do RDS ou recuperação entre zonas.</a:t>
            </a:r>
            <a:endParaRPr lang="pt-BR" sz="1200"/>
          </a:p>
          <a:p>
            <a:pPr algn="l">
              <a:lnSpc>
                <a:spcPct val="118000"/>
              </a:lnSpc>
            </a:pPr>
            <a:r>
              <a:rPr lang="pt-BR"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 xml:space="preserve"/>
            </a:r>
            <a:endParaRPr lang="pt-BR" sz="1200"/>
          </a:p>
          <a:p>
            <a:pPr algn="l">
              <a:lnSpc>
                <a:spcPct val="118000"/>
              </a:lnSpc>
            </a:pPr>
            <a:r>
              <a:rPr lang="pt-BR"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 xml:space="preserve">Fontes: artefatos/arquitetura-final.md</a:t>
            </a:r>
            <a:endParaRPr lang="pt-BR" sz="1200"/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type="body" idx="1"/>
          </p:nvPr>
        </p:nvSpPr>
        <p:spPr>
          <a:xfrm>
            <a:off x="381000" y="952500"/>
            <a:ext cx="6096000" cy="47625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 xml:space="preserve">Depois de uma intervenção manual no watermark, o último evento do lote de 150 mil apareceu na API 38 minutos e 32 segundos após o envio. Esse tempo é uma amostra única, não p95. Um lote diagnóstico separado, de 100 eventos, mediu p95 de persistência em Bronze de 1,785 segundo. O relatório localiza o atraso no processamento incremental e no backlog histórico que compartilha o contador LSN. A evolução exige separar os watermarks, medir a distribuição completa de frescor e reconciliar IDs. Escala efetiva no EKS e disponibilidade entre nós ainda precisam de ensaio.</a:t>
            </a:r>
            <a:endParaRPr lang="pt-BR" sz="1200"/>
          </a:p>
          <a:p>
            <a:pPr algn="l">
              <a:lnSpc>
                <a:spcPct val="118000"/>
              </a:lnSpc>
            </a:pPr>
            <a:r>
              <a:rPr lang="pt-BR"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 xml:space="preserve"/>
            </a:r>
            <a:endParaRPr lang="pt-BR" sz="1200"/>
          </a:p>
          <a:p>
            <a:pPr algn="l">
              <a:lnSpc>
                <a:spcPct val="118000"/>
              </a:lnSpc>
            </a:pPr>
            <a:r>
              <a:rPr lang="pt-BR"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 xml:space="preserve">Fontes: artefatos/testes-carga-inicial.md; artefatos/arquitetura-final.md; artefatos/testes-funcionais.md</a:t>
            </a:r>
            <a:endParaRPr lang="pt-BR" sz="1200"/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type="body" idx="1"/>
          </p:nvPr>
        </p:nvSpPr>
        <p:spPr>
          <a:xfrm>
            <a:off x="381000" y="952500"/>
            <a:ext cx="6096000" cy="47625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 xml:space="preserve">O orçamento usa us-east-1 e 730 horas por mês, sem impostos, créditos, free tier ou descontos. RDS + 100 GB mantém uma estimativa histórica de US$ 62, ainda a cotar. Fargate assume quatro serviços ARM: dois de 0,25 vCPU/0,5 GB e dois de 0,5 vCPU/1 GB. As tarifas oficiais são US$ 0,0000089944 por vCPU-segundo e US$ 0,0000009889 por GB-segundo. O EKS em suporte padrão custa US$ 0,10 por hora. NAT e ALB usam US$ 0,045 e US$ 0,0225 por hora, antes do consumo variável. Três IPv4, um para NAT e dois para ALB, custam US$ 0,005 por endereço-hora. O subtotal é parcial, não uma fatura nem um mínimo garantido. Preços consultados em 06/10/2026.</a:t>
            </a:r>
            <a:endParaRPr lang="pt-BR" sz="1200"/>
          </a:p>
          <a:p>
            <a:pPr algn="l">
              <a:lnSpc>
                <a:spcPct val="118000"/>
              </a:lnSpc>
            </a:pPr>
            <a:r>
              <a:rPr lang="pt-BR"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 xml:space="preserve"/>
            </a:r>
            <a:endParaRPr lang="pt-BR" sz="1200"/>
          </a:p>
          <a:p>
            <a:pPr algn="l">
              <a:lnSpc>
                <a:spcPct val="118000"/>
              </a:lnSpc>
            </a:pPr>
            <a:r>
              <a:rPr lang="pt-BR"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 xml:space="preserve">Fontes: https://aws.amazon.com/eks/pricing/; https://aws.amazon.com/vpc/pricing/; https://aws.amazon.com/fargate/pricing/; https://aws.amazon.com/elasticloadbalancing/pricing/; apps/fullstack/infra/README.md; apps/fullstack/infra/variables.tf</a:t>
            </a:r>
            <a:endParaRPr lang="pt-BR" sz="1200"/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type="body" idx="1"/>
          </p:nvPr>
        </p:nvSpPr>
        <p:spPr>
          <a:xfrm>
            <a:off x="381000" y="952500"/>
            <a:ext cx="6096000" cy="47625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 xml:space="preserve">Os nós EC2 com Auto Mode usam uma provisão orçamentária de US$ 0,05 por nó-hora, e não uma tarifa cotada. A base assume dois nós, US$ 73/mês, e o cenário ampliado assume quatro, US$ 146/mês. As reservas auxiliares de US$ 30/60 cobrem EBS, S3, ECR, bastion, backups, CloudWatch, Lambda, SQS e APIs. As reservas de uso variável de US$ 10/50 cobrem LCU, bytes de NAT e transferências. Todas precisam de validação com o inventário e o Billing. Um segundo NAT com um IPv4 acrescenta US$ 36,50/mês antes do tráfego. Multi-AZ do RDS requer cotação própria. LLM externo, pessoal e impostos ficam fora dessa conta.</a:t>
            </a:r>
            <a:endParaRPr lang="pt-BR" sz="1200"/>
          </a:p>
          <a:p>
            <a:pPr algn="l">
              <a:lnSpc>
                <a:spcPct val="118000"/>
              </a:lnSpc>
            </a:pPr>
            <a:r>
              <a:rPr lang="pt-BR"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 xml:space="preserve"/>
            </a:r>
            <a:endParaRPr lang="pt-BR" sz="1200"/>
          </a:p>
          <a:p>
            <a:pPr algn="l">
              <a:lnSpc>
                <a:spcPct val="118000"/>
              </a:lnSpc>
            </a:pPr>
            <a:r>
              <a:rPr lang="pt-BR"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 xml:space="preserve">Fontes: https://aws.amazon.com/eks/pricing/; https://aws.amazon.com/vpc/pricing/; https://aws.amazon.com/elasticloadbalancing/pricing/; apps/fullstack/infra/variables.tf</a:t>
            </a:r>
            <a:endParaRPr lang="pt-BR" sz="1200"/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type="body" idx="1"/>
          </p:nvPr>
        </p:nvSpPr>
        <p:spPr>
          <a:xfrm>
            <a:off x="381000" y="952500"/>
            <a:ext cx="6096000" cy="47625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 xml:space="preserve">As razões por evento são cenários condicionais. O denominador deve ser a quantidade de eventos válidos persistidos, e não o total de respostas HTTP 202. Dez milhões no mesmo orçamento só reduzirão o custo unitário se a capacidade e o consumo adicional permitirem. Para retenção, 10 milhões × 1 kB decimal dão 10 GB lógicos por mês. Noventa dias dão 30 GB antes de índices, WAL, réplicas e duplicações entre camadas. O potencial de horas de plantão é 3 engenheiros × 6 h × 4 incidentes/mês × 12 × 35% = 302,4 h/ano. Não é uma redução observada, nem um benefício somado ao TCO. Sem modelo e hospedagem comprovados, o custo de LLM permanece separado.</a:t>
            </a:r>
            <a:endParaRPr lang="pt-BR" sz="1200"/>
          </a:p>
          <a:p>
            <a:pPr algn="l">
              <a:lnSpc>
                <a:spcPct val="118000"/>
              </a:lnSpc>
            </a:pPr>
            <a:r>
              <a:rPr lang="pt-BR"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 xml:space="preserve"/>
            </a:r>
            <a:endParaRPr lang="pt-BR" sz="1200"/>
          </a:p>
          <a:p>
            <a:pPr algn="l">
              <a:lnSpc>
                <a:spcPct val="118000"/>
              </a:lnSpc>
            </a:pPr>
            <a:r>
              <a:rPr lang="pt-BR"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 xml:space="preserve">Fontes: https://aws.amazon.com/eks/pricing/; https://aws.amazon.com/vpc/pricing/; https://aws.amazon.com/elasticloadbalancing/pricing/; artefatos/entendimento_negocio.md</a:t>
            </a:r>
            <a:endParaRPr lang="pt-BR" sz="1200"/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type="body" idx="1"/>
          </p:nvPr>
        </p:nvSpPr>
        <p:spPr>
          <a:xfrm>
            <a:off x="381000" y="952500"/>
            <a:ext cx="6096000" cy="47625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 xml:space="preserve">O slide recalcula o modelo acadêmico com valores exatos, antes do arredondamento. Não usa o orçamento do laboratório como cotação de produção. O contrato assumido é de R$ 4,064 milhões/ano. O investimento é R$ 1,015 milhão. A operação anual é R$ 282 mil + R$ 810 mil × rollout. O contrato residual é baseline × (1 − substituição × rollout). Na base, a substituição é 50% e o rollout é 40%, 80% e 100%. Construir soma R$ 11.364.600 em três anos contra R$ 12.192.000 de contrato, uma economia de R$ 827.400 ou 6,8%. A virada ocorre perto do mês 25 se o fluxo do terceiro ano for linear. No pessimista, substituição de 30% e rollout de 20%, 40% e 60% dão R$ 13.561.960, ou R$ 1.369.960 a mais. O contrato e a adoção precisam de validação do parceiro.</a:t>
            </a:r>
            <a:endParaRPr lang="pt-BR" sz="1200"/>
          </a:p>
          <a:p>
            <a:pPr algn="l">
              <a:lnSpc>
                <a:spcPct val="118000"/>
              </a:lnSpc>
            </a:pPr>
            <a:r>
              <a:rPr lang="pt-BR"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 xml:space="preserve"/>
            </a:r>
            <a:endParaRPr lang="pt-BR" sz="1200"/>
          </a:p>
          <a:p>
            <a:pPr algn="l">
              <a:lnSpc>
                <a:spcPct val="118000"/>
              </a:lnSpc>
            </a:pPr>
            <a:r>
              <a:rPr lang="pt-BR"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 xml:space="preserve">Fontes: artefatos/entendimento_negocio.md</a:t>
            </a:r>
            <a:endParaRPr lang="pt-BR" sz="1200"/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type="body" idx="1"/>
          </p:nvPr>
        </p:nvSpPr>
        <p:spPr>
          <a:xfrm>
            <a:off x="381000" y="952500"/>
            <a:ext cx="6096000" cy="47625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 xml:space="preserve">O resultado é um MVP com ingestão e leitura sob ensaio AWS, motor determinístico testado e upload de arquivos validado localmente. Isso ainda não equivale a prontidão de produção. O agente alternativo permanece uma proposta. O próximo aceite deve medir frescor ponta a ponta, reconciliação por IDs, SuccessfulRescale no EKS, restauração do RDS e perda de nó. A avaliação de valor precisa medir tempo até uma hipótese útil e correta com investigadores do parceiro. O custo real deve vir do Billing e dos eventos persistidos.</a:t>
            </a:r>
            <a:endParaRPr lang="pt-BR" sz="1200"/>
          </a:p>
          <a:p>
            <a:pPr algn="l">
              <a:lnSpc>
                <a:spcPct val="118000"/>
              </a:lnSpc>
            </a:pPr>
            <a:r>
              <a:rPr lang="pt-BR"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 xml:space="preserve"/>
            </a:r>
            <a:endParaRPr lang="pt-BR" sz="1200"/>
          </a:p>
          <a:p>
            <a:pPr algn="l">
              <a:lnSpc>
                <a:spcPct val="118000"/>
              </a:lnSpc>
            </a:pPr>
            <a:r>
              <a:rPr lang="pt-BR"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 xml:space="preserve">Fontes: artefatos/arquitetura-final.md; artefatos/testes-funcionais.md; artefatos/plano-ingestao-arquivos.md; artefatos/entendimento_negocio.md</a:t>
            </a:r>
            <a:endParaRPr lang="pt-BR" sz="1200"/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type="body" idx="1"/>
          </p:nvPr>
        </p:nvSpPr>
        <p:spPr>
          <a:xfrm>
            <a:off x="381000" y="952500"/>
            <a:ext cx="6096000" cy="47625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 xml:space="preserve">Encerramento da apresentação. O slide25 reúne rastreabilidade para consulta na discussão. Referências visuais: imagens fornecidas pelo usuário. Créditos da equipe: README.md.</a:t>
            </a:r>
            <a:endParaRPr lang="pt-BR" sz="1200"/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type="body" idx="1"/>
          </p:nvPr>
        </p:nvSpPr>
        <p:spPr>
          <a:xfrm>
            <a:off x="381000" y="952500"/>
            <a:ext cx="6096000" cy="47625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 xml:space="preserve">As evidências internas têm corte em 06/10/2026, com a base f3c498e do repositório. As rodadas registradas são de setembro e outubro e não representam uma execução integral nova. As notas identificam a fonte de cada slide. A pasta inclui os geradores, o roteiro e o CSV de custos. Gráficos, tabelas, diagramas e textos do PPTX são editáveis. A captura da interface é uma imagem histórica preservada. O PDF é a versão visual de consulta.</a:t>
            </a:r>
            <a:endParaRPr lang="pt-BR" sz="1200"/>
          </a:p>
          <a:p>
            <a:pPr algn="l">
              <a:lnSpc>
                <a:spcPct val="118000"/>
              </a:lnSpc>
            </a:pPr>
            <a:r>
              <a:rPr lang="pt-BR"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 xml:space="preserve"/>
            </a:r>
            <a:endParaRPr lang="pt-BR" sz="1200"/>
          </a:p>
          <a:p>
            <a:pPr algn="l">
              <a:lnSpc>
                <a:spcPct val="118000"/>
              </a:lnSpc>
            </a:pPr>
            <a:r>
              <a:rPr lang="pt-BR"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 xml:space="preserve">Fontes: artefatos/arquitetura-final.md; artefatos/testes-funcionais.md; artefatos/testes-carga-inicial.md; artefatos/plano-ingestao-arquivos.md; artefatos/entendimento_negocio.md</a:t>
            </a:r>
            <a:endParaRPr lang="pt-BR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Master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Argus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ayout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10.xml"/><Relationship Id="rIdImage1" Type="http://schemas.openxmlformats.org/officeDocument/2006/relationships/image" Target="../media/image1.png"/></Relationships>
</file>

<file path=ppt/slides/_rels/slide1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14.xml"/><Relationship Id="rIdChart1" Type="http://schemas.openxmlformats.org/officeDocument/2006/relationships/chart" Target="../charts/chart1.xml"/></Relationships>
</file>

<file path=ppt/slides/_rels/slide15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15.xml"/><Relationship Id="rIdChart2" Type="http://schemas.openxmlformats.org/officeDocument/2006/relationships/chart" Target="../charts/chart2.xml"/></Relationships>
</file>

<file path=ppt/slides/_rels/slide16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24.xml"/></Relationships>
</file>

<file path=ppt/slides/_rels/slide25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25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 name="Argus — Sprint 05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 txBox="0"/>
          <p:nvPr/>
        </p:nvSpPr>
        <p:spPr>
          <a:xfrm>
            <a:off x="7191375" y="1009650"/>
            <a:ext cx="4305300" cy="4305300"/>
          </a:xfrm>
          <a:prstGeom prst="ellipse">
            <a:avLst/>
          </a:prstGeom>
          <a:solidFill>
            <a:srgbClr val="250400"/>
          </a:solidFill>
          <a:ln w="9525">
            <a:noFill/>
            <a:prstDash val="solid"/>
          </a:ln>
        </p:spPr>
      </p:sp>
      <p:sp>
        <p:nvSpPr>
          <p:cNvPr id="3" name="ellipse 3"/>
          <p:cNvSpPr txBox="0"/>
          <p:nvPr/>
        </p:nvSpPr>
        <p:spPr>
          <a:xfrm>
            <a:off x="7458075" y="1276350"/>
            <a:ext cx="3771900" cy="3771900"/>
          </a:xfrm>
          <a:prstGeom prst="ellipse">
            <a:avLst/>
          </a:prstGeom>
          <a:solidFill>
            <a:srgbClr val="530800"/>
          </a:solidFill>
          <a:ln w="9525">
            <a:noFill/>
            <a:prstDash val="solid"/>
          </a:ln>
        </p:spPr>
      </p:sp>
      <p:sp>
        <p:nvSpPr>
          <p:cNvPr id="4" name="ellipse 4"/>
          <p:cNvSpPr txBox="0"/>
          <p:nvPr/>
        </p:nvSpPr>
        <p:spPr>
          <a:xfrm>
            <a:off x="7829550" y="1647825"/>
            <a:ext cx="3028950" cy="3028950"/>
          </a:xfrm>
          <a:prstGeom prst="ellipse">
            <a:avLst/>
          </a:prstGeom>
          <a:solidFill>
            <a:srgbClr val="FF1A00"/>
          </a:solidFill>
          <a:ln w="9525">
            <a:noFill/>
            <a:prstDash val="solid"/>
          </a:ln>
        </p:spPr>
      </p:sp>
      <p:sp>
        <p:nvSpPr>
          <p:cNvPr id="5" name="ellipse 5"/>
          <p:cNvSpPr txBox="0"/>
          <p:nvPr/>
        </p:nvSpPr>
        <p:spPr>
          <a:xfrm>
            <a:off x="8048625" y="1866900"/>
            <a:ext cx="2590800" cy="2590800"/>
          </a:xfrm>
          <a:prstGeom prst="ellipse">
            <a:avLst/>
          </a:prstGeom>
          <a:solidFill>
            <a:srgbClr val="940900"/>
          </a:solidFill>
          <a:ln w="9525">
            <a:noFill/>
            <a:prstDash val="solid"/>
          </a:ln>
        </p:spPr>
      </p:sp>
      <p:sp>
        <p:nvSpPr>
          <p:cNvPr id="6" name="triangle 6"/>
          <p:cNvSpPr txBox="0"/>
          <p:nvPr/>
        </p:nvSpPr>
        <p:spPr>
          <a:xfrm>
            <a:off x="8810625" y="2476500"/>
            <a:ext cx="971550" cy="1409700"/>
          </a:xfrm>
          <a:custGeom>
            <a:avLst/>
            <a:gdLst/>
            <a:ahLst/>
            <a:cxnLst/>
            <a:rect l="0" t="0" r="w" b="h"/>
            <a:pathLst>
              <a:path w="100" h="100">
                <a:moveTo>
                  <a:pt x="0" y="0"/>
                </a:moveTo>
                <a:lnTo>
                  <a:pt x="100" y="50"/>
                </a:lnTo>
                <a:lnTo>
                  <a:pt x="0" y="100"/>
                </a:lnTo>
                <a:close/>
              </a:path>
            </a:pathLst>
          </a:custGeom>
          <a:solidFill>
            <a:srgbClr val="FF1A00"/>
          </a:solidFill>
          <a:ln w="9525">
            <a:noFill/>
            <a:prstDash val="solid"/>
          </a:ln>
        </p:spPr>
      </p:sp>
      <p:sp>
        <p:nvSpPr>
          <p:cNvPr id="7" name="text 7"/>
          <p:cNvSpPr txBox="1"/>
          <p:nvPr/>
        </p:nvSpPr>
        <p:spPr>
          <a:xfrm>
            <a:off x="609600" y="523875"/>
            <a:ext cx="4857750" cy="8572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5250" b="1">
                <a:solidFill>
                  <a:srgbClr val="FF1A00"/>
                </a:solidFill>
                <a:latin typeface="Arial"/>
                <a:ea typeface="Arial"/>
                <a:cs typeface="Arial"/>
              </a:rPr>
              <a:t xml:space="preserve">ARGUS</a:t>
            </a:r>
            <a:endParaRPr lang="pt-BR" sz="5250"/>
          </a:p>
        </p:txBody>
      </p:sp>
      <p:sp>
        <p:nvSpPr>
          <p:cNvPr id="8" name="text 8"/>
          <p:cNvSpPr txBox="1"/>
          <p:nvPr/>
        </p:nvSpPr>
        <p:spPr>
          <a:xfrm>
            <a:off x="638175" y="1685925"/>
            <a:ext cx="6477000" cy="4286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SPRINT 05</a:t>
            </a:r>
            <a:endParaRPr lang="pt-BR" sz="2325"/>
          </a:p>
        </p:txBody>
      </p:sp>
      <p:sp>
        <p:nvSpPr>
          <p:cNvPr id="9" name="text 9"/>
          <p:cNvSpPr txBox="1"/>
          <p:nvPr/>
        </p:nvSpPr>
        <p:spPr>
          <a:xfrm>
            <a:off x="609600" y="2419350"/>
            <a:ext cx="6953250" cy="23145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4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Diagnóstico de</a:t>
            </a:r>
            <a:endParaRPr lang="pt-BR" sz="4725"/>
          </a:p>
          <a:p>
            <a:pPr algn="l">
              <a:lnSpc>
                <a:spcPct val="118000"/>
              </a:lnSpc>
            </a:pPr>
            <a:r>
              <a:rPr lang="pt-BR" sz="4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degradação de</a:t>
            </a:r>
            <a:endParaRPr lang="pt-BR" sz="4725"/>
          </a:p>
          <a:p>
            <a:pPr algn="l">
              <a:lnSpc>
                <a:spcPct val="118000"/>
              </a:lnSpc>
            </a:pPr>
            <a:r>
              <a:rPr lang="pt-BR" sz="4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streaming</a:t>
            </a:r>
            <a:endParaRPr lang="pt-BR" sz="4725"/>
          </a:p>
        </p:txBody>
      </p:sp>
      <p:sp>
        <p:nvSpPr>
          <p:cNvPr id="10" name="text 10"/>
          <p:cNvSpPr txBox="1"/>
          <p:nvPr/>
        </p:nvSpPr>
        <p:spPr>
          <a:xfrm>
            <a:off x="647700" y="5219700"/>
            <a:ext cx="6572250" cy="4286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Vale a Pena Ver de Novo</a:t>
            </a:r>
            <a:endParaRPr lang="pt-BR" sz="2325"/>
          </a:p>
        </p:txBody>
      </p:sp>
      <p:sp>
        <p:nvSpPr>
          <p:cNvPr id="11" name="text 11"/>
          <p:cNvSpPr txBox="1"/>
          <p:nvPr/>
        </p:nvSpPr>
        <p:spPr>
          <a:xfrm>
            <a:off x="647700" y="6000750"/>
            <a:ext cx="10668000" cy="2857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1500" b="0">
                <a:solidFill>
                  <a:srgbClr val="B9B9BE"/>
                </a:solidFill>
                <a:latin typeface="Arial"/>
                <a:ea typeface="Arial"/>
                <a:cs typeface="Arial"/>
              </a:rPr>
              <a:t xml:space="preserve">Grupo Globo  +  Inteli    /    G04    /    Outubro de 2026</a:t>
            </a:r>
            <a:endParaRPr lang="pt-BR" sz="15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 name="Um play travado, vários painéis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 txBox="0"/>
          <p:nvPr/>
        </p:nvSpPr>
        <p:spPr>
          <a:xfrm>
            <a:off x="609600" y="514350"/>
            <a:ext cx="66675" cy="361950"/>
          </a:xfrm>
          <a:prstGeom prst="rect">
            <a:avLst/>
          </a:prstGeom>
          <a:solidFill>
            <a:srgbClr val="FF1A00"/>
          </a:solidFill>
          <a:ln w="9525">
            <a:noFill/>
            <a:prstDash val="solid"/>
          </a:ln>
        </p:spPr>
      </p:sp>
      <p:sp>
        <p:nvSpPr>
          <p:cNvPr id="3" name="text 3"/>
          <p:cNvSpPr txBox="1"/>
          <p:nvPr/>
        </p:nvSpPr>
        <p:spPr>
          <a:xfrm>
            <a:off x="866775" y="438150"/>
            <a:ext cx="10525125" cy="9144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Um play travado, vários painéis</a:t>
            </a:r>
            <a:endParaRPr lang="pt-BR" sz="3150"/>
          </a:p>
        </p:txBody>
      </p:sp>
      <p:sp>
        <p:nvSpPr>
          <p:cNvPr id="4" name="line 4"/>
          <p:cNvSpPr txBox="0"/>
          <p:nvPr/>
        </p:nvSpPr>
        <p:spPr>
          <a:xfrm>
            <a:off x="609600" y="6315075"/>
            <a:ext cx="10972800" cy="0"/>
          </a:xfrm>
          <a:prstGeom prst="line">
            <a:avLst/>
          </a:prstGeom>
          <a:noFill/>
          <a:ln w="9525">
            <a:solidFill>
              <a:srgbClr val="363638"/>
            </a:solidFill>
            <a:prstDash val="solid"/>
          </a:ln>
        </p:spPr>
      </p:sp>
      <p:sp>
        <p:nvSpPr>
          <p:cNvPr id="5" name="text 5"/>
          <p:cNvSpPr txBox="1"/>
          <p:nvPr/>
        </p:nvSpPr>
        <p:spPr>
          <a:xfrm>
            <a:off x="609600" y="6438900"/>
            <a:ext cx="3810000" cy="2095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1050" b="0">
                <a:solidFill>
                  <a:srgbClr val="B9B9BE"/>
                </a:solidFill>
                <a:latin typeface="Arial"/>
                <a:ea typeface="Arial"/>
                <a:cs typeface="Arial"/>
              </a:rPr>
              <a:t xml:space="preserve">ARGUS  /  G04</a:t>
            </a:r>
            <a:endParaRPr lang="pt-BR" sz="1050"/>
          </a:p>
        </p:txBody>
      </p:sp>
      <p:sp>
        <p:nvSpPr>
          <p:cNvPr id="6" name="text 6"/>
          <p:cNvSpPr txBox="1"/>
          <p:nvPr/>
        </p:nvSpPr>
        <p:spPr>
          <a:xfrm>
            <a:off x="11287125" y="6429375"/>
            <a:ext cx="295275" cy="2381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8000"/>
              </a:lnSpc>
            </a:pPr>
            <a:r>
              <a:rPr lang="pt-BR" sz="1200" b="0">
                <a:solidFill>
                  <a:srgbClr val="B9B9BE"/>
                </a:solidFill>
                <a:latin typeface="Arial"/>
                <a:ea typeface="Arial"/>
                <a:cs typeface="Arial"/>
              </a:rPr>
              <a:t xml:space="preserve">02</a:t>
            </a:r>
            <a:endParaRPr lang="pt-BR" sz="1200"/>
          </a:p>
        </p:txBody>
      </p:sp>
      <p:sp>
        <p:nvSpPr>
          <p:cNvPr id="7" name="text 7"/>
          <p:cNvSpPr txBox="1"/>
          <p:nvPr/>
        </p:nvSpPr>
        <p:spPr>
          <a:xfrm>
            <a:off x="609600" y="1571625"/>
            <a:ext cx="7810500" cy="1143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A pessoa vê o vídeo parar.</a:t>
            </a:r>
            <a:endParaRPr lang="pt-BR" sz="3225"/>
          </a:p>
          <a:p>
            <a:pPr algn="l">
              <a:lnSpc>
                <a:spcPct val="118000"/>
              </a:lnSpc>
            </a:pPr>
            <a:r>
              <a:rPr lang="pt-BR"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O plantão vê sinais espalhados.</a:t>
            </a:r>
            <a:endParaRPr lang="pt-BR" sz="3225"/>
          </a:p>
        </p:txBody>
      </p:sp>
      <p:sp>
        <p:nvSpPr>
          <p:cNvPr id="8" name="rect 8"/>
          <p:cNvSpPr txBox="0"/>
          <p:nvPr/>
        </p:nvSpPr>
        <p:spPr>
          <a:xfrm>
            <a:off x="609600" y="3209925"/>
            <a:ext cx="2438400" cy="666750"/>
          </a:xfrm>
          <a:prstGeom prst="rect">
            <a:avLst/>
          </a:prstGeom>
          <a:solidFill>
            <a:srgbClr val="171719"/>
          </a:solidFill>
          <a:ln w="14288">
            <a:solidFill>
              <a:srgbClr val="363638"/>
            </a:solidFill>
            <a:prstDash val="solid"/>
          </a:ln>
        </p:spPr>
      </p:sp>
      <p:sp>
        <p:nvSpPr>
          <p:cNvPr id="9" name="text 9"/>
          <p:cNvSpPr txBox="1"/>
          <p:nvPr/>
        </p:nvSpPr>
        <p:spPr>
          <a:xfrm>
            <a:off x="733425" y="3362325"/>
            <a:ext cx="2190750" cy="4762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</a:pPr>
            <a:r>
              <a:rPr lang="pt-BR"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Player</a:t>
            </a:r>
            <a:endParaRPr lang="pt-BR" sz="1725"/>
          </a:p>
        </p:txBody>
      </p:sp>
      <p:sp>
        <p:nvSpPr>
          <p:cNvPr id="10" name="rect 10"/>
          <p:cNvSpPr txBox="0"/>
          <p:nvPr/>
        </p:nvSpPr>
        <p:spPr>
          <a:xfrm>
            <a:off x="3352800" y="3209925"/>
            <a:ext cx="2438400" cy="666750"/>
          </a:xfrm>
          <a:prstGeom prst="rect">
            <a:avLst/>
          </a:prstGeom>
          <a:solidFill>
            <a:srgbClr val="171719"/>
          </a:solidFill>
          <a:ln w="14288">
            <a:solidFill>
              <a:srgbClr val="363638"/>
            </a:solidFill>
            <a:prstDash val="solid"/>
          </a:ln>
        </p:spPr>
      </p:sp>
      <p:sp>
        <p:nvSpPr>
          <p:cNvPr id="11" name="text 11"/>
          <p:cNvSpPr txBox="1"/>
          <p:nvPr/>
        </p:nvSpPr>
        <p:spPr>
          <a:xfrm>
            <a:off x="3476625" y="3362325"/>
            <a:ext cx="2190750" cy="4762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</a:pPr>
            <a:r>
              <a:rPr lang="pt-BR"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CDN</a:t>
            </a:r>
            <a:endParaRPr lang="pt-BR" sz="1725"/>
          </a:p>
        </p:txBody>
      </p:sp>
      <p:sp>
        <p:nvSpPr>
          <p:cNvPr id="12" name="rect 12"/>
          <p:cNvSpPr txBox="0"/>
          <p:nvPr/>
        </p:nvSpPr>
        <p:spPr>
          <a:xfrm>
            <a:off x="6096000" y="3209925"/>
            <a:ext cx="2438400" cy="666750"/>
          </a:xfrm>
          <a:prstGeom prst="rect">
            <a:avLst/>
          </a:prstGeom>
          <a:solidFill>
            <a:srgbClr val="171719"/>
          </a:solidFill>
          <a:ln w="14288">
            <a:solidFill>
              <a:srgbClr val="363638"/>
            </a:solidFill>
            <a:prstDash val="solid"/>
          </a:ln>
        </p:spPr>
      </p:sp>
      <p:sp>
        <p:nvSpPr>
          <p:cNvPr id="13" name="text 13"/>
          <p:cNvSpPr txBox="1"/>
          <p:nvPr/>
        </p:nvSpPr>
        <p:spPr>
          <a:xfrm>
            <a:off x="6219825" y="3362325"/>
            <a:ext cx="2190750" cy="4762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</a:pPr>
            <a:r>
              <a:rPr lang="pt-BR"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Backend</a:t>
            </a:r>
            <a:endParaRPr lang="pt-BR" sz="1725"/>
          </a:p>
        </p:txBody>
      </p:sp>
      <p:sp>
        <p:nvSpPr>
          <p:cNvPr id="14" name="rect 14"/>
          <p:cNvSpPr txBox="0"/>
          <p:nvPr/>
        </p:nvSpPr>
        <p:spPr>
          <a:xfrm>
            <a:off x="8839200" y="3209925"/>
            <a:ext cx="2438400" cy="666750"/>
          </a:xfrm>
          <a:prstGeom prst="rect">
            <a:avLst/>
          </a:prstGeom>
          <a:solidFill>
            <a:srgbClr val="171719"/>
          </a:solidFill>
          <a:ln w="14288">
            <a:solidFill>
              <a:srgbClr val="363638"/>
            </a:solidFill>
            <a:prstDash val="solid"/>
          </a:ln>
        </p:spPr>
      </p:sp>
      <p:sp>
        <p:nvSpPr>
          <p:cNvPr id="15" name="text 15"/>
          <p:cNvSpPr txBox="1"/>
          <p:nvPr/>
        </p:nvSpPr>
        <p:spPr>
          <a:xfrm>
            <a:off x="8963025" y="3362325"/>
            <a:ext cx="2190750" cy="4762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</a:pPr>
            <a:r>
              <a:rPr lang="pt-BR"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Identidade</a:t>
            </a:r>
            <a:endParaRPr lang="pt-BR" sz="1725"/>
          </a:p>
        </p:txBody>
      </p:sp>
      <p:sp>
        <p:nvSpPr>
          <p:cNvPr id="16" name="text 16"/>
          <p:cNvSpPr txBox="1"/>
          <p:nvPr/>
        </p:nvSpPr>
        <p:spPr>
          <a:xfrm>
            <a:off x="609600" y="4333875"/>
            <a:ext cx="10477500" cy="9525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A investigação precisa reunir o horário, o recorte afetado</a:t>
            </a:r>
            <a:endParaRPr lang="pt-BR" sz="2250"/>
          </a:p>
          <a:p>
            <a:pPr algn="l">
              <a:lnSpc>
                <a:spcPct val="118000"/>
              </a:lnSpc>
            </a:pPr>
            <a:r>
              <a:rPr lang="pt-BR"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e a evidência que sustenta uma causa provável.</a:t>
            </a:r>
            <a:endParaRPr lang="pt-BR" sz="2250"/>
          </a:p>
        </p:txBody>
      </p:sp>
      <p:sp>
        <p:nvSpPr>
          <p:cNvPr id="17" name="text 17"/>
          <p:cNvSpPr txBox="1"/>
          <p:nvPr/>
        </p:nvSpPr>
        <p:spPr>
          <a:xfrm>
            <a:off x="609600" y="5781675"/>
            <a:ext cx="10972800" cy="4286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1425" b="0">
                <a:solidFill>
                  <a:srgbClr val="B9B9BE"/>
                </a:solidFill>
                <a:latin typeface="Arial"/>
                <a:ea typeface="Arial"/>
                <a:cs typeface="Arial"/>
              </a:rPr>
              <a:t xml:space="preserve">Degradações de experiência também podem acontecer sem um erro explícito.</a:t>
            </a:r>
            <a:endParaRPr lang="pt-BR" sz="1425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 name="O que orientou as decisões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 txBox="0"/>
          <p:nvPr/>
        </p:nvSpPr>
        <p:spPr>
          <a:xfrm>
            <a:off x="609600" y="514350"/>
            <a:ext cx="66675" cy="361950"/>
          </a:xfrm>
          <a:prstGeom prst="rect">
            <a:avLst/>
          </a:prstGeom>
          <a:solidFill>
            <a:srgbClr val="FF1A00"/>
          </a:solidFill>
          <a:ln w="9525">
            <a:noFill/>
            <a:prstDash val="solid"/>
          </a:ln>
        </p:spPr>
      </p:sp>
      <p:sp>
        <p:nvSpPr>
          <p:cNvPr id="3" name="text 3"/>
          <p:cNvSpPr txBox="1"/>
          <p:nvPr/>
        </p:nvSpPr>
        <p:spPr>
          <a:xfrm>
            <a:off x="866775" y="438150"/>
            <a:ext cx="10525125" cy="9144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O que orientou as decisões</a:t>
            </a:r>
            <a:endParaRPr lang="pt-BR" sz="3150"/>
          </a:p>
        </p:txBody>
      </p:sp>
      <p:sp>
        <p:nvSpPr>
          <p:cNvPr id="4" name="line 4"/>
          <p:cNvSpPr txBox="0"/>
          <p:nvPr/>
        </p:nvSpPr>
        <p:spPr>
          <a:xfrm>
            <a:off x="609600" y="6315075"/>
            <a:ext cx="10972800" cy="0"/>
          </a:xfrm>
          <a:prstGeom prst="line">
            <a:avLst/>
          </a:prstGeom>
          <a:noFill/>
          <a:ln w="9525">
            <a:solidFill>
              <a:srgbClr val="363638"/>
            </a:solidFill>
            <a:prstDash val="solid"/>
          </a:ln>
        </p:spPr>
      </p:sp>
      <p:sp>
        <p:nvSpPr>
          <p:cNvPr id="5" name="text 5"/>
          <p:cNvSpPr txBox="1"/>
          <p:nvPr/>
        </p:nvSpPr>
        <p:spPr>
          <a:xfrm>
            <a:off x="609600" y="6438900"/>
            <a:ext cx="3810000" cy="2095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1050" b="0">
                <a:solidFill>
                  <a:srgbClr val="B9B9BE"/>
                </a:solidFill>
                <a:latin typeface="Arial"/>
                <a:ea typeface="Arial"/>
                <a:cs typeface="Arial"/>
              </a:rPr>
              <a:t xml:space="preserve">ARGUS  /  G04</a:t>
            </a:r>
            <a:endParaRPr lang="pt-BR" sz="1050"/>
          </a:p>
        </p:txBody>
      </p:sp>
      <p:sp>
        <p:nvSpPr>
          <p:cNvPr id="6" name="text 6"/>
          <p:cNvSpPr txBox="1"/>
          <p:nvPr/>
        </p:nvSpPr>
        <p:spPr>
          <a:xfrm>
            <a:off x="11287125" y="6429375"/>
            <a:ext cx="295275" cy="2381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8000"/>
              </a:lnSpc>
            </a:pPr>
            <a:r>
              <a:rPr lang="pt-BR" sz="1200" b="0">
                <a:solidFill>
                  <a:srgbClr val="B9B9BE"/>
                </a:solidFill>
                <a:latin typeface="Arial"/>
                <a:ea typeface="Arial"/>
                <a:cs typeface="Arial"/>
              </a:rPr>
              <a:t xml:space="preserve">03</a:t>
            </a:r>
            <a:endParaRPr lang="pt-BR" sz="1200"/>
          </a:p>
        </p:txBody>
      </p:sp>
      <p:sp>
        <p:nvSpPr>
          <p:cNvPr id="7" name="text 7"/>
          <p:cNvSpPr txBox="1"/>
          <p:nvPr/>
        </p:nvSpPr>
        <p:spPr>
          <a:xfrm>
            <a:off x="609600" y="1762125"/>
            <a:ext cx="3238500" cy="6191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2475" b="1">
                <a:solidFill>
                  <a:srgbClr val="FF1A00"/>
                </a:solidFill>
                <a:latin typeface="Arial"/>
                <a:ea typeface="Arial"/>
                <a:cs typeface="Arial"/>
              </a:rPr>
              <a:t xml:space="preserve">Valor</a:t>
            </a:r>
            <a:endParaRPr lang="pt-BR" sz="2475"/>
          </a:p>
        </p:txBody>
      </p:sp>
      <p:sp>
        <p:nvSpPr>
          <p:cNvPr id="8" name="text 8"/>
          <p:cNvSpPr txBox="1"/>
          <p:nvPr/>
        </p:nvSpPr>
        <p:spPr>
          <a:xfrm>
            <a:off x="609600" y="2581275"/>
            <a:ext cx="3238500" cy="21907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Oceano Azul e Canvas priorizam hipótese verificável, cobertura de legados e recorte do impacto.</a:t>
            </a:r>
            <a:endParaRPr lang="pt-BR" sz="1950"/>
          </a:p>
        </p:txBody>
      </p:sp>
      <p:sp>
        <p:nvSpPr>
          <p:cNvPr id="9" name="text 9"/>
          <p:cNvSpPr txBox="1"/>
          <p:nvPr/>
        </p:nvSpPr>
        <p:spPr>
          <a:xfrm>
            <a:off x="4476750" y="1762125"/>
            <a:ext cx="3238500" cy="6191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2475" b="1">
                <a:solidFill>
                  <a:srgbClr val="FF1A00"/>
                </a:solidFill>
                <a:latin typeface="Arial"/>
                <a:ea typeface="Arial"/>
                <a:cs typeface="Arial"/>
              </a:rPr>
              <a:t xml:space="preserve">Risco</a:t>
            </a:r>
            <a:endParaRPr lang="pt-BR" sz="2475"/>
          </a:p>
        </p:txBody>
      </p:sp>
      <p:sp>
        <p:nvSpPr>
          <p:cNvPr id="10" name="text 10"/>
          <p:cNvSpPr txBox="1"/>
          <p:nvPr/>
        </p:nvSpPr>
        <p:spPr>
          <a:xfrm>
            <a:off x="4476750" y="2581275"/>
            <a:ext cx="3238500" cy="21907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A matriz destaca perda de dados, falso positivo, atraso de fontes e crescimento do custo.</a:t>
            </a:r>
            <a:endParaRPr lang="pt-BR" sz="1950"/>
          </a:p>
        </p:txBody>
      </p:sp>
      <p:sp>
        <p:nvSpPr>
          <p:cNvPr id="11" name="text 11"/>
          <p:cNvSpPr txBox="1"/>
          <p:nvPr/>
        </p:nvSpPr>
        <p:spPr>
          <a:xfrm>
            <a:off x="8343900" y="1762125"/>
            <a:ext cx="3238500" cy="6191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2475" b="1">
                <a:solidFill>
                  <a:srgbClr val="FF1A00"/>
                </a:solidFill>
                <a:latin typeface="Arial"/>
                <a:ea typeface="Arial"/>
                <a:cs typeface="Arial"/>
              </a:rPr>
              <a:t xml:space="preserve">Uso no plantão</a:t>
            </a:r>
            <a:endParaRPr lang="pt-BR" sz="2475"/>
          </a:p>
        </p:txBody>
      </p:sp>
      <p:sp>
        <p:nvSpPr>
          <p:cNvPr id="12" name="text 12"/>
          <p:cNvSpPr txBox="1"/>
          <p:nvPr/>
        </p:nvSpPr>
        <p:spPr>
          <a:xfrm>
            <a:off x="8343900" y="2581275"/>
            <a:ext cx="3238500" cy="21907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As personas orientam uma investigação com filtros, comparação de janelas e linha do tempo.</a:t>
            </a:r>
            <a:endParaRPr lang="pt-BR" sz="1950"/>
          </a:p>
        </p:txBody>
      </p:sp>
      <p:sp>
        <p:nvSpPr>
          <p:cNvPr id="13" name="text 13"/>
          <p:cNvSpPr txBox="1"/>
          <p:nvPr/>
        </p:nvSpPr>
        <p:spPr>
          <a:xfrm>
            <a:off x="609600" y="5781675"/>
            <a:ext cx="10972800" cy="4286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1425" b="0">
                <a:solidFill>
                  <a:srgbClr val="B9B9BE"/>
                </a:solidFill>
                <a:latin typeface="Arial"/>
                <a:ea typeface="Arial"/>
                <a:cs typeface="Arial"/>
              </a:rPr>
              <a:t xml:space="preserve">Essas análises orientaram o desenho. A validação de desempenho veio depois, nos ensaios.</a:t>
            </a:r>
            <a:endParaRPr lang="pt-BR" sz="1425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 name="Perguntas que a solução responde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 txBox="0"/>
          <p:nvPr/>
        </p:nvSpPr>
        <p:spPr>
          <a:xfrm>
            <a:off x="609600" y="514350"/>
            <a:ext cx="66675" cy="361950"/>
          </a:xfrm>
          <a:prstGeom prst="rect">
            <a:avLst/>
          </a:prstGeom>
          <a:solidFill>
            <a:srgbClr val="FF1A00"/>
          </a:solidFill>
          <a:ln w="9525">
            <a:noFill/>
            <a:prstDash val="solid"/>
          </a:ln>
        </p:spPr>
      </p:sp>
      <p:sp>
        <p:nvSpPr>
          <p:cNvPr id="3" name="text 3"/>
          <p:cNvSpPr txBox="1"/>
          <p:nvPr/>
        </p:nvSpPr>
        <p:spPr>
          <a:xfrm>
            <a:off x="866775" y="438150"/>
            <a:ext cx="10525125" cy="9144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Perguntas que a solução responde</a:t>
            </a:r>
            <a:endParaRPr lang="pt-BR" sz="3150"/>
          </a:p>
        </p:txBody>
      </p:sp>
      <p:sp>
        <p:nvSpPr>
          <p:cNvPr id="4" name="line 4"/>
          <p:cNvSpPr txBox="0"/>
          <p:nvPr/>
        </p:nvSpPr>
        <p:spPr>
          <a:xfrm>
            <a:off x="609600" y="6315075"/>
            <a:ext cx="10972800" cy="0"/>
          </a:xfrm>
          <a:prstGeom prst="line">
            <a:avLst/>
          </a:prstGeom>
          <a:noFill/>
          <a:ln w="9525">
            <a:solidFill>
              <a:srgbClr val="363638"/>
            </a:solidFill>
            <a:prstDash val="solid"/>
          </a:ln>
        </p:spPr>
      </p:sp>
      <p:sp>
        <p:nvSpPr>
          <p:cNvPr id="5" name="text 5"/>
          <p:cNvSpPr txBox="1"/>
          <p:nvPr/>
        </p:nvSpPr>
        <p:spPr>
          <a:xfrm>
            <a:off x="609600" y="6438900"/>
            <a:ext cx="3810000" cy="2095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1050" b="0">
                <a:solidFill>
                  <a:srgbClr val="B9B9BE"/>
                </a:solidFill>
                <a:latin typeface="Arial"/>
                <a:ea typeface="Arial"/>
                <a:cs typeface="Arial"/>
              </a:rPr>
              <a:t xml:space="preserve">ARGUS  /  G04</a:t>
            </a:r>
            <a:endParaRPr lang="pt-BR" sz="1050"/>
          </a:p>
        </p:txBody>
      </p:sp>
      <p:sp>
        <p:nvSpPr>
          <p:cNvPr id="6" name="text 6"/>
          <p:cNvSpPr txBox="1"/>
          <p:nvPr/>
        </p:nvSpPr>
        <p:spPr>
          <a:xfrm>
            <a:off x="11287125" y="6429375"/>
            <a:ext cx="295275" cy="2381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8000"/>
              </a:lnSpc>
            </a:pPr>
            <a:r>
              <a:rPr lang="pt-BR" sz="1200" b="0">
                <a:solidFill>
                  <a:srgbClr val="B9B9BE"/>
                </a:solidFill>
                <a:latin typeface="Arial"/>
                <a:ea typeface="Arial"/>
                <a:cs typeface="Arial"/>
              </a:rPr>
              <a:t xml:space="preserve">04</a:t>
            </a:r>
            <a:endParaRPr lang="pt-BR" sz="1200"/>
          </a:p>
        </p:txBody>
      </p:sp>
      <p:graphicFrame>
        <p:nvGraphicFramePr>
          <p:cNvPr id="7" name="Tabela 7"/>
          <p:cNvGraphicFramePr/>
          <p:nvPr/>
        </p:nvGraphicFramePr>
        <p:xfrm>
          <a:off x="609600" y="1647825"/>
          <a:ext cx="10972800" cy="3810000"/>
        </p:xfrm>
        <a:graphic>
          <a:graphicData uri="http://schemas.openxmlformats.org/drawingml/2006/main/table">
            <a:tbl>
              <a:tblPr firstRow="1" bandRow="0">
                <a:tableStyleId>{5C22544A-7EE6-4342-B048-85BDC9FD1C3A}</a:tableStyleId>
              </a:tblPr>
              <a:tblGrid>
                <a:gridCol w="3730752"/>
                <a:gridCol w="5047488"/>
                <a:gridCol w="2194560"/>
              </a:tblGrid>
              <a:tr h="762000"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Pergunta do plantão</a:t>
                      </a:r>
                      <a:endParaRPr lang="pt-BR" sz="18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2A0905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Resposta do Argus</a:t>
                      </a:r>
                      <a:endParaRPr lang="pt-BR" sz="18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2A0905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Alcance</a:t>
                      </a:r>
                      <a:endParaRPr lang="pt-BR" sz="18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2A0905"/>
                    </a:solidFill>
                  </a:tcPr>
                </a:tc>
              </a:tr>
              <a:tr h="762000"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00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Onde aparece a degradação?</a:t>
                      </a:r>
                      <a:endParaRPr lang="pt-BR" sz="18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00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Sinais, filtros e recortes do dashboard</a:t>
                      </a:r>
                      <a:endParaRPr lang="pt-BR" sz="18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00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Implementado</a:t>
                      </a:r>
                      <a:endParaRPr lang="pt-BR" sz="18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</a:tr>
              <a:tr h="762000"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00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O que mudou antes do efeito?</a:t>
                      </a:r>
                      <a:endParaRPr lang="pt-BR" sz="18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00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Timeline e comparação de janelas</a:t>
                      </a:r>
                      <a:endParaRPr lang="pt-BR" sz="18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00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Implementado</a:t>
                      </a:r>
                      <a:endParaRPr lang="pt-BR" sz="18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</a:tr>
              <a:tr h="762000"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00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Quais causas são plausíveis?</a:t>
                      </a:r>
                      <a:endParaRPr lang="pt-BR" sz="18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00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11 famílias e evidências ranqueadas</a:t>
                      </a:r>
                      <a:endParaRPr lang="pt-BR" sz="18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00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Motor testado</a:t>
                      </a:r>
                      <a:endParaRPr lang="pt-BR" sz="18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</a:tr>
              <a:tr h="762000"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00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Quais anomalias podem gerar incidentes?</a:t>
                      </a:r>
                      <a:endParaRPr lang="pt-BR" sz="18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00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Desvios do baseline e contexto</a:t>
                      </a:r>
                      <a:endParaRPr lang="pt-BR" sz="18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00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Sem garantia preditiva</a:t>
                      </a:r>
                      <a:endParaRPr lang="pt-BR" sz="18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</a:tr>
            </a:tbl>
          </a:graphicData>
        </a:graphic>
      </p:graphicFrame>
      <p:sp>
        <p:nvSpPr>
          <p:cNvPr id="8" name="text 8"/>
          <p:cNvSpPr txBox="1"/>
          <p:nvPr/>
        </p:nvSpPr>
        <p:spPr>
          <a:xfrm>
            <a:off x="609600" y="5781675"/>
            <a:ext cx="10972800" cy="4286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1425" b="0">
                <a:solidFill>
                  <a:srgbClr val="B9B9BE"/>
                </a:solidFill>
                <a:latin typeface="Arial"/>
                <a:ea typeface="Arial"/>
                <a:cs typeface="Arial"/>
              </a:rPr>
              <a:t xml:space="preserve">A causa permanece candidata e exige revisão humana. O ganho no tempo de diagnóstico ainda precisa de medição.</a:t>
            </a:r>
            <a:endParaRPr lang="pt-BR" sz="1425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 name="Arquitetura para uma investigação comum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 txBox="0"/>
          <p:nvPr/>
        </p:nvSpPr>
        <p:spPr>
          <a:xfrm>
            <a:off x="609600" y="514350"/>
            <a:ext cx="66675" cy="361950"/>
          </a:xfrm>
          <a:prstGeom prst="rect">
            <a:avLst/>
          </a:prstGeom>
          <a:solidFill>
            <a:srgbClr val="FF1A00"/>
          </a:solidFill>
          <a:ln w="9525">
            <a:noFill/>
            <a:prstDash val="solid"/>
          </a:ln>
        </p:spPr>
      </p:sp>
      <p:sp>
        <p:nvSpPr>
          <p:cNvPr id="3" name="text 3"/>
          <p:cNvSpPr txBox="1"/>
          <p:nvPr/>
        </p:nvSpPr>
        <p:spPr>
          <a:xfrm>
            <a:off x="866775" y="438150"/>
            <a:ext cx="10525125" cy="9144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Arquitetura para uma investigação comum</a:t>
            </a:r>
            <a:endParaRPr lang="pt-BR" sz="3150"/>
          </a:p>
        </p:txBody>
      </p:sp>
      <p:sp>
        <p:nvSpPr>
          <p:cNvPr id="4" name="line 4"/>
          <p:cNvSpPr txBox="0"/>
          <p:nvPr/>
        </p:nvSpPr>
        <p:spPr>
          <a:xfrm>
            <a:off x="609600" y="6315075"/>
            <a:ext cx="10972800" cy="0"/>
          </a:xfrm>
          <a:prstGeom prst="line">
            <a:avLst/>
          </a:prstGeom>
          <a:noFill/>
          <a:ln w="9525">
            <a:solidFill>
              <a:srgbClr val="363638"/>
            </a:solidFill>
            <a:prstDash val="solid"/>
          </a:ln>
        </p:spPr>
      </p:sp>
      <p:sp>
        <p:nvSpPr>
          <p:cNvPr id="5" name="text 5"/>
          <p:cNvSpPr txBox="1"/>
          <p:nvPr/>
        </p:nvSpPr>
        <p:spPr>
          <a:xfrm>
            <a:off x="609600" y="6438900"/>
            <a:ext cx="3810000" cy="2095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1050" b="0">
                <a:solidFill>
                  <a:srgbClr val="B9B9BE"/>
                </a:solidFill>
                <a:latin typeface="Arial"/>
                <a:ea typeface="Arial"/>
                <a:cs typeface="Arial"/>
              </a:rPr>
              <a:t xml:space="preserve">ARGUS  /  G04</a:t>
            </a:r>
            <a:endParaRPr lang="pt-BR" sz="1050"/>
          </a:p>
        </p:txBody>
      </p:sp>
      <p:sp>
        <p:nvSpPr>
          <p:cNvPr id="6" name="text 6"/>
          <p:cNvSpPr txBox="1"/>
          <p:nvPr/>
        </p:nvSpPr>
        <p:spPr>
          <a:xfrm>
            <a:off x="11287125" y="6429375"/>
            <a:ext cx="295275" cy="2381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8000"/>
              </a:lnSpc>
            </a:pPr>
            <a:r>
              <a:rPr lang="pt-BR" sz="1200" b="0">
                <a:solidFill>
                  <a:srgbClr val="B9B9BE"/>
                </a:solidFill>
                <a:latin typeface="Arial"/>
                <a:ea typeface="Arial"/>
                <a:cs typeface="Arial"/>
              </a:rPr>
              <a:t xml:space="preserve">05</a:t>
            </a:r>
            <a:endParaRPr lang="pt-BR" sz="1200"/>
          </a:p>
        </p:txBody>
      </p:sp>
      <p:sp>
        <p:nvSpPr>
          <p:cNvPr id="7" name="rect 7"/>
          <p:cNvSpPr txBox="0"/>
          <p:nvPr/>
        </p:nvSpPr>
        <p:spPr>
          <a:xfrm>
            <a:off x="609600" y="1800225"/>
            <a:ext cx="2286000" cy="704850"/>
          </a:xfrm>
          <a:prstGeom prst="rect">
            <a:avLst/>
          </a:prstGeom>
          <a:solidFill>
            <a:srgbClr val="171719"/>
          </a:solidFill>
          <a:ln w="14288">
            <a:solidFill>
              <a:srgbClr val="363638"/>
            </a:solidFill>
            <a:prstDash val="solid"/>
          </a:ln>
        </p:spPr>
      </p:sp>
      <p:sp>
        <p:nvSpPr>
          <p:cNvPr id="8" name="text 8"/>
          <p:cNvSpPr txBox="1"/>
          <p:nvPr/>
        </p:nvSpPr>
        <p:spPr>
          <a:xfrm>
            <a:off x="733425" y="1952625"/>
            <a:ext cx="2038350" cy="5143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</a:pPr>
            <a:r>
              <a:rPr lang="pt-BR"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Eventos de TV</a:t>
            </a:r>
            <a:endParaRPr lang="pt-BR" sz="1725"/>
          </a:p>
        </p:txBody>
      </p:sp>
      <p:sp>
        <p:nvSpPr>
          <p:cNvPr id="9" name="rect 9"/>
          <p:cNvSpPr txBox="0"/>
          <p:nvPr/>
        </p:nvSpPr>
        <p:spPr>
          <a:xfrm>
            <a:off x="609600" y="2847975"/>
            <a:ext cx="2286000" cy="704850"/>
          </a:xfrm>
          <a:prstGeom prst="rect">
            <a:avLst/>
          </a:prstGeom>
          <a:solidFill>
            <a:srgbClr val="171719"/>
          </a:solidFill>
          <a:ln w="14288">
            <a:solidFill>
              <a:srgbClr val="363638"/>
            </a:solidFill>
            <a:prstDash val="solid"/>
          </a:ln>
        </p:spPr>
      </p:sp>
      <p:sp>
        <p:nvSpPr>
          <p:cNvPr id="10" name="text 10"/>
          <p:cNvSpPr txBox="1"/>
          <p:nvPr/>
        </p:nvSpPr>
        <p:spPr>
          <a:xfrm>
            <a:off x="733425" y="3000375"/>
            <a:ext cx="2038350" cy="5143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</a:pPr>
            <a:r>
              <a:rPr lang="pt-BR"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Mudanças CDC</a:t>
            </a:r>
            <a:endParaRPr lang="pt-BR" sz="1725"/>
          </a:p>
        </p:txBody>
      </p:sp>
      <p:sp>
        <p:nvSpPr>
          <p:cNvPr id="11" name="rect 11"/>
          <p:cNvSpPr txBox="0"/>
          <p:nvPr/>
        </p:nvSpPr>
        <p:spPr>
          <a:xfrm>
            <a:off x="3390900" y="1800225"/>
            <a:ext cx="2095500" cy="704850"/>
          </a:xfrm>
          <a:prstGeom prst="rect">
            <a:avLst/>
          </a:prstGeom>
          <a:solidFill>
            <a:srgbClr val="171719"/>
          </a:solidFill>
          <a:ln w="14288">
            <a:solidFill>
              <a:srgbClr val="363638"/>
            </a:solidFill>
            <a:prstDash val="solid"/>
          </a:ln>
        </p:spPr>
      </p:sp>
      <p:sp>
        <p:nvSpPr>
          <p:cNvPr id="12" name="text 12"/>
          <p:cNvSpPr txBox="1"/>
          <p:nvPr/>
        </p:nvSpPr>
        <p:spPr>
          <a:xfrm>
            <a:off x="3514725" y="1952625"/>
            <a:ext cx="1847850" cy="5143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</a:pPr>
            <a:r>
              <a:rPr lang="pt-BR"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API Gateway</a:t>
            </a:r>
            <a:endParaRPr lang="pt-BR" sz="1725"/>
          </a:p>
        </p:txBody>
      </p:sp>
      <p:sp>
        <p:nvSpPr>
          <p:cNvPr id="13" name="rect 13"/>
          <p:cNvSpPr txBox="0"/>
          <p:nvPr/>
        </p:nvSpPr>
        <p:spPr>
          <a:xfrm>
            <a:off x="5981700" y="1800225"/>
            <a:ext cx="2286000" cy="704850"/>
          </a:xfrm>
          <a:prstGeom prst="rect">
            <a:avLst/>
          </a:prstGeom>
          <a:solidFill>
            <a:srgbClr val="171719"/>
          </a:solidFill>
          <a:ln w="14288">
            <a:solidFill>
              <a:srgbClr val="363638"/>
            </a:solidFill>
            <a:prstDash val="solid"/>
          </a:ln>
        </p:spPr>
      </p:sp>
      <p:sp>
        <p:nvSpPr>
          <p:cNvPr id="14" name="text 14"/>
          <p:cNvSpPr txBox="1"/>
          <p:nvPr/>
        </p:nvSpPr>
        <p:spPr>
          <a:xfrm>
            <a:off x="6105525" y="1952625"/>
            <a:ext cx="2038350" cy="5143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</a:pPr>
            <a:r>
              <a:rPr lang="pt-BR"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SQS + workers</a:t>
            </a:r>
            <a:endParaRPr lang="pt-BR" sz="1725"/>
          </a:p>
        </p:txBody>
      </p:sp>
      <p:sp>
        <p:nvSpPr>
          <p:cNvPr id="15" name="arrow 15"/>
          <p:cNvSpPr txBox="0"/>
          <p:nvPr/>
        </p:nvSpPr>
        <p:spPr>
          <a:xfrm>
            <a:off x="2895600" y="2152650"/>
            <a:ext cx="495300" cy="0"/>
          </a:xfrm>
          <a:prstGeom prst="line">
            <a:avLst/>
          </a:prstGeom>
          <a:noFill/>
          <a:ln w="19050">
            <a:solidFill>
              <a:srgbClr val="FF1A00"/>
            </a:solidFill>
            <a:prstDash val="solid"/>
            <a:tailEnd type="triangle" w="sm" len="sm"/>
          </a:ln>
        </p:spPr>
      </p:sp>
      <p:sp>
        <p:nvSpPr>
          <p:cNvPr id="16" name="arrow 16"/>
          <p:cNvSpPr txBox="0"/>
          <p:nvPr/>
        </p:nvSpPr>
        <p:spPr>
          <a:xfrm>
            <a:off x="5486400" y="2152650"/>
            <a:ext cx="495300" cy="0"/>
          </a:xfrm>
          <a:prstGeom prst="line">
            <a:avLst/>
          </a:prstGeom>
          <a:noFill/>
          <a:ln w="19050">
            <a:solidFill>
              <a:srgbClr val="FF1A00"/>
            </a:solidFill>
            <a:prstDash val="solid"/>
            <a:tailEnd type="triangle" w="sm" len="sm"/>
          </a:ln>
        </p:spPr>
      </p:sp>
      <p:sp>
        <p:nvSpPr>
          <p:cNvPr id="17" name="arrow 17"/>
          <p:cNvSpPr txBox="0"/>
          <p:nvPr/>
        </p:nvSpPr>
        <p:spPr>
          <a:xfrm>
            <a:off x="8267700" y="2152650"/>
            <a:ext cx="552450" cy="0"/>
          </a:xfrm>
          <a:prstGeom prst="line">
            <a:avLst/>
          </a:prstGeom>
          <a:noFill/>
          <a:ln w="19050">
            <a:solidFill>
              <a:srgbClr val="FF1A00"/>
            </a:solidFill>
            <a:prstDash val="solid"/>
            <a:tailEnd type="triangle" w="sm" len="sm"/>
          </a:ln>
        </p:spPr>
      </p:sp>
      <p:sp>
        <p:nvSpPr>
          <p:cNvPr id="18" name="rect 18"/>
          <p:cNvSpPr txBox="0"/>
          <p:nvPr/>
        </p:nvSpPr>
        <p:spPr>
          <a:xfrm>
            <a:off x="8820150" y="1800225"/>
            <a:ext cx="2762250" cy="1752600"/>
          </a:xfrm>
          <a:prstGeom prst="rect">
            <a:avLst/>
          </a:prstGeom>
          <a:solidFill>
            <a:srgbClr val="360800"/>
          </a:solidFill>
          <a:ln w="14288">
            <a:solidFill>
              <a:srgbClr val="FF1A00"/>
            </a:solidFill>
            <a:prstDash val="solid"/>
          </a:ln>
        </p:spPr>
      </p:sp>
      <p:sp>
        <p:nvSpPr>
          <p:cNvPr id="19" name="text 19"/>
          <p:cNvSpPr txBox="1"/>
          <p:nvPr/>
        </p:nvSpPr>
        <p:spPr>
          <a:xfrm>
            <a:off x="8943975" y="1952625"/>
            <a:ext cx="2514600" cy="15621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</a:pPr>
            <a:r>
              <a:rPr lang="pt-BR"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PostgreSQL</a:t>
            </a:r>
            <a:endParaRPr lang="pt-BR" sz="1725"/>
          </a:p>
        </p:txBody>
      </p:sp>
      <p:sp>
        <p:nvSpPr>
          <p:cNvPr id="20" name="text 20"/>
          <p:cNvSpPr txBox="1"/>
          <p:nvPr/>
        </p:nvSpPr>
        <p:spPr>
          <a:xfrm>
            <a:off x="9029700" y="2571750"/>
            <a:ext cx="2343150" cy="7429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</a:pPr>
            <a:r>
              <a:rPr lang="pt-BR" sz="1950" b="0">
                <a:solidFill>
                  <a:srgbClr val="B9B9BE"/>
                </a:solidFill>
                <a:latin typeface="Arial"/>
                <a:ea typeface="Arial"/>
                <a:cs typeface="Arial"/>
              </a:rPr>
              <a:t xml:space="preserve">Bronze  /  Silver</a:t>
            </a:r>
            <a:endParaRPr lang="pt-BR" sz="1950"/>
          </a:p>
          <a:p>
            <a:pPr algn="ctr">
              <a:lnSpc>
                <a:spcPct val="118000"/>
              </a:lnSpc>
            </a:pPr>
            <a:r>
              <a:rPr lang="pt-BR" sz="1950" b="0">
                <a:solidFill>
                  <a:srgbClr val="B9B9BE"/>
                </a:solidFill>
                <a:latin typeface="Arial"/>
                <a:ea typeface="Arial"/>
                <a:cs typeface="Arial"/>
              </a:rPr>
              <a:t xml:space="preserve">Gold  /  Detect</a:t>
            </a:r>
            <a:endParaRPr lang="pt-BR" sz="1950"/>
          </a:p>
        </p:txBody>
      </p:sp>
      <p:sp>
        <p:nvSpPr>
          <p:cNvPr id="21" name="line 21"/>
          <p:cNvSpPr txBox="0"/>
          <p:nvPr/>
        </p:nvSpPr>
        <p:spPr>
          <a:xfrm>
            <a:off x="3162300" y="2152650"/>
            <a:ext cx="0" cy="1047750"/>
          </a:xfrm>
          <a:prstGeom prst="line">
            <a:avLst/>
          </a:prstGeom>
          <a:noFill/>
          <a:ln w="19050">
            <a:solidFill>
              <a:srgbClr val="FF1A00"/>
            </a:solidFill>
            <a:prstDash val="solid"/>
          </a:ln>
        </p:spPr>
      </p:sp>
      <p:sp>
        <p:nvSpPr>
          <p:cNvPr id="22" name="arrow 22"/>
          <p:cNvSpPr txBox="0"/>
          <p:nvPr/>
        </p:nvSpPr>
        <p:spPr>
          <a:xfrm>
            <a:off x="2895600" y="3200400"/>
            <a:ext cx="266700" cy="0"/>
          </a:xfrm>
          <a:prstGeom prst="line">
            <a:avLst/>
          </a:prstGeom>
          <a:noFill/>
          <a:ln w="19050">
            <a:solidFill>
              <a:srgbClr val="FF1A00"/>
            </a:solidFill>
            <a:prstDash val="solid"/>
            <a:tailEnd type="triangle" w="sm" len="sm"/>
          </a:ln>
        </p:spPr>
      </p:sp>
      <p:sp>
        <p:nvSpPr>
          <p:cNvPr id="23" name="rect 23"/>
          <p:cNvSpPr txBox="0"/>
          <p:nvPr/>
        </p:nvSpPr>
        <p:spPr>
          <a:xfrm>
            <a:off x="609600" y="4305300"/>
            <a:ext cx="2286000" cy="704850"/>
          </a:xfrm>
          <a:prstGeom prst="rect">
            <a:avLst/>
          </a:prstGeom>
          <a:solidFill>
            <a:srgbClr val="171719"/>
          </a:solidFill>
          <a:ln w="14288">
            <a:solidFill>
              <a:srgbClr val="363638"/>
            </a:solidFill>
            <a:prstDash val="solid"/>
          </a:ln>
        </p:spPr>
      </p:sp>
      <p:sp>
        <p:nvSpPr>
          <p:cNvPr id="24" name="text 24"/>
          <p:cNvSpPr txBox="1"/>
          <p:nvPr/>
        </p:nvSpPr>
        <p:spPr>
          <a:xfrm>
            <a:off x="733425" y="4457700"/>
            <a:ext cx="2038350" cy="5143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</a:pPr>
            <a:r>
              <a:rPr lang="pt-BR"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Dashboard</a:t>
            </a:r>
            <a:endParaRPr lang="pt-BR" sz="1725"/>
          </a:p>
        </p:txBody>
      </p:sp>
      <p:sp>
        <p:nvSpPr>
          <p:cNvPr id="25" name="rect 25"/>
          <p:cNvSpPr txBox="0"/>
          <p:nvPr/>
        </p:nvSpPr>
        <p:spPr>
          <a:xfrm>
            <a:off x="3390900" y="4305300"/>
            <a:ext cx="2095500" cy="704850"/>
          </a:xfrm>
          <a:prstGeom prst="rect">
            <a:avLst/>
          </a:prstGeom>
          <a:solidFill>
            <a:srgbClr val="171719"/>
          </a:solidFill>
          <a:ln w="14288">
            <a:solidFill>
              <a:srgbClr val="363638"/>
            </a:solidFill>
            <a:prstDash val="solid"/>
          </a:ln>
        </p:spPr>
      </p:sp>
      <p:sp>
        <p:nvSpPr>
          <p:cNvPr id="26" name="text 26"/>
          <p:cNvSpPr txBox="1"/>
          <p:nvPr/>
        </p:nvSpPr>
        <p:spPr>
          <a:xfrm>
            <a:off x="3514725" y="4457700"/>
            <a:ext cx="1847850" cy="5143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</a:pPr>
            <a:r>
              <a:rPr lang="pt-BR"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ALB / Ingress</a:t>
            </a:r>
            <a:endParaRPr lang="pt-BR" sz="1725"/>
          </a:p>
        </p:txBody>
      </p:sp>
      <p:sp>
        <p:nvSpPr>
          <p:cNvPr id="27" name="rect 27"/>
          <p:cNvSpPr txBox="0"/>
          <p:nvPr/>
        </p:nvSpPr>
        <p:spPr>
          <a:xfrm>
            <a:off x="5981700" y="4305300"/>
            <a:ext cx="2286000" cy="704850"/>
          </a:xfrm>
          <a:prstGeom prst="rect">
            <a:avLst/>
          </a:prstGeom>
          <a:solidFill>
            <a:srgbClr val="171719"/>
          </a:solidFill>
          <a:ln w="14288">
            <a:solidFill>
              <a:srgbClr val="363638"/>
            </a:solidFill>
            <a:prstDash val="solid"/>
          </a:ln>
        </p:spPr>
      </p:sp>
      <p:sp>
        <p:nvSpPr>
          <p:cNvPr id="28" name="text 28"/>
          <p:cNvSpPr txBox="1"/>
          <p:nvPr/>
        </p:nvSpPr>
        <p:spPr>
          <a:xfrm>
            <a:off x="6105525" y="4457700"/>
            <a:ext cx="2038350" cy="5143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</a:pPr>
            <a:r>
              <a:rPr lang="pt-BR"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API Flask no EKS</a:t>
            </a:r>
            <a:endParaRPr lang="pt-BR" sz="1725"/>
          </a:p>
        </p:txBody>
      </p:sp>
      <p:sp>
        <p:nvSpPr>
          <p:cNvPr id="29" name="rect 29"/>
          <p:cNvSpPr txBox="0"/>
          <p:nvPr/>
        </p:nvSpPr>
        <p:spPr>
          <a:xfrm>
            <a:off x="8820150" y="4305300"/>
            <a:ext cx="2762250" cy="704850"/>
          </a:xfrm>
          <a:prstGeom prst="rect">
            <a:avLst/>
          </a:prstGeom>
          <a:solidFill>
            <a:srgbClr val="171719"/>
          </a:solidFill>
          <a:ln w="14288">
            <a:solidFill>
              <a:srgbClr val="363638"/>
            </a:solidFill>
            <a:prstDash val="solid"/>
          </a:ln>
        </p:spPr>
      </p:sp>
      <p:sp>
        <p:nvSpPr>
          <p:cNvPr id="30" name="text 30"/>
          <p:cNvSpPr txBox="1"/>
          <p:nvPr/>
        </p:nvSpPr>
        <p:spPr>
          <a:xfrm>
            <a:off x="8943975" y="4457700"/>
            <a:ext cx="2514600" cy="5143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</a:pPr>
            <a:r>
              <a:rPr lang="pt-BR"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Views de leitura</a:t>
            </a:r>
            <a:endParaRPr lang="pt-BR" sz="1725"/>
          </a:p>
        </p:txBody>
      </p:sp>
      <p:sp>
        <p:nvSpPr>
          <p:cNvPr id="31" name="arrow 31"/>
          <p:cNvSpPr txBox="0"/>
          <p:nvPr/>
        </p:nvSpPr>
        <p:spPr>
          <a:xfrm>
            <a:off x="2895600" y="4657725"/>
            <a:ext cx="495300" cy="0"/>
          </a:xfrm>
          <a:prstGeom prst="line">
            <a:avLst/>
          </a:prstGeom>
          <a:noFill/>
          <a:ln w="19050">
            <a:solidFill>
              <a:srgbClr val="FF1A00"/>
            </a:solidFill>
            <a:prstDash val="solid"/>
            <a:tailEnd type="triangle" w="sm" len="sm"/>
          </a:ln>
        </p:spPr>
      </p:sp>
      <p:sp>
        <p:nvSpPr>
          <p:cNvPr id="32" name="arrow 32"/>
          <p:cNvSpPr txBox="0"/>
          <p:nvPr/>
        </p:nvSpPr>
        <p:spPr>
          <a:xfrm>
            <a:off x="5486400" y="4657725"/>
            <a:ext cx="495300" cy="0"/>
          </a:xfrm>
          <a:prstGeom prst="line">
            <a:avLst/>
          </a:prstGeom>
          <a:noFill/>
          <a:ln w="19050">
            <a:solidFill>
              <a:srgbClr val="FF1A00"/>
            </a:solidFill>
            <a:prstDash val="solid"/>
            <a:tailEnd type="triangle" w="sm" len="sm"/>
          </a:ln>
        </p:spPr>
      </p:sp>
      <p:sp>
        <p:nvSpPr>
          <p:cNvPr id="33" name="arrow 33"/>
          <p:cNvSpPr txBox="0"/>
          <p:nvPr/>
        </p:nvSpPr>
        <p:spPr>
          <a:xfrm>
            <a:off x="8267700" y="4657725"/>
            <a:ext cx="552450" cy="0"/>
          </a:xfrm>
          <a:prstGeom prst="line">
            <a:avLst/>
          </a:prstGeom>
          <a:noFill/>
          <a:ln w="19050">
            <a:solidFill>
              <a:srgbClr val="FF1A00"/>
            </a:solidFill>
            <a:prstDash val="solid"/>
            <a:tailEnd type="triangle" w="sm" len="sm"/>
          </a:ln>
        </p:spPr>
      </p:sp>
      <p:sp>
        <p:nvSpPr>
          <p:cNvPr id="34" name="line 34"/>
          <p:cNvSpPr txBox="0"/>
          <p:nvPr/>
        </p:nvSpPr>
        <p:spPr>
          <a:xfrm>
            <a:off x="10201275" y="3552825"/>
            <a:ext cx="0" cy="752475"/>
          </a:xfrm>
          <a:prstGeom prst="line">
            <a:avLst/>
          </a:prstGeom>
          <a:noFill/>
          <a:ln w="19050">
            <a:solidFill>
              <a:srgbClr val="FF1A00"/>
            </a:solidFill>
            <a:prstDash val="solid"/>
          </a:ln>
        </p:spPr>
      </p:sp>
      <p:sp>
        <p:nvSpPr>
          <p:cNvPr id="35" name="text 35"/>
          <p:cNvSpPr txBox="1"/>
          <p:nvPr/>
        </p:nvSpPr>
        <p:spPr>
          <a:xfrm>
            <a:off x="609600" y="5781675"/>
            <a:ext cx="10972800" cy="4286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1425" b="0">
                <a:solidFill>
                  <a:srgbClr val="B9B9BE"/>
                </a:solidFill>
                <a:latin typeface="Arial"/>
                <a:ea typeface="Arial"/>
                <a:cs typeface="Arial"/>
              </a:rPr>
              <a:t xml:space="preserve">Disponibilidade temporal: as views respeitam available_at ≤ sim.now().</a:t>
            </a:r>
            <a:endParaRPr lang="pt-BR" sz="1425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 name="Três caminhos de ingestão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 txBox="0"/>
          <p:nvPr/>
        </p:nvSpPr>
        <p:spPr>
          <a:xfrm>
            <a:off x="609600" y="514350"/>
            <a:ext cx="66675" cy="361950"/>
          </a:xfrm>
          <a:prstGeom prst="rect">
            <a:avLst/>
          </a:prstGeom>
          <a:solidFill>
            <a:srgbClr val="FF1A00"/>
          </a:solidFill>
          <a:ln w="9525">
            <a:noFill/>
            <a:prstDash val="solid"/>
          </a:ln>
        </p:spPr>
      </p:sp>
      <p:sp>
        <p:nvSpPr>
          <p:cNvPr id="3" name="text 3"/>
          <p:cNvSpPr txBox="1"/>
          <p:nvPr/>
        </p:nvSpPr>
        <p:spPr>
          <a:xfrm>
            <a:off x="866775" y="438150"/>
            <a:ext cx="10525125" cy="9144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Três caminhos de ingestão</a:t>
            </a:r>
            <a:endParaRPr lang="pt-BR" sz="3150"/>
          </a:p>
        </p:txBody>
      </p:sp>
      <p:sp>
        <p:nvSpPr>
          <p:cNvPr id="4" name="line 4"/>
          <p:cNvSpPr txBox="0"/>
          <p:nvPr/>
        </p:nvSpPr>
        <p:spPr>
          <a:xfrm>
            <a:off x="609600" y="6315075"/>
            <a:ext cx="10972800" cy="0"/>
          </a:xfrm>
          <a:prstGeom prst="line">
            <a:avLst/>
          </a:prstGeom>
          <a:noFill/>
          <a:ln w="9525">
            <a:solidFill>
              <a:srgbClr val="363638"/>
            </a:solidFill>
            <a:prstDash val="solid"/>
          </a:ln>
        </p:spPr>
      </p:sp>
      <p:sp>
        <p:nvSpPr>
          <p:cNvPr id="5" name="text 5"/>
          <p:cNvSpPr txBox="1"/>
          <p:nvPr/>
        </p:nvSpPr>
        <p:spPr>
          <a:xfrm>
            <a:off x="609600" y="6438900"/>
            <a:ext cx="3810000" cy="2095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1050" b="0">
                <a:solidFill>
                  <a:srgbClr val="B9B9BE"/>
                </a:solidFill>
                <a:latin typeface="Arial"/>
                <a:ea typeface="Arial"/>
                <a:cs typeface="Arial"/>
              </a:rPr>
              <a:t xml:space="preserve">ARGUS  /  G04</a:t>
            </a:r>
            <a:endParaRPr lang="pt-BR" sz="1050"/>
          </a:p>
        </p:txBody>
      </p:sp>
      <p:sp>
        <p:nvSpPr>
          <p:cNvPr id="6" name="text 6"/>
          <p:cNvSpPr txBox="1"/>
          <p:nvPr/>
        </p:nvSpPr>
        <p:spPr>
          <a:xfrm>
            <a:off x="11287125" y="6429375"/>
            <a:ext cx="295275" cy="2381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8000"/>
              </a:lnSpc>
            </a:pPr>
            <a:r>
              <a:rPr lang="pt-BR" sz="1200" b="0">
                <a:solidFill>
                  <a:srgbClr val="B9B9BE"/>
                </a:solidFill>
                <a:latin typeface="Arial"/>
                <a:ea typeface="Arial"/>
                <a:cs typeface="Arial"/>
              </a:rPr>
              <a:t xml:space="preserve">06</a:t>
            </a:r>
            <a:endParaRPr lang="pt-BR" sz="1200"/>
          </a:p>
        </p:txBody>
      </p:sp>
      <p:graphicFrame>
        <p:nvGraphicFramePr>
          <p:cNvPr id="7" name="Tabela 7"/>
          <p:cNvGraphicFramePr/>
          <p:nvPr/>
        </p:nvGraphicFramePr>
        <p:xfrm>
          <a:off x="609600" y="1752600"/>
          <a:ext cx="10972800" cy="3276600"/>
        </p:xfrm>
        <a:graphic>
          <a:graphicData uri="http://schemas.openxmlformats.org/drawingml/2006/main/table">
            <a:tbl>
              <a:tblPr firstRow="1" bandRow="0">
                <a:tableStyleId>{5C22544A-7EE6-4342-B048-85BDC9FD1C3A}</a:tableStyleId>
              </a:tblPr>
              <a:tblGrid>
                <a:gridCol w="2414016"/>
                <a:gridCol w="5376672"/>
                <a:gridCol w="3182112"/>
              </a:tblGrid>
              <a:tr h="819150"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Origem</a:t>
                      </a:r>
                      <a:endParaRPr lang="pt-BR" sz="1875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2A0905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Caminho de escrita</a:t>
                      </a:r>
                      <a:endParaRPr lang="pt-BR" sz="1875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2A0905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Garantia principal</a:t>
                      </a:r>
                      <a:endParaRPr lang="pt-BR" sz="1875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2A0905"/>
                    </a:solidFill>
                  </a:tcPr>
                </a:tc>
              </a:tr>
              <a:tr h="819150"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75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Eventos de TV</a:t>
                      </a:r>
                      <a:endParaRPr lang="pt-BR" sz="1875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75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Gateway, SQS, event worker, bronze.event</a:t>
                      </a:r>
                      <a:endParaRPr lang="pt-BR" sz="1875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75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Validação e deduplicação</a:t>
                      </a:r>
                      <a:endParaRPr lang="pt-BR" sz="1875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</a:tr>
              <a:tr h="819150"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75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CDC simulado</a:t>
                      </a:r>
                      <a:endParaRPr lang="pt-BR" sz="1875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75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Gateway, SQS, merge worker, change_log</a:t>
                      </a:r>
                      <a:endParaRPr lang="pt-BR" sz="1875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75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Log + MERGE transacional</a:t>
                      </a:r>
                      <a:endParaRPr lang="pt-BR" sz="1875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</a:tr>
              <a:tr h="819150"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75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CSV / Parquet</a:t>
                      </a:r>
                      <a:endParaRPr lang="pt-BR" sz="1875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75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File API, fila no Postgres, file worker</a:t>
                      </a:r>
                      <a:endParaRPr lang="pt-BR" sz="1875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75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Lease, fencing e rollback</a:t>
                      </a:r>
                      <a:endParaRPr lang="pt-BR" sz="1875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</a:tr>
            </a:tbl>
          </a:graphicData>
        </a:graphic>
      </p:graphicFrame>
      <p:sp>
        <p:nvSpPr>
          <p:cNvPr id="8" name="text 8"/>
          <p:cNvSpPr txBox="1"/>
          <p:nvPr/>
        </p:nvSpPr>
        <p:spPr>
          <a:xfrm>
            <a:off x="609600" y="5238750"/>
            <a:ext cx="10972800" cy="3619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O loader prepara a base histórica via COPY antes da ingestão incremental.</a:t>
            </a:r>
            <a:endParaRPr lang="pt-BR" sz="2100"/>
          </a:p>
        </p:txBody>
      </p:sp>
      <p:sp>
        <p:nvSpPr>
          <p:cNvPr id="9" name="text 9"/>
          <p:cNvSpPr txBox="1"/>
          <p:nvPr/>
        </p:nvSpPr>
        <p:spPr>
          <a:xfrm>
            <a:off x="609600" y="5781675"/>
            <a:ext cx="10972800" cy="4286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1425" b="0">
                <a:solidFill>
                  <a:srgbClr val="B9B9BE"/>
                </a:solidFill>
                <a:latin typeface="Arial"/>
                <a:ea typeface="Arial"/>
                <a:cs typeface="Arial"/>
              </a:rPr>
              <a:t xml:space="preserve">Upload de arquivos: implementação e testes locais. A publicação na AWS ainda está pendente.</a:t>
            </a:r>
            <a:endParaRPr lang="pt-BR" sz="1425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 name="Python no MVP, Go como alternativa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 txBox="0"/>
          <p:nvPr/>
        </p:nvSpPr>
        <p:spPr>
          <a:xfrm>
            <a:off x="609600" y="514350"/>
            <a:ext cx="66675" cy="361950"/>
          </a:xfrm>
          <a:prstGeom prst="rect">
            <a:avLst/>
          </a:prstGeom>
          <a:solidFill>
            <a:srgbClr val="FF1A00"/>
          </a:solidFill>
          <a:ln w="9525">
            <a:noFill/>
            <a:prstDash val="solid"/>
          </a:ln>
        </p:spPr>
      </p:sp>
      <p:sp>
        <p:nvSpPr>
          <p:cNvPr id="3" name="text 3"/>
          <p:cNvSpPr txBox="1"/>
          <p:nvPr/>
        </p:nvSpPr>
        <p:spPr>
          <a:xfrm>
            <a:off x="866775" y="438150"/>
            <a:ext cx="10525125" cy="9144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Python no MVP, Go como alternativa</a:t>
            </a:r>
            <a:endParaRPr lang="pt-BR" sz="3150"/>
          </a:p>
        </p:txBody>
      </p:sp>
      <p:sp>
        <p:nvSpPr>
          <p:cNvPr id="4" name="line 4"/>
          <p:cNvSpPr txBox="0"/>
          <p:nvPr/>
        </p:nvSpPr>
        <p:spPr>
          <a:xfrm>
            <a:off x="609600" y="6315075"/>
            <a:ext cx="10972800" cy="0"/>
          </a:xfrm>
          <a:prstGeom prst="line">
            <a:avLst/>
          </a:prstGeom>
          <a:noFill/>
          <a:ln w="9525">
            <a:solidFill>
              <a:srgbClr val="363638"/>
            </a:solidFill>
            <a:prstDash val="solid"/>
          </a:ln>
        </p:spPr>
      </p:sp>
      <p:sp>
        <p:nvSpPr>
          <p:cNvPr id="5" name="text 5"/>
          <p:cNvSpPr txBox="1"/>
          <p:nvPr/>
        </p:nvSpPr>
        <p:spPr>
          <a:xfrm>
            <a:off x="609600" y="6438900"/>
            <a:ext cx="3810000" cy="2095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1050" b="0">
                <a:solidFill>
                  <a:srgbClr val="B9B9BE"/>
                </a:solidFill>
                <a:latin typeface="Arial"/>
                <a:ea typeface="Arial"/>
                <a:cs typeface="Arial"/>
              </a:rPr>
              <a:t xml:space="preserve">ARGUS  /  G04</a:t>
            </a:r>
            <a:endParaRPr lang="pt-BR" sz="1050"/>
          </a:p>
        </p:txBody>
      </p:sp>
      <p:sp>
        <p:nvSpPr>
          <p:cNvPr id="6" name="text 6"/>
          <p:cNvSpPr txBox="1"/>
          <p:nvPr/>
        </p:nvSpPr>
        <p:spPr>
          <a:xfrm>
            <a:off x="11287125" y="6429375"/>
            <a:ext cx="295275" cy="2381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8000"/>
              </a:lnSpc>
            </a:pPr>
            <a:r>
              <a:rPr lang="pt-BR" sz="1200" b="0">
                <a:solidFill>
                  <a:srgbClr val="B9B9BE"/>
                </a:solidFill>
                <a:latin typeface="Arial"/>
                <a:ea typeface="Arial"/>
                <a:cs typeface="Arial"/>
              </a:rPr>
              <a:t xml:space="preserve">07</a:t>
            </a:r>
            <a:endParaRPr lang="pt-BR" sz="1200"/>
          </a:p>
        </p:txBody>
      </p:sp>
      <p:graphicFrame>
        <p:nvGraphicFramePr>
          <p:cNvPr id="7" name="Tabela 7"/>
          <p:cNvGraphicFramePr/>
          <p:nvPr/>
        </p:nvGraphicFramePr>
        <p:xfrm>
          <a:off x="609600" y="1638300"/>
          <a:ext cx="10972800" cy="3762375"/>
        </p:xfrm>
        <a:graphic>
          <a:graphicData uri="http://schemas.openxmlformats.org/drawingml/2006/main/table">
            <a:tbl>
              <a:tblPr firstRow="1" bandRow="0">
                <a:tableStyleId>{5C22544A-7EE6-4342-B048-85BDC9FD1C3A}</a:tableStyleId>
              </a:tblPr>
              <a:tblGrid>
                <a:gridCol w="2523744"/>
                <a:gridCol w="4608576"/>
                <a:gridCol w="3840480"/>
              </a:tblGrid>
              <a:tr h="752475"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Critério</a:t>
                      </a:r>
                      <a:endParaRPr lang="pt-BR" sz="18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2A0905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Python, implementação atual</a:t>
                      </a:r>
                      <a:endParaRPr lang="pt-BR" sz="18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2A0905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Go, alternativa</a:t>
                      </a:r>
                      <a:endParaRPr lang="pt-BR" sz="18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2A0905"/>
                    </a:solidFill>
                  </a:tcPr>
                </a:tc>
              </a:tr>
              <a:tr h="752475"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00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Integração</a:t>
                      </a:r>
                      <a:endParaRPr lang="pt-BR" sz="18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00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Reutiliza contratos, ETL e regras existentes</a:t>
                      </a:r>
                      <a:endParaRPr lang="pt-BR" sz="18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00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Exige portar contratos e testes</a:t>
                      </a:r>
                      <a:endParaRPr lang="pt-BR" sz="18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</a:tr>
              <a:tr h="752475"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00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Concorrência</a:t>
                      </a:r>
                      <a:endParaRPr lang="pt-BR" sz="18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00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Processos do gunicorn e espera de I/O</a:t>
                      </a:r>
                      <a:endParaRPr lang="pt-BR" sz="18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00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Goroutines e channels</a:t>
                      </a:r>
                      <a:endParaRPr lang="pt-BR" sz="18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</a:tr>
              <a:tr h="752475"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00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Evolução do motor</a:t>
                      </a:r>
                      <a:endParaRPr lang="pt-BR" sz="18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00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Regras e análise no mesmo ecossistema</a:t>
                      </a:r>
                      <a:endParaRPr lang="pt-BR" sz="18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00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Serviço dedicado possível</a:t>
                      </a:r>
                      <a:endParaRPr lang="pt-BR" sz="18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</a:tr>
              <a:tr h="752475"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00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Decisão do projeto</a:t>
                      </a:r>
                      <a:endParaRPr lang="pt-BR" sz="18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00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Preservar o MVP e medir o gargalo</a:t>
                      </a:r>
                      <a:endParaRPr lang="pt-BR" sz="18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00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Avaliar com o mesmo ensaio</a:t>
                      </a:r>
                      <a:endParaRPr lang="pt-BR" sz="18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</a:tr>
            </a:tbl>
          </a:graphicData>
        </a:graphic>
      </p:graphicFrame>
      <p:sp>
        <p:nvSpPr>
          <p:cNvPr id="8" name="text 8"/>
          <p:cNvSpPr txBox="1"/>
          <p:nvPr/>
        </p:nvSpPr>
        <p:spPr>
          <a:xfrm>
            <a:off x="609600" y="5781675"/>
            <a:ext cx="10972800" cy="4286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1425" b="0">
                <a:solidFill>
                  <a:srgbClr val="B9B9BE"/>
                </a:solidFill>
                <a:latin typeface="Arial"/>
                <a:ea typeface="Arial"/>
                <a:cs typeface="Arial"/>
              </a:rPr>
              <a:t xml:space="preserve">Não há benchmark Go versus Python no projeto. Os gargalos observados não justificam, sozinhos, uma reescrita.</a:t>
            </a:r>
            <a:endParaRPr lang="pt-BR" sz="1425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 name="Hipóteses com evidência e contradição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 txBox="0"/>
          <p:nvPr/>
        </p:nvSpPr>
        <p:spPr>
          <a:xfrm>
            <a:off x="609600" y="514350"/>
            <a:ext cx="66675" cy="361950"/>
          </a:xfrm>
          <a:prstGeom prst="rect">
            <a:avLst/>
          </a:prstGeom>
          <a:solidFill>
            <a:srgbClr val="FF1A00"/>
          </a:solidFill>
          <a:ln w="9525">
            <a:noFill/>
            <a:prstDash val="solid"/>
          </a:ln>
        </p:spPr>
      </p:sp>
      <p:sp>
        <p:nvSpPr>
          <p:cNvPr id="3" name="text 3"/>
          <p:cNvSpPr txBox="1"/>
          <p:nvPr/>
        </p:nvSpPr>
        <p:spPr>
          <a:xfrm>
            <a:off x="866775" y="438150"/>
            <a:ext cx="10525125" cy="9144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Hipóteses com evidência e contradição</a:t>
            </a:r>
            <a:endParaRPr lang="pt-BR" sz="3150"/>
          </a:p>
        </p:txBody>
      </p:sp>
      <p:sp>
        <p:nvSpPr>
          <p:cNvPr id="4" name="line 4"/>
          <p:cNvSpPr txBox="0"/>
          <p:nvPr/>
        </p:nvSpPr>
        <p:spPr>
          <a:xfrm>
            <a:off x="609600" y="6315075"/>
            <a:ext cx="10972800" cy="0"/>
          </a:xfrm>
          <a:prstGeom prst="line">
            <a:avLst/>
          </a:prstGeom>
          <a:noFill/>
          <a:ln w="9525">
            <a:solidFill>
              <a:srgbClr val="363638"/>
            </a:solidFill>
            <a:prstDash val="solid"/>
          </a:ln>
        </p:spPr>
      </p:sp>
      <p:sp>
        <p:nvSpPr>
          <p:cNvPr id="5" name="text 5"/>
          <p:cNvSpPr txBox="1"/>
          <p:nvPr/>
        </p:nvSpPr>
        <p:spPr>
          <a:xfrm>
            <a:off x="609600" y="6438900"/>
            <a:ext cx="3810000" cy="2095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1050" b="0">
                <a:solidFill>
                  <a:srgbClr val="B9B9BE"/>
                </a:solidFill>
                <a:latin typeface="Arial"/>
                <a:ea typeface="Arial"/>
                <a:cs typeface="Arial"/>
              </a:rPr>
              <a:t xml:space="preserve">ARGUS  /  G04</a:t>
            </a:r>
            <a:endParaRPr lang="pt-BR" sz="1050"/>
          </a:p>
        </p:txBody>
      </p:sp>
      <p:sp>
        <p:nvSpPr>
          <p:cNvPr id="6" name="text 6"/>
          <p:cNvSpPr txBox="1"/>
          <p:nvPr/>
        </p:nvSpPr>
        <p:spPr>
          <a:xfrm>
            <a:off x="11287125" y="6429375"/>
            <a:ext cx="295275" cy="2381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8000"/>
              </a:lnSpc>
            </a:pPr>
            <a:r>
              <a:rPr lang="pt-BR" sz="1200" b="0">
                <a:solidFill>
                  <a:srgbClr val="B9B9BE"/>
                </a:solidFill>
                <a:latin typeface="Arial"/>
                <a:ea typeface="Arial"/>
                <a:cs typeface="Arial"/>
              </a:rPr>
              <a:t xml:space="preserve">08</a:t>
            </a:r>
            <a:endParaRPr lang="pt-BR" sz="1200"/>
          </a:p>
        </p:txBody>
      </p:sp>
      <p:sp>
        <p:nvSpPr>
          <p:cNvPr id="7" name="rect 7"/>
          <p:cNvSpPr txBox="0"/>
          <p:nvPr/>
        </p:nvSpPr>
        <p:spPr>
          <a:xfrm>
            <a:off x="609600" y="1847850"/>
            <a:ext cx="2438400" cy="742950"/>
          </a:xfrm>
          <a:prstGeom prst="rect">
            <a:avLst/>
          </a:prstGeom>
          <a:solidFill>
            <a:srgbClr val="171719"/>
          </a:solidFill>
          <a:ln w="14288">
            <a:solidFill>
              <a:srgbClr val="363638"/>
            </a:solidFill>
            <a:prstDash val="solid"/>
          </a:ln>
        </p:spPr>
      </p:sp>
      <p:sp>
        <p:nvSpPr>
          <p:cNvPr id="8" name="text 8"/>
          <p:cNvSpPr txBox="1"/>
          <p:nvPr/>
        </p:nvSpPr>
        <p:spPr>
          <a:xfrm>
            <a:off x="733425" y="2000250"/>
            <a:ext cx="2190750" cy="5524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</a:pPr>
            <a:r>
              <a:rPr lang="pt-BR"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Checkpoint</a:t>
            </a:r>
            <a:endParaRPr lang="pt-BR" sz="1725"/>
          </a:p>
        </p:txBody>
      </p:sp>
      <p:sp>
        <p:nvSpPr>
          <p:cNvPr id="9" name="arrow 9"/>
          <p:cNvSpPr txBox="0"/>
          <p:nvPr/>
        </p:nvSpPr>
        <p:spPr>
          <a:xfrm>
            <a:off x="3048000" y="2219325"/>
            <a:ext cx="352425" cy="0"/>
          </a:xfrm>
          <a:prstGeom prst="line">
            <a:avLst/>
          </a:prstGeom>
          <a:noFill/>
          <a:ln w="19050">
            <a:solidFill>
              <a:srgbClr val="FF1A00"/>
            </a:solidFill>
            <a:prstDash val="solid"/>
            <a:tailEnd type="triangle" w="sm" len="sm"/>
          </a:ln>
        </p:spPr>
      </p:sp>
      <p:sp>
        <p:nvSpPr>
          <p:cNvPr id="10" name="rect 10"/>
          <p:cNvSpPr txBox="0"/>
          <p:nvPr/>
        </p:nvSpPr>
        <p:spPr>
          <a:xfrm>
            <a:off x="3400425" y="1847850"/>
            <a:ext cx="2438400" cy="742950"/>
          </a:xfrm>
          <a:prstGeom prst="rect">
            <a:avLst/>
          </a:prstGeom>
          <a:solidFill>
            <a:srgbClr val="171719"/>
          </a:solidFill>
          <a:ln w="14288">
            <a:solidFill>
              <a:srgbClr val="363638"/>
            </a:solidFill>
            <a:prstDash val="solid"/>
          </a:ln>
        </p:spPr>
      </p:sp>
      <p:sp>
        <p:nvSpPr>
          <p:cNvPr id="11" name="text 11"/>
          <p:cNvSpPr txBox="1"/>
          <p:nvPr/>
        </p:nvSpPr>
        <p:spPr>
          <a:xfrm>
            <a:off x="3524250" y="2000250"/>
            <a:ext cx="2190750" cy="5524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</a:pPr>
            <a:r>
              <a:rPr lang="pt-BR"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Fatos e baseline</a:t>
            </a:r>
            <a:endParaRPr lang="pt-BR" sz="1725"/>
          </a:p>
        </p:txBody>
      </p:sp>
      <p:sp>
        <p:nvSpPr>
          <p:cNvPr id="12" name="arrow 12"/>
          <p:cNvSpPr txBox="0"/>
          <p:nvPr/>
        </p:nvSpPr>
        <p:spPr>
          <a:xfrm>
            <a:off x="5838825" y="2219325"/>
            <a:ext cx="352425" cy="0"/>
          </a:xfrm>
          <a:prstGeom prst="line">
            <a:avLst/>
          </a:prstGeom>
          <a:noFill/>
          <a:ln w="19050">
            <a:solidFill>
              <a:srgbClr val="FF1A00"/>
            </a:solidFill>
            <a:prstDash val="solid"/>
            <a:tailEnd type="triangle" w="sm" len="sm"/>
          </a:ln>
        </p:spPr>
      </p:sp>
      <p:sp>
        <p:nvSpPr>
          <p:cNvPr id="13" name="rect 13"/>
          <p:cNvSpPr txBox="0"/>
          <p:nvPr/>
        </p:nvSpPr>
        <p:spPr>
          <a:xfrm>
            <a:off x="6191250" y="1847850"/>
            <a:ext cx="2438400" cy="742950"/>
          </a:xfrm>
          <a:prstGeom prst="rect">
            <a:avLst/>
          </a:prstGeom>
          <a:solidFill>
            <a:srgbClr val="171719"/>
          </a:solidFill>
          <a:ln w="14288">
            <a:solidFill>
              <a:srgbClr val="363638"/>
            </a:solidFill>
            <a:prstDash val="solid"/>
          </a:ln>
        </p:spPr>
      </p:sp>
      <p:sp>
        <p:nvSpPr>
          <p:cNvPr id="14" name="text 14"/>
          <p:cNvSpPr txBox="1"/>
          <p:nvPr/>
        </p:nvSpPr>
        <p:spPr>
          <a:xfrm>
            <a:off x="6315075" y="2000250"/>
            <a:ext cx="2190750" cy="5524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</a:pPr>
            <a:r>
              <a:rPr lang="pt-BR"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Desvios</a:t>
            </a:r>
            <a:endParaRPr lang="pt-BR" sz="1725"/>
          </a:p>
        </p:txBody>
      </p:sp>
      <p:sp>
        <p:nvSpPr>
          <p:cNvPr id="15" name="arrow 15"/>
          <p:cNvSpPr txBox="0"/>
          <p:nvPr/>
        </p:nvSpPr>
        <p:spPr>
          <a:xfrm>
            <a:off x="8629650" y="2219325"/>
            <a:ext cx="352425" cy="0"/>
          </a:xfrm>
          <a:prstGeom prst="line">
            <a:avLst/>
          </a:prstGeom>
          <a:noFill/>
          <a:ln w="19050">
            <a:solidFill>
              <a:srgbClr val="FF1A00"/>
            </a:solidFill>
            <a:prstDash val="solid"/>
            <a:tailEnd type="triangle" w="sm" len="sm"/>
          </a:ln>
        </p:spPr>
      </p:sp>
      <p:sp>
        <p:nvSpPr>
          <p:cNvPr id="16" name="rect 16"/>
          <p:cNvSpPr txBox="0"/>
          <p:nvPr/>
        </p:nvSpPr>
        <p:spPr>
          <a:xfrm>
            <a:off x="8982075" y="1847850"/>
            <a:ext cx="2438400" cy="742950"/>
          </a:xfrm>
          <a:prstGeom prst="rect">
            <a:avLst/>
          </a:prstGeom>
          <a:solidFill>
            <a:srgbClr val="360800"/>
          </a:solidFill>
          <a:ln w="14288">
            <a:solidFill>
              <a:srgbClr val="FF1A00"/>
            </a:solidFill>
            <a:prstDash val="solid"/>
          </a:ln>
        </p:spPr>
      </p:sp>
      <p:sp>
        <p:nvSpPr>
          <p:cNvPr id="17" name="text 17"/>
          <p:cNvSpPr txBox="1"/>
          <p:nvPr/>
        </p:nvSpPr>
        <p:spPr>
          <a:xfrm>
            <a:off x="9105900" y="2000250"/>
            <a:ext cx="2190750" cy="5524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</a:pPr>
            <a:r>
              <a:rPr lang="pt-BR"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11 famílias</a:t>
            </a:r>
            <a:endParaRPr lang="pt-BR" sz="1725"/>
          </a:p>
        </p:txBody>
      </p:sp>
      <p:sp>
        <p:nvSpPr>
          <p:cNvPr id="18" name="text 18"/>
          <p:cNvSpPr txBox="1"/>
          <p:nvPr/>
        </p:nvSpPr>
        <p:spPr>
          <a:xfrm>
            <a:off x="609600" y="3000375"/>
            <a:ext cx="5715000" cy="3333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1650" b="1">
                <a:solidFill>
                  <a:srgbClr val="FF1A00"/>
                </a:solidFill>
                <a:latin typeface="Arial"/>
                <a:ea typeface="Arial"/>
                <a:cs typeface="Arial"/>
              </a:rPr>
              <a:t xml:space="preserve">Exemplo ilustrativo</a:t>
            </a:r>
            <a:endParaRPr lang="pt-BR" sz="1650"/>
          </a:p>
        </p:txBody>
      </p:sp>
      <p:sp>
        <p:nvSpPr>
          <p:cNvPr id="19" name="text 19"/>
          <p:cNvSpPr txBox="1"/>
          <p:nvPr/>
        </p:nvSpPr>
        <p:spPr>
          <a:xfrm>
            <a:off x="609600" y="3486150"/>
            <a:ext cx="7239000" cy="13239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24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Um deploy precede o aumento de erros.</a:t>
            </a:r>
            <a:endParaRPr lang="pt-BR" sz="2400"/>
          </a:p>
          <a:p>
            <a:pPr algn="l">
              <a:lnSpc>
                <a:spcPct val="118000"/>
              </a:lnSpc>
            </a:pPr>
            <a:r>
              <a:rPr lang="pt-BR" sz="24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Outra fonte corrobora o desvio.</a:t>
            </a:r>
            <a:endParaRPr lang="pt-BR" sz="2400"/>
          </a:p>
          <a:p>
            <a:pPr algn="l">
              <a:lnSpc>
                <a:spcPct val="118000"/>
              </a:lnSpc>
            </a:pPr>
            <a:r>
              <a:rPr lang="pt-BR" sz="24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Uma evidência contrária reduz a confiança.</a:t>
            </a:r>
            <a:endParaRPr lang="pt-BR" sz="2400"/>
          </a:p>
        </p:txBody>
      </p:sp>
      <p:sp>
        <p:nvSpPr>
          <p:cNvPr id="20" name="text 20"/>
          <p:cNvSpPr txBox="1"/>
          <p:nvPr/>
        </p:nvSpPr>
        <p:spPr>
          <a:xfrm>
            <a:off x="8524875" y="3467100"/>
            <a:ext cx="3057525" cy="5143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2325" b="1">
                <a:solidFill>
                  <a:srgbClr val="FF1A00"/>
                </a:solidFill>
                <a:latin typeface="Arial"/>
                <a:ea typeface="Arial"/>
                <a:cs typeface="Arial"/>
              </a:rPr>
              <a:t xml:space="preserve">Score e cobertura</a:t>
            </a:r>
            <a:endParaRPr lang="pt-BR" sz="2325"/>
          </a:p>
        </p:txBody>
      </p:sp>
      <p:sp>
        <p:nvSpPr>
          <p:cNvPr id="21" name="text 21"/>
          <p:cNvSpPr txBox="1"/>
          <p:nvPr/>
        </p:nvSpPr>
        <p:spPr>
          <a:xfrm>
            <a:off x="8524875" y="4114800"/>
            <a:ext cx="2952750" cy="12573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Evidências disponíveis</a:t>
            </a:r>
            <a:endParaRPr lang="pt-BR" sz="1875"/>
          </a:p>
          <a:p>
            <a:pPr algn="l">
              <a:lnSpc>
                <a:spcPct val="118000"/>
              </a:lnSpc>
            </a:pPr>
            <a:r>
              <a:rPr lang="pt-BR"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normalizam o score.</a:t>
            </a:r>
            <a:endParaRPr lang="pt-BR" sz="1875"/>
          </a:p>
          <a:p>
            <a:pPr algn="l">
              <a:lnSpc>
                <a:spcPct val="118000"/>
              </a:lnSpc>
            </a:pPr>
            <a:r>
              <a:rPr lang="pt-BR"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Contradições reduzem</a:t>
            </a:r>
            <a:endParaRPr lang="pt-BR" sz="1875"/>
          </a:p>
          <a:p>
            <a:pPr algn="l">
              <a:lnSpc>
                <a:spcPct val="118000"/>
              </a:lnSpc>
            </a:pPr>
            <a:r>
              <a:rPr lang="pt-BR"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a confiança.</a:t>
            </a:r>
            <a:endParaRPr lang="pt-BR" sz="1875"/>
          </a:p>
        </p:txBody>
      </p:sp>
      <p:sp>
        <p:nvSpPr>
          <p:cNvPr id="22" name="text 22"/>
          <p:cNvSpPr txBox="1"/>
          <p:nvPr/>
        </p:nvSpPr>
        <p:spPr>
          <a:xfrm>
            <a:off x="609600" y="5781675"/>
            <a:ext cx="10972800" cy="4286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1425" b="0">
                <a:solidFill>
                  <a:srgbClr val="B9B9BE"/>
                </a:solidFill>
                <a:latin typeface="Arial"/>
                <a:ea typeface="Arial"/>
                <a:cs typeface="Arial"/>
              </a:rPr>
              <a:t xml:space="preserve">Correlação temporal sustenta uma candidata. A confirmação da causa continua humana.</a:t>
            </a:r>
            <a:endParaRPr lang="pt-BR" sz="1425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 name="Motor, refinador e agente de investigação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 txBox="0"/>
          <p:nvPr/>
        </p:nvSpPr>
        <p:spPr>
          <a:xfrm>
            <a:off x="609600" y="514350"/>
            <a:ext cx="66675" cy="361950"/>
          </a:xfrm>
          <a:prstGeom prst="rect">
            <a:avLst/>
          </a:prstGeom>
          <a:solidFill>
            <a:srgbClr val="FF1A00"/>
          </a:solidFill>
          <a:ln w="9525">
            <a:noFill/>
            <a:prstDash val="solid"/>
          </a:ln>
        </p:spPr>
      </p:sp>
      <p:sp>
        <p:nvSpPr>
          <p:cNvPr id="3" name="text 3"/>
          <p:cNvSpPr txBox="1"/>
          <p:nvPr/>
        </p:nvSpPr>
        <p:spPr>
          <a:xfrm>
            <a:off x="866775" y="438150"/>
            <a:ext cx="10525125" cy="9144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Motor, refinador e agente de investigação</a:t>
            </a:r>
            <a:endParaRPr lang="pt-BR" sz="3150"/>
          </a:p>
        </p:txBody>
      </p:sp>
      <p:sp>
        <p:nvSpPr>
          <p:cNvPr id="4" name="line 4"/>
          <p:cNvSpPr txBox="0"/>
          <p:nvPr/>
        </p:nvSpPr>
        <p:spPr>
          <a:xfrm>
            <a:off x="609600" y="6315075"/>
            <a:ext cx="10972800" cy="0"/>
          </a:xfrm>
          <a:prstGeom prst="line">
            <a:avLst/>
          </a:prstGeom>
          <a:noFill/>
          <a:ln w="9525">
            <a:solidFill>
              <a:srgbClr val="363638"/>
            </a:solidFill>
            <a:prstDash val="solid"/>
          </a:ln>
        </p:spPr>
      </p:sp>
      <p:sp>
        <p:nvSpPr>
          <p:cNvPr id="5" name="text 5"/>
          <p:cNvSpPr txBox="1"/>
          <p:nvPr/>
        </p:nvSpPr>
        <p:spPr>
          <a:xfrm>
            <a:off x="609600" y="6438900"/>
            <a:ext cx="3810000" cy="2095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1050" b="0">
                <a:solidFill>
                  <a:srgbClr val="B9B9BE"/>
                </a:solidFill>
                <a:latin typeface="Arial"/>
                <a:ea typeface="Arial"/>
                <a:cs typeface="Arial"/>
              </a:rPr>
              <a:t xml:space="preserve">ARGUS  /  G04</a:t>
            </a:r>
            <a:endParaRPr lang="pt-BR" sz="1050"/>
          </a:p>
        </p:txBody>
      </p:sp>
      <p:sp>
        <p:nvSpPr>
          <p:cNvPr id="6" name="text 6"/>
          <p:cNvSpPr txBox="1"/>
          <p:nvPr/>
        </p:nvSpPr>
        <p:spPr>
          <a:xfrm>
            <a:off x="11287125" y="6429375"/>
            <a:ext cx="295275" cy="2381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8000"/>
              </a:lnSpc>
            </a:pPr>
            <a:r>
              <a:rPr lang="pt-BR" sz="1200" b="0">
                <a:solidFill>
                  <a:srgbClr val="B9B9BE"/>
                </a:solidFill>
                <a:latin typeface="Arial"/>
                <a:ea typeface="Arial"/>
                <a:cs typeface="Arial"/>
              </a:rPr>
              <a:t xml:space="preserve">09</a:t>
            </a:r>
            <a:endParaRPr lang="pt-BR" sz="1200"/>
          </a:p>
        </p:txBody>
      </p:sp>
      <p:sp>
        <p:nvSpPr>
          <p:cNvPr id="7" name="text 7"/>
          <p:cNvSpPr txBox="1"/>
          <p:nvPr/>
        </p:nvSpPr>
        <p:spPr>
          <a:xfrm>
            <a:off x="609600" y="1762125"/>
            <a:ext cx="3238500" cy="6191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2475" b="1">
                <a:solidFill>
                  <a:srgbClr val="FF1A00"/>
                </a:solidFill>
                <a:latin typeface="Arial"/>
                <a:ea typeface="Arial"/>
                <a:cs typeface="Arial"/>
              </a:rPr>
              <a:t xml:space="preserve">Motor atual</a:t>
            </a:r>
            <a:endParaRPr lang="pt-BR" sz="2475"/>
          </a:p>
        </p:txBody>
      </p:sp>
      <p:sp>
        <p:nvSpPr>
          <p:cNvPr id="8" name="text 8"/>
          <p:cNvSpPr txBox="1"/>
          <p:nvPr/>
        </p:nvSpPr>
        <p:spPr>
          <a:xfrm>
            <a:off x="609600" y="2581275"/>
            <a:ext cx="3238500" cy="21907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11 famílias determinísticas. Score explicável, cobertura e evidências. Implementado e testado.</a:t>
            </a:r>
            <a:endParaRPr lang="pt-BR" sz="1950"/>
          </a:p>
        </p:txBody>
      </p:sp>
      <p:sp>
        <p:nvSpPr>
          <p:cNvPr id="9" name="text 9"/>
          <p:cNvSpPr txBox="1"/>
          <p:nvPr/>
        </p:nvSpPr>
        <p:spPr>
          <a:xfrm>
            <a:off x="4476750" y="1762125"/>
            <a:ext cx="3238500" cy="6191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2475" b="1">
                <a:solidFill>
                  <a:srgbClr val="FF1A00"/>
                </a:solidFill>
                <a:latin typeface="Arial"/>
                <a:ea typeface="Arial"/>
                <a:cs typeface="Arial"/>
              </a:rPr>
              <a:t xml:space="preserve">Ollama opcional</a:t>
            </a:r>
            <a:endParaRPr lang="pt-BR" sz="2475"/>
          </a:p>
        </p:txBody>
      </p:sp>
      <p:sp>
        <p:nvSpPr>
          <p:cNvPr id="10" name="text 10"/>
          <p:cNvSpPr txBox="1"/>
          <p:nvPr/>
        </p:nvSpPr>
        <p:spPr>
          <a:xfrm>
            <a:off x="4476750" y="2581275"/>
            <a:ext cx="3238500" cy="21907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Refina o texto de uma hipótese publicada. Resposta com fontes. Sem validação no EKS.</a:t>
            </a:r>
            <a:endParaRPr lang="pt-BR" sz="1950"/>
          </a:p>
        </p:txBody>
      </p:sp>
      <p:sp>
        <p:nvSpPr>
          <p:cNvPr id="11" name="text 11"/>
          <p:cNvSpPr txBox="1"/>
          <p:nvPr/>
        </p:nvSpPr>
        <p:spPr>
          <a:xfrm>
            <a:off x="8343900" y="1762125"/>
            <a:ext cx="3238500" cy="6191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2475" b="1">
                <a:solidFill>
                  <a:srgbClr val="FF1A00"/>
                </a:solidFill>
                <a:latin typeface="Arial"/>
                <a:ea typeface="Arial"/>
                <a:cs typeface="Arial"/>
              </a:rPr>
              <a:t xml:space="preserve">Agente proposto</a:t>
            </a:r>
            <a:endParaRPr lang="pt-BR" sz="2475"/>
          </a:p>
        </p:txBody>
      </p:sp>
      <p:sp>
        <p:nvSpPr>
          <p:cNvPr id="12" name="text 12"/>
          <p:cNvSpPr txBox="1"/>
          <p:nvPr/>
        </p:nvSpPr>
        <p:spPr>
          <a:xfrm>
            <a:off x="8343900" y="2581275"/>
            <a:ext cx="3238500" cy="21907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Investiga fatos de um checkpoint e procura contradições. MVA experimental ainda não publicado.</a:t>
            </a:r>
            <a:endParaRPr lang="pt-BR" sz="1950"/>
          </a:p>
        </p:txBody>
      </p:sp>
      <p:sp>
        <p:nvSpPr>
          <p:cNvPr id="13" name="text 13"/>
          <p:cNvSpPr txBox="1"/>
          <p:nvPr/>
        </p:nvSpPr>
        <p:spPr>
          <a:xfrm>
            <a:off x="609600" y="5781675"/>
            <a:ext cx="10972800" cy="4286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1425" b="0">
                <a:solidFill>
                  <a:srgbClr val="B9B9BE"/>
                </a:solidFill>
                <a:latin typeface="Arial"/>
                <a:ea typeface="Arial"/>
                <a:cs typeface="Arial"/>
              </a:rPr>
              <a:t xml:space="preserve">LLM: configurável em OLLAMA_MODEL. O repositório não comprova um modelo específico em execução.</a:t>
            </a:r>
            <a:endParaRPr lang="pt-BR" sz="1425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 name="MVP: o recorte da degradação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 txBox="0"/>
          <p:nvPr/>
        </p:nvSpPr>
        <p:spPr>
          <a:xfrm>
            <a:off x="609600" y="514350"/>
            <a:ext cx="66675" cy="361950"/>
          </a:xfrm>
          <a:prstGeom prst="rect">
            <a:avLst/>
          </a:prstGeom>
          <a:solidFill>
            <a:srgbClr val="FF1A00"/>
          </a:solidFill>
          <a:ln w="9525">
            <a:noFill/>
            <a:prstDash val="solid"/>
          </a:ln>
        </p:spPr>
      </p:sp>
      <p:sp>
        <p:nvSpPr>
          <p:cNvPr id="3" name="text 3"/>
          <p:cNvSpPr txBox="1"/>
          <p:nvPr/>
        </p:nvSpPr>
        <p:spPr>
          <a:xfrm>
            <a:off x="866775" y="438150"/>
            <a:ext cx="10525125" cy="9144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MVP: o recorte da degradação</a:t>
            </a:r>
            <a:endParaRPr lang="pt-BR" sz="3150"/>
          </a:p>
        </p:txBody>
      </p:sp>
      <p:sp>
        <p:nvSpPr>
          <p:cNvPr id="4" name="line 4"/>
          <p:cNvSpPr txBox="0"/>
          <p:nvPr/>
        </p:nvSpPr>
        <p:spPr>
          <a:xfrm>
            <a:off x="609600" y="6315075"/>
            <a:ext cx="10972800" cy="0"/>
          </a:xfrm>
          <a:prstGeom prst="line">
            <a:avLst/>
          </a:prstGeom>
          <a:noFill/>
          <a:ln w="9525">
            <a:solidFill>
              <a:srgbClr val="363638"/>
            </a:solidFill>
            <a:prstDash val="solid"/>
          </a:ln>
        </p:spPr>
      </p:sp>
      <p:sp>
        <p:nvSpPr>
          <p:cNvPr id="5" name="text 5"/>
          <p:cNvSpPr txBox="1"/>
          <p:nvPr/>
        </p:nvSpPr>
        <p:spPr>
          <a:xfrm>
            <a:off x="609600" y="6438900"/>
            <a:ext cx="3810000" cy="2095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1050" b="0">
                <a:solidFill>
                  <a:srgbClr val="B9B9BE"/>
                </a:solidFill>
                <a:latin typeface="Arial"/>
                <a:ea typeface="Arial"/>
                <a:cs typeface="Arial"/>
              </a:rPr>
              <a:t xml:space="preserve">ARGUS  /  G04</a:t>
            </a:r>
            <a:endParaRPr lang="pt-BR" sz="1050"/>
          </a:p>
        </p:txBody>
      </p:sp>
      <p:sp>
        <p:nvSpPr>
          <p:cNvPr id="6" name="text 6"/>
          <p:cNvSpPr txBox="1"/>
          <p:nvPr/>
        </p:nvSpPr>
        <p:spPr>
          <a:xfrm>
            <a:off x="11287125" y="6429375"/>
            <a:ext cx="295275" cy="2381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8000"/>
              </a:lnSpc>
            </a:pPr>
            <a:r>
              <a:rPr lang="pt-BR" sz="1200" b="0">
                <a:solidFill>
                  <a:srgbClr val="B9B9BE"/>
                </a:solidFill>
                <a:latin typeface="Arial"/>
                <a:ea typeface="Arial"/>
                <a:cs typeface="Arial"/>
              </a:rPr>
              <a:t xml:space="preserve">10</a:t>
            </a:r>
            <a:endParaRPr lang="pt-BR" sz="1200"/>
          </a:p>
        </p:txBody>
      </p:sp>
      <p:pic>
        <p:nvPicPr>
          <p:cNvPr id="7" name="Captura original" descr="Captura histórica da interface Argus"/>
          <p:cNvPicPr>
            <a:picLocks noChangeAspect="1"/>
          </p:cNvPicPr>
          <p:nvPr/>
        </p:nvPicPr>
        <p:blipFill>
          <a:blip r:embed="rIdImage1"/>
          <a:stretch>
            <a:fillRect/>
          </a:stretch>
        </p:blipFill>
        <p:spPr>
          <a:xfrm>
            <a:off x="609600" y="1571625"/>
            <a:ext cx="7219950" cy="4114800"/>
          </a:xfrm>
          <a:prstGeom prst="rect">
            <a:avLst/>
          </a:prstGeom>
        </p:spPr>
      </p:pic>
      <p:sp>
        <p:nvSpPr>
          <p:cNvPr id="8" name="text 8"/>
          <p:cNvSpPr txBox="1"/>
          <p:nvPr/>
        </p:nvSpPr>
        <p:spPr>
          <a:xfrm>
            <a:off x="8810625" y="2038350"/>
            <a:ext cx="2771775" cy="10858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2325" b="1">
                <a:solidFill>
                  <a:srgbClr val="FF1A00"/>
                </a:solidFill>
                <a:latin typeface="Arial"/>
                <a:ea typeface="Arial"/>
                <a:cs typeface="Arial"/>
              </a:rPr>
              <a:t xml:space="preserve">Uma janela</a:t>
            </a:r>
            <a:endParaRPr lang="pt-BR" sz="2325"/>
          </a:p>
          <a:p>
            <a:pPr algn="l">
              <a:lnSpc>
                <a:spcPct val="118000"/>
              </a:lnSpc>
            </a:pPr>
            <a:r>
              <a:rPr lang="pt-BR" sz="2325" b="1">
                <a:solidFill>
                  <a:srgbClr val="FF1A00"/>
                </a:solidFill>
                <a:latin typeface="Arial"/>
                <a:ea typeface="Arial"/>
                <a:cs typeface="Arial"/>
              </a:rPr>
              <a:t xml:space="preserve">de investigação</a:t>
            </a:r>
            <a:endParaRPr lang="pt-BR" sz="2325"/>
          </a:p>
        </p:txBody>
      </p:sp>
      <p:sp>
        <p:nvSpPr>
          <p:cNvPr id="9" name="text 9"/>
          <p:cNvSpPr txBox="1"/>
          <p:nvPr/>
        </p:nvSpPr>
        <p:spPr>
          <a:xfrm>
            <a:off x="8810625" y="3400425"/>
            <a:ext cx="2771775" cy="20288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Filtros do recorte</a:t>
            </a:r>
            <a:endParaRPr lang="pt-BR" sz="1875"/>
          </a:p>
          <a:p>
            <a:pPr algn="l">
              <a:lnSpc>
                <a:spcPct val="118000"/>
              </a:lnSpc>
            </a:pPr>
            <a:r>
              <a:rPr lang="pt-BR"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/>
            </a:r>
            <a:endParaRPr lang="pt-BR" sz="1875"/>
          </a:p>
          <a:p>
            <a:pPr algn="l">
              <a:lnSpc>
                <a:spcPct val="118000"/>
              </a:lnSpc>
            </a:pPr>
            <a:r>
              <a:rPr lang="pt-BR"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Desvio do baseline</a:t>
            </a:r>
            <a:endParaRPr lang="pt-BR" sz="1875"/>
          </a:p>
          <a:p>
            <a:pPr algn="l">
              <a:lnSpc>
                <a:spcPct val="118000"/>
              </a:lnSpc>
            </a:pPr>
            <a:r>
              <a:rPr lang="pt-BR"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/>
            </a:r>
            <a:endParaRPr lang="pt-BR" sz="1875"/>
          </a:p>
          <a:p>
            <a:pPr algn="l">
              <a:lnSpc>
                <a:spcPct val="118000"/>
              </a:lnSpc>
            </a:pPr>
            <a:r>
              <a:rPr lang="pt-BR"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Acesso às hipóteses</a:t>
            </a:r>
            <a:endParaRPr lang="pt-BR" sz="1875"/>
          </a:p>
        </p:txBody>
      </p:sp>
      <p:sp>
        <p:nvSpPr>
          <p:cNvPr id="10" name="text 10"/>
          <p:cNvSpPr txBox="1"/>
          <p:nvPr/>
        </p:nvSpPr>
        <p:spPr>
          <a:xfrm>
            <a:off x="609600" y="5829300"/>
            <a:ext cx="8572500" cy="2762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1425" b="0">
                <a:solidFill>
                  <a:srgbClr val="B9B9BE"/>
                </a:solidFill>
                <a:latin typeface="Arial"/>
                <a:ea typeface="Arial"/>
                <a:cs typeface="Arial"/>
              </a:rPr>
              <a:t xml:space="preserve">Captura histórica da interface</a:t>
            </a:r>
            <a:endParaRPr lang="pt-BR" sz="1425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 name="MVP: upload de CSV e Parquet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 txBox="0"/>
          <p:nvPr/>
        </p:nvSpPr>
        <p:spPr>
          <a:xfrm>
            <a:off x="609600" y="514350"/>
            <a:ext cx="66675" cy="361950"/>
          </a:xfrm>
          <a:prstGeom prst="rect">
            <a:avLst/>
          </a:prstGeom>
          <a:solidFill>
            <a:srgbClr val="FF1A00"/>
          </a:solidFill>
          <a:ln w="9525">
            <a:noFill/>
            <a:prstDash val="solid"/>
          </a:ln>
        </p:spPr>
      </p:sp>
      <p:sp>
        <p:nvSpPr>
          <p:cNvPr id="3" name="text 3"/>
          <p:cNvSpPr txBox="1"/>
          <p:nvPr/>
        </p:nvSpPr>
        <p:spPr>
          <a:xfrm>
            <a:off x="866775" y="438150"/>
            <a:ext cx="10525125" cy="9144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MVP: upload de CSV e Parquet</a:t>
            </a:r>
            <a:endParaRPr lang="pt-BR" sz="3150"/>
          </a:p>
        </p:txBody>
      </p:sp>
      <p:sp>
        <p:nvSpPr>
          <p:cNvPr id="4" name="line 4"/>
          <p:cNvSpPr txBox="0"/>
          <p:nvPr/>
        </p:nvSpPr>
        <p:spPr>
          <a:xfrm>
            <a:off x="609600" y="6315075"/>
            <a:ext cx="10972800" cy="0"/>
          </a:xfrm>
          <a:prstGeom prst="line">
            <a:avLst/>
          </a:prstGeom>
          <a:noFill/>
          <a:ln w="9525">
            <a:solidFill>
              <a:srgbClr val="363638"/>
            </a:solidFill>
            <a:prstDash val="solid"/>
          </a:ln>
        </p:spPr>
      </p:sp>
      <p:sp>
        <p:nvSpPr>
          <p:cNvPr id="5" name="text 5"/>
          <p:cNvSpPr txBox="1"/>
          <p:nvPr/>
        </p:nvSpPr>
        <p:spPr>
          <a:xfrm>
            <a:off x="609600" y="6438900"/>
            <a:ext cx="3810000" cy="2095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1050" b="0">
                <a:solidFill>
                  <a:srgbClr val="B9B9BE"/>
                </a:solidFill>
                <a:latin typeface="Arial"/>
                <a:ea typeface="Arial"/>
                <a:cs typeface="Arial"/>
              </a:rPr>
              <a:t xml:space="preserve">ARGUS  /  G04</a:t>
            </a:r>
            <a:endParaRPr lang="pt-BR" sz="1050"/>
          </a:p>
        </p:txBody>
      </p:sp>
      <p:sp>
        <p:nvSpPr>
          <p:cNvPr id="6" name="text 6"/>
          <p:cNvSpPr txBox="1"/>
          <p:nvPr/>
        </p:nvSpPr>
        <p:spPr>
          <a:xfrm>
            <a:off x="11287125" y="6429375"/>
            <a:ext cx="295275" cy="2381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8000"/>
              </a:lnSpc>
            </a:pPr>
            <a:r>
              <a:rPr lang="pt-BR" sz="1200" b="0">
                <a:solidFill>
                  <a:srgbClr val="B9B9BE"/>
                </a:solidFill>
                <a:latin typeface="Arial"/>
                <a:ea typeface="Arial"/>
                <a:cs typeface="Arial"/>
              </a:rPr>
              <a:t xml:space="preserve">11</a:t>
            </a:r>
            <a:endParaRPr lang="pt-BR" sz="1200"/>
          </a:p>
        </p:txBody>
      </p:sp>
      <p:sp>
        <p:nvSpPr>
          <p:cNvPr id="7" name="rect 7"/>
          <p:cNvSpPr txBox="0"/>
          <p:nvPr/>
        </p:nvSpPr>
        <p:spPr>
          <a:xfrm>
            <a:off x="609600" y="1762125"/>
            <a:ext cx="2438400" cy="695325"/>
          </a:xfrm>
          <a:prstGeom prst="rect">
            <a:avLst/>
          </a:prstGeom>
          <a:solidFill>
            <a:srgbClr val="171719"/>
          </a:solidFill>
          <a:ln w="14288">
            <a:solidFill>
              <a:srgbClr val="363638"/>
            </a:solidFill>
            <a:prstDash val="solid"/>
          </a:ln>
        </p:spPr>
      </p:sp>
      <p:sp>
        <p:nvSpPr>
          <p:cNvPr id="8" name="text 8"/>
          <p:cNvSpPr txBox="1"/>
          <p:nvPr/>
        </p:nvSpPr>
        <p:spPr>
          <a:xfrm>
            <a:off x="733425" y="1914525"/>
            <a:ext cx="2190750" cy="5048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</a:pPr>
            <a:r>
              <a:rPr lang="pt-BR"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Prévia</a:t>
            </a:r>
            <a:endParaRPr lang="pt-BR" sz="1725"/>
          </a:p>
        </p:txBody>
      </p:sp>
      <p:sp>
        <p:nvSpPr>
          <p:cNvPr id="9" name="arrow 9"/>
          <p:cNvSpPr txBox="0"/>
          <p:nvPr/>
        </p:nvSpPr>
        <p:spPr>
          <a:xfrm>
            <a:off x="3048000" y="2105025"/>
            <a:ext cx="352425" cy="0"/>
          </a:xfrm>
          <a:prstGeom prst="line">
            <a:avLst/>
          </a:prstGeom>
          <a:noFill/>
          <a:ln w="19050">
            <a:solidFill>
              <a:srgbClr val="FF1A00"/>
            </a:solidFill>
            <a:prstDash val="solid"/>
            <a:tailEnd type="triangle" w="sm" len="sm"/>
          </a:ln>
        </p:spPr>
      </p:sp>
      <p:sp>
        <p:nvSpPr>
          <p:cNvPr id="10" name="rect 10"/>
          <p:cNvSpPr txBox="0"/>
          <p:nvPr/>
        </p:nvSpPr>
        <p:spPr>
          <a:xfrm>
            <a:off x="3400425" y="1762125"/>
            <a:ext cx="2438400" cy="695325"/>
          </a:xfrm>
          <a:prstGeom prst="rect">
            <a:avLst/>
          </a:prstGeom>
          <a:solidFill>
            <a:srgbClr val="171719"/>
          </a:solidFill>
          <a:ln w="14288">
            <a:solidFill>
              <a:srgbClr val="363638"/>
            </a:solidFill>
            <a:prstDash val="solid"/>
          </a:ln>
        </p:spPr>
      </p:sp>
      <p:sp>
        <p:nvSpPr>
          <p:cNvPr id="11" name="text 11"/>
          <p:cNvSpPr txBox="1"/>
          <p:nvPr/>
        </p:nvSpPr>
        <p:spPr>
          <a:xfrm>
            <a:off x="3524250" y="1914525"/>
            <a:ext cx="2190750" cy="5048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</a:pPr>
            <a:r>
              <a:rPr lang="pt-BR"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Mapeamento</a:t>
            </a:r>
            <a:endParaRPr lang="pt-BR" sz="1725"/>
          </a:p>
        </p:txBody>
      </p:sp>
      <p:sp>
        <p:nvSpPr>
          <p:cNvPr id="12" name="arrow 12"/>
          <p:cNvSpPr txBox="0"/>
          <p:nvPr/>
        </p:nvSpPr>
        <p:spPr>
          <a:xfrm>
            <a:off x="5838825" y="2105025"/>
            <a:ext cx="352425" cy="0"/>
          </a:xfrm>
          <a:prstGeom prst="line">
            <a:avLst/>
          </a:prstGeom>
          <a:noFill/>
          <a:ln w="19050">
            <a:solidFill>
              <a:srgbClr val="FF1A00"/>
            </a:solidFill>
            <a:prstDash val="solid"/>
            <a:tailEnd type="triangle" w="sm" len="sm"/>
          </a:ln>
        </p:spPr>
      </p:sp>
      <p:sp>
        <p:nvSpPr>
          <p:cNvPr id="13" name="rect 13"/>
          <p:cNvSpPr txBox="0"/>
          <p:nvPr/>
        </p:nvSpPr>
        <p:spPr>
          <a:xfrm>
            <a:off x="6191250" y="1762125"/>
            <a:ext cx="2438400" cy="695325"/>
          </a:xfrm>
          <a:prstGeom prst="rect">
            <a:avLst/>
          </a:prstGeom>
          <a:solidFill>
            <a:srgbClr val="171719"/>
          </a:solidFill>
          <a:ln w="14288">
            <a:solidFill>
              <a:srgbClr val="363638"/>
            </a:solidFill>
            <a:prstDash val="solid"/>
          </a:ln>
        </p:spPr>
      </p:sp>
      <p:sp>
        <p:nvSpPr>
          <p:cNvPr id="14" name="text 14"/>
          <p:cNvSpPr txBox="1"/>
          <p:nvPr/>
        </p:nvSpPr>
        <p:spPr>
          <a:xfrm>
            <a:off x="6315075" y="1914525"/>
            <a:ext cx="2190750" cy="5048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</a:pPr>
            <a:r>
              <a:rPr lang="pt-BR"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Envio original</a:t>
            </a:r>
            <a:endParaRPr lang="pt-BR" sz="1725"/>
          </a:p>
        </p:txBody>
      </p:sp>
      <p:sp>
        <p:nvSpPr>
          <p:cNvPr id="15" name="arrow 15"/>
          <p:cNvSpPr txBox="0"/>
          <p:nvPr/>
        </p:nvSpPr>
        <p:spPr>
          <a:xfrm>
            <a:off x="8629650" y="2105025"/>
            <a:ext cx="352425" cy="0"/>
          </a:xfrm>
          <a:prstGeom prst="line">
            <a:avLst/>
          </a:prstGeom>
          <a:noFill/>
          <a:ln w="19050">
            <a:solidFill>
              <a:srgbClr val="FF1A00"/>
            </a:solidFill>
            <a:prstDash val="solid"/>
            <a:tailEnd type="triangle" w="sm" len="sm"/>
          </a:ln>
        </p:spPr>
      </p:sp>
      <p:sp>
        <p:nvSpPr>
          <p:cNvPr id="16" name="rect 16"/>
          <p:cNvSpPr txBox="0"/>
          <p:nvPr/>
        </p:nvSpPr>
        <p:spPr>
          <a:xfrm>
            <a:off x="8982075" y="1762125"/>
            <a:ext cx="2438400" cy="695325"/>
          </a:xfrm>
          <a:prstGeom prst="rect">
            <a:avLst/>
          </a:prstGeom>
          <a:solidFill>
            <a:srgbClr val="360800"/>
          </a:solidFill>
          <a:ln w="14288">
            <a:solidFill>
              <a:srgbClr val="FF1A00"/>
            </a:solidFill>
            <a:prstDash val="solid"/>
          </a:ln>
        </p:spPr>
      </p:sp>
      <p:sp>
        <p:nvSpPr>
          <p:cNvPr id="17" name="text 17"/>
          <p:cNvSpPr txBox="1"/>
          <p:nvPr/>
        </p:nvSpPr>
        <p:spPr>
          <a:xfrm>
            <a:off x="9105900" y="1914525"/>
            <a:ext cx="2190750" cy="5048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</a:pPr>
            <a:r>
              <a:rPr lang="pt-BR"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Protocolo</a:t>
            </a:r>
            <a:endParaRPr lang="pt-BR" sz="1725"/>
          </a:p>
        </p:txBody>
      </p:sp>
      <p:sp>
        <p:nvSpPr>
          <p:cNvPr id="18" name="text 18"/>
          <p:cNvSpPr txBox="1"/>
          <p:nvPr/>
        </p:nvSpPr>
        <p:spPr>
          <a:xfrm>
            <a:off x="609600" y="2895600"/>
            <a:ext cx="10858500" cy="8763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26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O servidor valida o arquivo completo e informa</a:t>
            </a:r>
            <a:endParaRPr lang="pt-BR" sz="2625"/>
          </a:p>
          <a:p>
            <a:pPr algn="l">
              <a:lnSpc>
                <a:spcPct val="118000"/>
              </a:lnSpc>
            </a:pPr>
            <a:r>
              <a:rPr lang="pt-BR" sz="26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inseridos, duplicados e rejeitados.</a:t>
            </a:r>
            <a:endParaRPr lang="pt-BR" sz="2625"/>
          </a:p>
        </p:txBody>
      </p:sp>
      <p:sp>
        <p:nvSpPr>
          <p:cNvPr id="19" name="text 19"/>
          <p:cNvSpPr txBox="1"/>
          <p:nvPr/>
        </p:nvSpPr>
        <p:spPr>
          <a:xfrm>
            <a:off x="609600" y="4219575"/>
            <a:ext cx="2000250" cy="8001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5175" b="1">
                <a:solidFill>
                  <a:srgbClr val="FF1A00"/>
                </a:solidFill>
                <a:latin typeface="Arial"/>
                <a:ea typeface="Arial"/>
                <a:cs typeface="Arial"/>
              </a:rPr>
              <a:t xml:space="preserve">92</a:t>
            </a:r>
            <a:endParaRPr lang="pt-BR" sz="5175"/>
          </a:p>
        </p:txBody>
      </p:sp>
      <p:sp>
        <p:nvSpPr>
          <p:cNvPr id="20" name="text 20"/>
          <p:cNvSpPr txBox="1"/>
          <p:nvPr/>
        </p:nvSpPr>
        <p:spPr>
          <a:xfrm>
            <a:off x="609600" y="5057775"/>
            <a:ext cx="2667000" cy="4000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testes frontend</a:t>
            </a:r>
            <a:endParaRPr lang="pt-BR" sz="1875"/>
          </a:p>
        </p:txBody>
      </p:sp>
      <p:sp>
        <p:nvSpPr>
          <p:cNvPr id="21" name="text 21"/>
          <p:cNvSpPr txBox="1"/>
          <p:nvPr/>
        </p:nvSpPr>
        <p:spPr>
          <a:xfrm>
            <a:off x="4457700" y="4219575"/>
            <a:ext cx="2476500" cy="8001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5175" b="1">
                <a:solidFill>
                  <a:srgbClr val="FF1A00"/>
                </a:solidFill>
                <a:latin typeface="Arial"/>
                <a:ea typeface="Arial"/>
                <a:cs typeface="Arial"/>
              </a:rPr>
              <a:t xml:space="preserve">125</a:t>
            </a:r>
            <a:endParaRPr lang="pt-BR" sz="5175"/>
          </a:p>
        </p:txBody>
      </p:sp>
      <p:sp>
        <p:nvSpPr>
          <p:cNvPr id="22" name="text 22"/>
          <p:cNvSpPr txBox="1"/>
          <p:nvPr/>
        </p:nvSpPr>
        <p:spPr>
          <a:xfrm>
            <a:off x="4457700" y="5057775"/>
            <a:ext cx="3762375" cy="4000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testes worker com Postgres</a:t>
            </a:r>
            <a:endParaRPr lang="pt-BR" sz="1875"/>
          </a:p>
        </p:txBody>
      </p:sp>
      <p:sp>
        <p:nvSpPr>
          <p:cNvPr id="23" name="text 23"/>
          <p:cNvSpPr txBox="1"/>
          <p:nvPr/>
        </p:nvSpPr>
        <p:spPr>
          <a:xfrm>
            <a:off x="8524875" y="4219575"/>
            <a:ext cx="3048000" cy="7524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4425" b="1">
                <a:solidFill>
                  <a:srgbClr val="FF1A00"/>
                </a:solidFill>
                <a:latin typeface="Arial"/>
                <a:ea typeface="Arial"/>
                <a:cs typeface="Arial"/>
              </a:rPr>
              <a:t xml:space="preserve">50 MiB</a:t>
            </a:r>
            <a:endParaRPr lang="pt-BR" sz="4425"/>
          </a:p>
        </p:txBody>
      </p:sp>
      <p:sp>
        <p:nvSpPr>
          <p:cNvPr id="24" name="text 24"/>
          <p:cNvSpPr txBox="1"/>
          <p:nvPr/>
        </p:nvSpPr>
        <p:spPr>
          <a:xfrm>
            <a:off x="8524875" y="5057775"/>
            <a:ext cx="2952750" cy="4000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limite por arquivo</a:t>
            </a:r>
            <a:endParaRPr lang="pt-BR" sz="1875"/>
          </a:p>
        </p:txBody>
      </p:sp>
      <p:sp>
        <p:nvSpPr>
          <p:cNvPr id="25" name="text 25"/>
          <p:cNvSpPr txBox="1"/>
          <p:nvPr/>
        </p:nvSpPr>
        <p:spPr>
          <a:xfrm>
            <a:off x="609600" y="5781675"/>
            <a:ext cx="10972800" cy="4286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1425" b="0">
                <a:solidFill>
                  <a:srgbClr val="B9B9BE"/>
                </a:solidFill>
                <a:latin typeface="Arial"/>
                <a:ea typeface="Arial"/>
                <a:cs typeface="Arial"/>
              </a:rPr>
              <a:t xml:space="preserve">Evidências locais de 05/10. A imagem final e os novos Deployments ainda precisam de execução.</a:t>
            </a:r>
            <a:endParaRPr lang="pt-BR" sz="1425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 name="Implantação híbrida na AWS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 txBox="0"/>
          <p:nvPr/>
        </p:nvSpPr>
        <p:spPr>
          <a:xfrm>
            <a:off x="609600" y="514350"/>
            <a:ext cx="66675" cy="361950"/>
          </a:xfrm>
          <a:prstGeom prst="rect">
            <a:avLst/>
          </a:prstGeom>
          <a:solidFill>
            <a:srgbClr val="FF1A00"/>
          </a:solidFill>
          <a:ln w="9525">
            <a:noFill/>
            <a:prstDash val="solid"/>
          </a:ln>
        </p:spPr>
      </p:sp>
      <p:sp>
        <p:nvSpPr>
          <p:cNvPr id="3" name="text 3"/>
          <p:cNvSpPr txBox="1"/>
          <p:nvPr/>
        </p:nvSpPr>
        <p:spPr>
          <a:xfrm>
            <a:off x="866775" y="438150"/>
            <a:ext cx="10525125" cy="9144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Implantação híbrida na AWS</a:t>
            </a:r>
            <a:endParaRPr lang="pt-BR" sz="3150"/>
          </a:p>
        </p:txBody>
      </p:sp>
      <p:sp>
        <p:nvSpPr>
          <p:cNvPr id="4" name="line 4"/>
          <p:cNvSpPr txBox="0"/>
          <p:nvPr/>
        </p:nvSpPr>
        <p:spPr>
          <a:xfrm>
            <a:off x="609600" y="6315075"/>
            <a:ext cx="10972800" cy="0"/>
          </a:xfrm>
          <a:prstGeom prst="line">
            <a:avLst/>
          </a:prstGeom>
          <a:noFill/>
          <a:ln w="9525">
            <a:solidFill>
              <a:srgbClr val="363638"/>
            </a:solidFill>
            <a:prstDash val="solid"/>
          </a:ln>
        </p:spPr>
      </p:sp>
      <p:sp>
        <p:nvSpPr>
          <p:cNvPr id="5" name="text 5"/>
          <p:cNvSpPr txBox="1"/>
          <p:nvPr/>
        </p:nvSpPr>
        <p:spPr>
          <a:xfrm>
            <a:off x="609600" y="6438900"/>
            <a:ext cx="3810000" cy="2095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1050" b="0">
                <a:solidFill>
                  <a:srgbClr val="B9B9BE"/>
                </a:solidFill>
                <a:latin typeface="Arial"/>
                <a:ea typeface="Arial"/>
                <a:cs typeface="Arial"/>
              </a:rPr>
              <a:t xml:space="preserve">ARGUS  /  G04</a:t>
            </a:r>
            <a:endParaRPr lang="pt-BR" sz="1050"/>
          </a:p>
        </p:txBody>
      </p:sp>
      <p:sp>
        <p:nvSpPr>
          <p:cNvPr id="6" name="text 6"/>
          <p:cNvSpPr txBox="1"/>
          <p:nvPr/>
        </p:nvSpPr>
        <p:spPr>
          <a:xfrm>
            <a:off x="11287125" y="6429375"/>
            <a:ext cx="295275" cy="2381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8000"/>
              </a:lnSpc>
            </a:pPr>
            <a:r>
              <a:rPr lang="pt-BR" sz="1200" b="0">
                <a:solidFill>
                  <a:srgbClr val="B9B9BE"/>
                </a:solidFill>
                <a:latin typeface="Arial"/>
                <a:ea typeface="Arial"/>
                <a:cs typeface="Arial"/>
              </a:rPr>
              <a:t xml:space="preserve">12</a:t>
            </a:r>
            <a:endParaRPr lang="pt-BR" sz="1200"/>
          </a:p>
        </p:txBody>
      </p:sp>
      <p:sp>
        <p:nvSpPr>
          <p:cNvPr id="7" name="text 7"/>
          <p:cNvSpPr txBox="1"/>
          <p:nvPr/>
        </p:nvSpPr>
        <p:spPr>
          <a:xfrm>
            <a:off x="609600" y="1762125"/>
            <a:ext cx="3238500" cy="6191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2475" b="1">
                <a:solidFill>
                  <a:srgbClr val="FF1A00"/>
                </a:solidFill>
                <a:latin typeface="Arial"/>
                <a:ea typeface="Arial"/>
                <a:cs typeface="Arial"/>
              </a:rPr>
              <a:t xml:space="preserve">EKS Auto Mode</a:t>
            </a:r>
            <a:endParaRPr lang="pt-BR" sz="2475"/>
          </a:p>
        </p:txBody>
      </p:sp>
      <p:sp>
        <p:nvSpPr>
          <p:cNvPr id="8" name="text 8"/>
          <p:cNvSpPr txBox="1"/>
          <p:nvPr/>
        </p:nvSpPr>
        <p:spPr>
          <a:xfrm>
            <a:off x="609600" y="2581275"/>
            <a:ext cx="3238500" cy="21907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API de leitura e frontend. Deployments, probes, HPA, PDB e Ingress com ALB.</a:t>
            </a:r>
            <a:endParaRPr lang="pt-BR" sz="1950"/>
          </a:p>
        </p:txBody>
      </p:sp>
      <p:sp>
        <p:nvSpPr>
          <p:cNvPr id="9" name="text 9"/>
          <p:cNvSpPr txBox="1"/>
          <p:nvPr/>
        </p:nvSpPr>
        <p:spPr>
          <a:xfrm>
            <a:off x="4476750" y="1762125"/>
            <a:ext cx="3238500" cy="6191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2475" b="1">
                <a:solidFill>
                  <a:srgbClr val="FF1A00"/>
                </a:solidFill>
                <a:latin typeface="Arial"/>
                <a:ea typeface="Arial"/>
                <a:cs typeface="Arial"/>
              </a:rPr>
              <a:t xml:space="preserve">ECS Fargate</a:t>
            </a:r>
            <a:endParaRPr lang="pt-BR" sz="2475"/>
          </a:p>
        </p:txBody>
      </p:sp>
      <p:sp>
        <p:nvSpPr>
          <p:cNvPr id="10" name="text 10"/>
          <p:cNvSpPr txBox="1"/>
          <p:nvPr/>
        </p:nvSpPr>
        <p:spPr>
          <a:xfrm>
            <a:off x="4476750" y="2581275"/>
            <a:ext cx="3238500" cy="21907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Ingestão e processamento assíncronos. IAM por task para acesso a filas e armazenamento.</a:t>
            </a:r>
            <a:endParaRPr lang="pt-BR" sz="1950"/>
          </a:p>
        </p:txBody>
      </p:sp>
      <p:sp>
        <p:nvSpPr>
          <p:cNvPr id="11" name="text 11"/>
          <p:cNvSpPr txBox="1"/>
          <p:nvPr/>
        </p:nvSpPr>
        <p:spPr>
          <a:xfrm>
            <a:off x="8343900" y="1762125"/>
            <a:ext cx="3238500" cy="6191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2475" b="1">
                <a:solidFill>
                  <a:srgbClr val="FF1A00"/>
                </a:solidFill>
                <a:latin typeface="Arial"/>
                <a:ea typeface="Arial"/>
                <a:cs typeface="Arial"/>
              </a:rPr>
              <a:t xml:space="preserve">PostgreSQL 16</a:t>
            </a:r>
            <a:endParaRPr lang="pt-BR" sz="2475"/>
          </a:p>
        </p:txBody>
      </p:sp>
      <p:sp>
        <p:nvSpPr>
          <p:cNvPr id="12" name="text 12"/>
          <p:cNvSpPr txBox="1"/>
          <p:nvPr/>
        </p:nvSpPr>
        <p:spPr>
          <a:xfrm>
            <a:off x="8343900" y="2581275"/>
            <a:ext cx="3238500" cy="21907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Camadas compartilhadas. Views com controle temporal e usuário de leitura restrito.</a:t>
            </a:r>
            <a:endParaRPr lang="pt-BR" sz="1950"/>
          </a:p>
        </p:txBody>
      </p:sp>
      <p:sp>
        <p:nvSpPr>
          <p:cNvPr id="13" name="text 13"/>
          <p:cNvSpPr txBox="1"/>
          <p:nvPr/>
        </p:nvSpPr>
        <p:spPr>
          <a:xfrm>
            <a:off x="609600" y="5781675"/>
            <a:ext cx="10972800" cy="4286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1425" b="0">
                <a:solidFill>
                  <a:srgbClr val="B9B9BE"/>
                </a:solidFill>
                <a:latin typeface="Arial"/>
                <a:ea typeface="Arial"/>
                <a:cs typeface="Arial"/>
              </a:rPr>
              <a:t xml:space="preserve">Terraform + Kustomize + Job de migrations. Single-AZ, NAT único e distribuição dos pods limitam a disponibilidade.</a:t>
            </a:r>
            <a:endParaRPr lang="pt-BR" sz="1425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 name="Condições de teste e alcance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 txBox="0"/>
          <p:nvPr/>
        </p:nvSpPr>
        <p:spPr>
          <a:xfrm>
            <a:off x="609600" y="514350"/>
            <a:ext cx="66675" cy="361950"/>
          </a:xfrm>
          <a:prstGeom prst="rect">
            <a:avLst/>
          </a:prstGeom>
          <a:solidFill>
            <a:srgbClr val="FF1A00"/>
          </a:solidFill>
          <a:ln w="9525">
            <a:noFill/>
            <a:prstDash val="solid"/>
          </a:ln>
        </p:spPr>
      </p:sp>
      <p:sp>
        <p:nvSpPr>
          <p:cNvPr id="3" name="text 3"/>
          <p:cNvSpPr txBox="1"/>
          <p:nvPr/>
        </p:nvSpPr>
        <p:spPr>
          <a:xfrm>
            <a:off x="866775" y="438150"/>
            <a:ext cx="10525125" cy="9144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Condições de teste e alcance</a:t>
            </a:r>
            <a:endParaRPr lang="pt-BR" sz="3150"/>
          </a:p>
        </p:txBody>
      </p:sp>
      <p:sp>
        <p:nvSpPr>
          <p:cNvPr id="4" name="line 4"/>
          <p:cNvSpPr txBox="0"/>
          <p:nvPr/>
        </p:nvSpPr>
        <p:spPr>
          <a:xfrm>
            <a:off x="609600" y="6315075"/>
            <a:ext cx="10972800" cy="0"/>
          </a:xfrm>
          <a:prstGeom prst="line">
            <a:avLst/>
          </a:prstGeom>
          <a:noFill/>
          <a:ln w="9525">
            <a:solidFill>
              <a:srgbClr val="363638"/>
            </a:solidFill>
            <a:prstDash val="solid"/>
          </a:ln>
        </p:spPr>
      </p:sp>
      <p:sp>
        <p:nvSpPr>
          <p:cNvPr id="5" name="text 5"/>
          <p:cNvSpPr txBox="1"/>
          <p:nvPr/>
        </p:nvSpPr>
        <p:spPr>
          <a:xfrm>
            <a:off x="609600" y="6438900"/>
            <a:ext cx="3810000" cy="2095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1050" b="0">
                <a:solidFill>
                  <a:srgbClr val="B9B9BE"/>
                </a:solidFill>
                <a:latin typeface="Arial"/>
                <a:ea typeface="Arial"/>
                <a:cs typeface="Arial"/>
              </a:rPr>
              <a:t xml:space="preserve">ARGUS  /  G04</a:t>
            </a:r>
            <a:endParaRPr lang="pt-BR" sz="1050"/>
          </a:p>
        </p:txBody>
      </p:sp>
      <p:sp>
        <p:nvSpPr>
          <p:cNvPr id="6" name="text 6"/>
          <p:cNvSpPr txBox="1"/>
          <p:nvPr/>
        </p:nvSpPr>
        <p:spPr>
          <a:xfrm>
            <a:off x="11287125" y="6429375"/>
            <a:ext cx="295275" cy="2381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8000"/>
              </a:lnSpc>
            </a:pPr>
            <a:r>
              <a:rPr lang="pt-BR" sz="1200" b="0">
                <a:solidFill>
                  <a:srgbClr val="B9B9BE"/>
                </a:solidFill>
                <a:latin typeface="Arial"/>
                <a:ea typeface="Arial"/>
                <a:cs typeface="Arial"/>
              </a:rPr>
              <a:t xml:space="preserve">13</a:t>
            </a:r>
            <a:endParaRPr lang="pt-BR" sz="1200"/>
          </a:p>
        </p:txBody>
      </p:sp>
      <p:graphicFrame>
        <p:nvGraphicFramePr>
          <p:cNvPr id="7" name="Tabela 7"/>
          <p:cNvGraphicFramePr/>
          <p:nvPr/>
        </p:nvGraphicFramePr>
        <p:xfrm>
          <a:off x="609600" y="1609725"/>
          <a:ext cx="10972800" cy="3905250"/>
        </p:xfrm>
        <a:graphic>
          <a:graphicData uri="http://schemas.openxmlformats.org/drawingml/2006/main/table">
            <a:tbl>
              <a:tblPr firstRow="1" bandRow="0">
                <a:tableStyleId>{5C22544A-7EE6-4342-B048-85BDC9FD1C3A}</a:tableStyleId>
              </a:tblPr>
              <a:tblGrid>
                <a:gridCol w="2304288"/>
                <a:gridCol w="4937760"/>
                <a:gridCol w="3730752"/>
              </a:tblGrid>
              <a:tr h="781050"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Ensaio</a:t>
                      </a:r>
                      <a:endParaRPr lang="pt-BR" sz="18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2A0905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Ambiente e carga</a:t>
                      </a:r>
                      <a:endParaRPr lang="pt-BR" sz="18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2A0905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O que comprova</a:t>
                      </a:r>
                      <a:endParaRPr lang="pt-BR" sz="18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2A0905"/>
                    </a:solidFill>
                  </a:tcPr>
                </a:tc>
              </a:tr>
              <a:tr h="781050"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00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Ingestão</a:t>
                      </a:r>
                      <a:endParaRPr lang="pt-BR" sz="18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00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AWS, k6, 150 mil a 600 mil eventos</a:t>
                      </a:r>
                      <a:endParaRPr lang="pt-BR" sz="18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00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Aceite, drenagem, contagem</a:t>
                      </a:r>
                      <a:endParaRPr lang="pt-BR" sz="18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</a:tr>
              <a:tr h="781050"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00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Dashboard</a:t>
                      </a:r>
                      <a:endParaRPr lang="pt-BR" sz="18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00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EKS, 5 / 25 / 100 VUs, 6 min</a:t>
                      </a:r>
                      <a:endParaRPr lang="pt-BR" sz="18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00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Latência e limiares por tela</a:t>
                      </a:r>
                      <a:endParaRPr lang="pt-BR" sz="18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</a:tr>
              <a:tr h="781050"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00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Resiliência</a:t>
                      </a:r>
                      <a:endParaRPr lang="pt-BR" sz="18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00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kind, 1 nó, k6 com 5 VUs</a:t>
                      </a:r>
                      <a:endParaRPr lang="pt-BR" sz="18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00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Pods, probes e rollback</a:t>
                      </a:r>
                      <a:endParaRPr lang="pt-BR" sz="18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</a:tr>
              <a:tr h="781050"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00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Arquivos</a:t>
                      </a:r>
                      <a:endParaRPr lang="pt-BR" sz="18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00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Local, dados sintéticos e Postgres</a:t>
                      </a:r>
                      <a:endParaRPr lang="pt-BR" sz="18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00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Contrato, dedup e transação</a:t>
                      </a:r>
                      <a:endParaRPr lang="pt-BR" sz="18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</a:tr>
            </a:tbl>
          </a:graphicData>
        </a:graphic>
      </p:graphicFrame>
      <p:sp>
        <p:nvSpPr>
          <p:cNvPr id="8" name="text 8"/>
          <p:cNvSpPr txBox="1"/>
          <p:nvPr/>
        </p:nvSpPr>
        <p:spPr>
          <a:xfrm>
            <a:off x="609600" y="5781675"/>
            <a:ext cx="10972800" cy="4286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1425" b="0">
                <a:solidFill>
                  <a:srgbClr val="B9B9BE"/>
                </a:solidFill>
                <a:latin typeface="Arial"/>
                <a:ea typeface="Arial"/>
                <a:cs typeface="Arial"/>
              </a:rPr>
              <a:t xml:space="preserve">Dados de simulação e ensaios controlados. Nenhuma rodada demonstra MTTR menor em produção do parceiro.</a:t>
            </a:r>
            <a:endParaRPr lang="pt-BR" sz="1425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 name="Ingestão: quatro lotes em 5 min 46 s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 txBox="0"/>
          <p:nvPr/>
        </p:nvSpPr>
        <p:spPr>
          <a:xfrm>
            <a:off x="609600" y="514350"/>
            <a:ext cx="66675" cy="361950"/>
          </a:xfrm>
          <a:prstGeom prst="rect">
            <a:avLst/>
          </a:prstGeom>
          <a:solidFill>
            <a:srgbClr val="FF1A00"/>
          </a:solidFill>
          <a:ln w="9525">
            <a:noFill/>
            <a:prstDash val="solid"/>
          </a:ln>
        </p:spPr>
      </p:sp>
      <p:sp>
        <p:nvSpPr>
          <p:cNvPr id="3" name="text 3"/>
          <p:cNvSpPr txBox="1"/>
          <p:nvPr/>
        </p:nvSpPr>
        <p:spPr>
          <a:xfrm>
            <a:off x="866775" y="438150"/>
            <a:ext cx="10525125" cy="9144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Ingestão: quatro lotes em 5 min 46 s</a:t>
            </a:r>
            <a:endParaRPr lang="pt-BR" sz="3150"/>
          </a:p>
        </p:txBody>
      </p:sp>
      <p:sp>
        <p:nvSpPr>
          <p:cNvPr id="4" name="line 4"/>
          <p:cNvSpPr txBox="0"/>
          <p:nvPr/>
        </p:nvSpPr>
        <p:spPr>
          <a:xfrm>
            <a:off x="609600" y="6315075"/>
            <a:ext cx="10972800" cy="0"/>
          </a:xfrm>
          <a:prstGeom prst="line">
            <a:avLst/>
          </a:prstGeom>
          <a:noFill/>
          <a:ln w="9525">
            <a:solidFill>
              <a:srgbClr val="363638"/>
            </a:solidFill>
            <a:prstDash val="solid"/>
          </a:ln>
        </p:spPr>
      </p:sp>
      <p:sp>
        <p:nvSpPr>
          <p:cNvPr id="5" name="text 5"/>
          <p:cNvSpPr txBox="1"/>
          <p:nvPr/>
        </p:nvSpPr>
        <p:spPr>
          <a:xfrm>
            <a:off x="609600" y="6438900"/>
            <a:ext cx="3810000" cy="2095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1050" b="0">
                <a:solidFill>
                  <a:srgbClr val="B9B9BE"/>
                </a:solidFill>
                <a:latin typeface="Arial"/>
                <a:ea typeface="Arial"/>
                <a:cs typeface="Arial"/>
              </a:rPr>
              <a:t xml:space="preserve">ARGUS  /  G04</a:t>
            </a:r>
            <a:endParaRPr lang="pt-BR" sz="1050"/>
          </a:p>
        </p:txBody>
      </p:sp>
      <p:sp>
        <p:nvSpPr>
          <p:cNvPr id="6" name="text 6"/>
          <p:cNvSpPr txBox="1"/>
          <p:nvPr/>
        </p:nvSpPr>
        <p:spPr>
          <a:xfrm>
            <a:off x="11287125" y="6429375"/>
            <a:ext cx="295275" cy="2381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8000"/>
              </a:lnSpc>
            </a:pPr>
            <a:r>
              <a:rPr lang="pt-BR" sz="1200" b="0">
                <a:solidFill>
                  <a:srgbClr val="B9B9BE"/>
                </a:solidFill>
                <a:latin typeface="Arial"/>
                <a:ea typeface="Arial"/>
                <a:cs typeface="Arial"/>
              </a:rPr>
              <a:t xml:space="preserve">14</a:t>
            </a:r>
            <a:endParaRPr lang="pt-BR" sz="1200"/>
          </a:p>
        </p:txBody>
      </p:sp>
      <p:graphicFrame>
        <p:nvGraphicFramePr>
          <p:cNvPr id="7" name="Gráfico editável 7"/>
          <p:cNvGraphicFramePr/>
          <p:nvPr/>
        </p:nvGraphicFramePr>
        <p:xfrm>
          <a:off x="609600" y="1762125"/>
          <a:ext cx="7334250" cy="3476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Chart1"/>
          </a:graphicData>
        </a:graphic>
      </p:graphicFrame>
      <p:sp>
        <p:nvSpPr>
          <p:cNvPr id="8" name="text 8"/>
          <p:cNvSpPr txBox="1"/>
          <p:nvPr/>
        </p:nvSpPr>
        <p:spPr>
          <a:xfrm>
            <a:off x="8429625" y="1857375"/>
            <a:ext cx="3152775" cy="7048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3600" b="1">
                <a:solidFill>
                  <a:srgbClr val="FF1A00"/>
                </a:solidFill>
                <a:latin typeface="Arial"/>
                <a:ea typeface="Arial"/>
                <a:cs typeface="Arial"/>
              </a:rPr>
              <a:t xml:space="preserve">1,5 milhão</a:t>
            </a:r>
            <a:endParaRPr lang="pt-BR" sz="3600"/>
          </a:p>
        </p:txBody>
      </p:sp>
      <p:sp>
        <p:nvSpPr>
          <p:cNvPr id="9" name="text 9"/>
          <p:cNvSpPr txBox="1"/>
          <p:nvPr/>
        </p:nvSpPr>
        <p:spPr>
          <a:xfrm>
            <a:off x="8429625" y="2762250"/>
            <a:ext cx="3152775" cy="8096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eventos reconciliados</a:t>
            </a:r>
            <a:endParaRPr lang="pt-BR" sz="1950"/>
          </a:p>
          <a:p>
            <a:pPr algn="l">
              <a:lnSpc>
                <a:spcPct val="118000"/>
              </a:lnSpc>
            </a:pPr>
            <a:r>
              <a:rPr lang="pt-BR"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na rodada de 09/09</a:t>
            </a:r>
            <a:endParaRPr lang="pt-BR" sz="1950"/>
          </a:p>
        </p:txBody>
      </p:sp>
      <p:sp>
        <p:nvSpPr>
          <p:cNvPr id="10" name="text 10"/>
          <p:cNvSpPr txBox="1"/>
          <p:nvPr/>
        </p:nvSpPr>
        <p:spPr>
          <a:xfrm>
            <a:off x="8429625" y="3943350"/>
            <a:ext cx="3152775" cy="6667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104 s</a:t>
            </a:r>
            <a:endParaRPr lang="pt-BR" sz="4350"/>
          </a:p>
        </p:txBody>
      </p:sp>
      <p:sp>
        <p:nvSpPr>
          <p:cNvPr id="11" name="text 11"/>
          <p:cNvSpPr txBox="1"/>
          <p:nvPr/>
        </p:nvSpPr>
        <p:spPr>
          <a:xfrm>
            <a:off x="8429625" y="4772025"/>
            <a:ext cx="3152775" cy="7143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de margem no pior lote</a:t>
            </a:r>
            <a:endParaRPr lang="pt-BR" sz="1875"/>
          </a:p>
          <a:p>
            <a:pPr algn="l">
              <a:lnSpc>
                <a:spcPct val="118000"/>
              </a:lnSpc>
            </a:pPr>
            <a:r>
              <a:rPr lang="pt-BR"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para o limite de 450 s</a:t>
            </a:r>
            <a:endParaRPr lang="pt-BR" sz="1875"/>
          </a:p>
        </p:txBody>
      </p:sp>
      <p:sp>
        <p:nvSpPr>
          <p:cNvPr id="12" name="text 12"/>
          <p:cNvSpPr txBox="1"/>
          <p:nvPr/>
        </p:nvSpPr>
        <p:spPr>
          <a:xfrm>
            <a:off x="609600" y="5781675"/>
            <a:ext cx="10972800" cy="4286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1425" b="0">
                <a:solidFill>
                  <a:srgbClr val="B9B9BE"/>
                </a:solidFill>
                <a:latin typeface="Arial"/>
                <a:ea typeface="Arial"/>
                <a:cs typeface="Arial"/>
              </a:rPr>
              <a:t xml:space="preserve">Zero erro no aceite e DLQ zerada. A fila drenada ainda não garante frescor na consulta.</a:t>
            </a:r>
            <a:endParaRPr lang="pt-BR" sz="1425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 name="Dashboard: 100 usuários, p95 de 841 ms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 txBox="0"/>
          <p:nvPr/>
        </p:nvSpPr>
        <p:spPr>
          <a:xfrm>
            <a:off x="609600" y="514350"/>
            <a:ext cx="66675" cy="361950"/>
          </a:xfrm>
          <a:prstGeom prst="rect">
            <a:avLst/>
          </a:prstGeom>
          <a:solidFill>
            <a:srgbClr val="FF1A00"/>
          </a:solidFill>
          <a:ln w="9525">
            <a:noFill/>
            <a:prstDash val="solid"/>
          </a:ln>
        </p:spPr>
      </p:sp>
      <p:sp>
        <p:nvSpPr>
          <p:cNvPr id="3" name="text 3"/>
          <p:cNvSpPr txBox="1"/>
          <p:nvPr/>
        </p:nvSpPr>
        <p:spPr>
          <a:xfrm>
            <a:off x="866775" y="438150"/>
            <a:ext cx="10525125" cy="9144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Dashboard: 100 usuários, p95 de 841 ms</a:t>
            </a:r>
            <a:endParaRPr lang="pt-BR" sz="3150"/>
          </a:p>
        </p:txBody>
      </p:sp>
      <p:sp>
        <p:nvSpPr>
          <p:cNvPr id="4" name="line 4"/>
          <p:cNvSpPr txBox="0"/>
          <p:nvPr/>
        </p:nvSpPr>
        <p:spPr>
          <a:xfrm>
            <a:off x="609600" y="6315075"/>
            <a:ext cx="10972800" cy="0"/>
          </a:xfrm>
          <a:prstGeom prst="line">
            <a:avLst/>
          </a:prstGeom>
          <a:noFill/>
          <a:ln w="9525">
            <a:solidFill>
              <a:srgbClr val="363638"/>
            </a:solidFill>
            <a:prstDash val="solid"/>
          </a:ln>
        </p:spPr>
      </p:sp>
      <p:sp>
        <p:nvSpPr>
          <p:cNvPr id="5" name="text 5"/>
          <p:cNvSpPr txBox="1"/>
          <p:nvPr/>
        </p:nvSpPr>
        <p:spPr>
          <a:xfrm>
            <a:off x="609600" y="6438900"/>
            <a:ext cx="3810000" cy="2095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1050" b="0">
                <a:solidFill>
                  <a:srgbClr val="B9B9BE"/>
                </a:solidFill>
                <a:latin typeface="Arial"/>
                <a:ea typeface="Arial"/>
                <a:cs typeface="Arial"/>
              </a:rPr>
              <a:t xml:space="preserve">ARGUS  /  G04</a:t>
            </a:r>
            <a:endParaRPr lang="pt-BR" sz="1050"/>
          </a:p>
        </p:txBody>
      </p:sp>
      <p:sp>
        <p:nvSpPr>
          <p:cNvPr id="6" name="text 6"/>
          <p:cNvSpPr txBox="1"/>
          <p:nvPr/>
        </p:nvSpPr>
        <p:spPr>
          <a:xfrm>
            <a:off x="11287125" y="6429375"/>
            <a:ext cx="295275" cy="2381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8000"/>
              </a:lnSpc>
            </a:pPr>
            <a:r>
              <a:rPr lang="pt-BR" sz="1200" b="0">
                <a:solidFill>
                  <a:srgbClr val="B9B9BE"/>
                </a:solidFill>
                <a:latin typeface="Arial"/>
                <a:ea typeface="Arial"/>
                <a:cs typeface="Arial"/>
              </a:rPr>
              <a:t xml:space="preserve">15</a:t>
            </a:r>
            <a:endParaRPr lang="pt-BR" sz="1200"/>
          </a:p>
        </p:txBody>
      </p:sp>
      <p:graphicFrame>
        <p:nvGraphicFramePr>
          <p:cNvPr id="7" name="Gráfico editável 7"/>
          <p:cNvGraphicFramePr/>
          <p:nvPr/>
        </p:nvGraphicFramePr>
        <p:xfrm>
          <a:off x="609600" y="1762125"/>
          <a:ext cx="72390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Chart2"/>
          </a:graphicData>
        </a:graphic>
      </p:graphicFrame>
      <p:sp>
        <p:nvSpPr>
          <p:cNvPr id="8" name="text 8"/>
          <p:cNvSpPr txBox="1"/>
          <p:nvPr/>
        </p:nvSpPr>
        <p:spPr>
          <a:xfrm>
            <a:off x="8496300" y="1895475"/>
            <a:ext cx="3048000" cy="9239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6000" b="1">
                <a:solidFill>
                  <a:srgbClr val="FF1A00"/>
                </a:solidFill>
                <a:latin typeface="Arial"/>
                <a:ea typeface="Arial"/>
                <a:cs typeface="Arial"/>
              </a:rPr>
              <a:t xml:space="preserve">0%</a:t>
            </a:r>
            <a:endParaRPr lang="pt-BR" sz="6000"/>
          </a:p>
        </p:txBody>
      </p:sp>
      <p:sp>
        <p:nvSpPr>
          <p:cNvPr id="9" name="text 9"/>
          <p:cNvSpPr txBox="1"/>
          <p:nvPr/>
        </p:nvSpPr>
        <p:spPr>
          <a:xfrm>
            <a:off x="8496300" y="2943225"/>
            <a:ext cx="3048000" cy="6953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erros nos três níveis</a:t>
            </a:r>
            <a:endParaRPr lang="pt-BR" sz="2025"/>
          </a:p>
        </p:txBody>
      </p:sp>
      <p:sp>
        <p:nvSpPr>
          <p:cNvPr id="10" name="text 10"/>
          <p:cNvSpPr txBox="1"/>
          <p:nvPr/>
        </p:nvSpPr>
        <p:spPr>
          <a:xfrm>
            <a:off x="8496300" y="4057650"/>
            <a:ext cx="3048000" cy="6477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3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969 ms</a:t>
            </a:r>
            <a:endParaRPr lang="pt-BR" sz="3825"/>
          </a:p>
        </p:txBody>
      </p:sp>
      <p:sp>
        <p:nvSpPr>
          <p:cNvPr id="11" name="text 11"/>
          <p:cNvSpPr txBox="1"/>
          <p:nvPr/>
        </p:nvSpPr>
        <p:spPr>
          <a:xfrm>
            <a:off x="8496300" y="4857750"/>
            <a:ext cx="3048000" cy="6953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p95 da abertura de tela</a:t>
            </a:r>
            <a:endParaRPr lang="pt-BR" sz="1875"/>
          </a:p>
          <a:p>
            <a:pPr algn="l">
              <a:lnSpc>
                <a:spcPct val="118000"/>
              </a:lnSpc>
            </a:pPr>
            <a:r>
              <a:rPr lang="pt-BR"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no nível de 100 usuários</a:t>
            </a:r>
            <a:endParaRPr lang="pt-BR" sz="1875"/>
          </a:p>
        </p:txBody>
      </p:sp>
      <p:sp>
        <p:nvSpPr>
          <p:cNvPr id="12" name="text 12"/>
          <p:cNvSpPr txBox="1"/>
          <p:nvPr/>
        </p:nvSpPr>
        <p:spPr>
          <a:xfrm>
            <a:off x="609600" y="5781675"/>
            <a:ext cx="10972800" cy="4286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1425" b="0">
                <a:solidFill>
                  <a:srgbClr val="B9B9BE"/>
                </a:solidFill>
                <a:latin typeface="Arial"/>
                <a:ea typeface="Arial"/>
                <a:cs typeface="Arial"/>
              </a:rPr>
              <a:t xml:space="preserve">24/09, gerador fora da VPC. HPA com métrica válida, sem aumento de réplicas observado.</a:t>
            </a:r>
            <a:endParaRPr lang="pt-BR" sz="1425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 name="A saturação revelou o limite do ensaio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 txBox="0"/>
          <p:nvPr/>
        </p:nvSpPr>
        <p:spPr>
          <a:xfrm>
            <a:off x="609600" y="514350"/>
            <a:ext cx="66675" cy="361950"/>
          </a:xfrm>
          <a:prstGeom prst="rect">
            <a:avLst/>
          </a:prstGeom>
          <a:solidFill>
            <a:srgbClr val="FF1A00"/>
          </a:solidFill>
          <a:ln w="9525">
            <a:noFill/>
            <a:prstDash val="solid"/>
          </a:ln>
        </p:spPr>
      </p:sp>
      <p:sp>
        <p:nvSpPr>
          <p:cNvPr id="3" name="text 3"/>
          <p:cNvSpPr txBox="1"/>
          <p:nvPr/>
        </p:nvSpPr>
        <p:spPr>
          <a:xfrm>
            <a:off x="866775" y="438150"/>
            <a:ext cx="10525125" cy="9144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A saturação revelou o limite do ensaio</a:t>
            </a:r>
            <a:endParaRPr lang="pt-BR" sz="3150"/>
          </a:p>
        </p:txBody>
      </p:sp>
      <p:sp>
        <p:nvSpPr>
          <p:cNvPr id="4" name="line 4"/>
          <p:cNvSpPr txBox="0"/>
          <p:nvPr/>
        </p:nvSpPr>
        <p:spPr>
          <a:xfrm>
            <a:off x="609600" y="6315075"/>
            <a:ext cx="10972800" cy="0"/>
          </a:xfrm>
          <a:prstGeom prst="line">
            <a:avLst/>
          </a:prstGeom>
          <a:noFill/>
          <a:ln w="9525">
            <a:solidFill>
              <a:srgbClr val="363638"/>
            </a:solidFill>
            <a:prstDash val="solid"/>
          </a:ln>
        </p:spPr>
      </p:sp>
      <p:sp>
        <p:nvSpPr>
          <p:cNvPr id="5" name="text 5"/>
          <p:cNvSpPr txBox="1"/>
          <p:nvPr/>
        </p:nvSpPr>
        <p:spPr>
          <a:xfrm>
            <a:off x="609600" y="6438900"/>
            <a:ext cx="3810000" cy="2095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1050" b="0">
                <a:solidFill>
                  <a:srgbClr val="B9B9BE"/>
                </a:solidFill>
                <a:latin typeface="Arial"/>
                <a:ea typeface="Arial"/>
                <a:cs typeface="Arial"/>
              </a:rPr>
              <a:t xml:space="preserve">ARGUS  /  G04</a:t>
            </a:r>
            <a:endParaRPr lang="pt-BR" sz="1050"/>
          </a:p>
        </p:txBody>
      </p:sp>
      <p:sp>
        <p:nvSpPr>
          <p:cNvPr id="6" name="text 6"/>
          <p:cNvSpPr txBox="1"/>
          <p:nvPr/>
        </p:nvSpPr>
        <p:spPr>
          <a:xfrm>
            <a:off x="11287125" y="6429375"/>
            <a:ext cx="295275" cy="2381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8000"/>
              </a:lnSpc>
            </a:pPr>
            <a:r>
              <a:rPr lang="pt-BR" sz="1200" b="0">
                <a:solidFill>
                  <a:srgbClr val="B9B9BE"/>
                </a:solidFill>
                <a:latin typeface="Arial"/>
                <a:ea typeface="Arial"/>
                <a:cs typeface="Arial"/>
              </a:rPr>
              <a:t xml:space="preserve">16</a:t>
            </a:r>
            <a:endParaRPr lang="pt-BR" sz="1200"/>
          </a:p>
        </p:txBody>
      </p:sp>
      <p:graphicFrame>
        <p:nvGraphicFramePr>
          <p:cNvPr id="7" name="Tabela 7"/>
          <p:cNvGraphicFramePr/>
          <p:nvPr/>
        </p:nvGraphicFramePr>
        <p:xfrm>
          <a:off x="609600" y="1724025"/>
          <a:ext cx="10972800" cy="3276600"/>
        </p:xfrm>
        <a:graphic>
          <a:graphicData uri="http://schemas.openxmlformats.org/drawingml/2006/main/table">
            <a:tbl>
              <a:tblPr firstRow="1" bandRow="0">
                <a:tableStyleId>{5C22544A-7EE6-4342-B048-85BDC9FD1C3A}</a:tableStyleId>
              </a:tblPr>
              <a:tblGrid>
                <a:gridCol w="1975104"/>
                <a:gridCol w="3621024"/>
                <a:gridCol w="2194560"/>
                <a:gridCol w="3182112"/>
              </a:tblGrid>
              <a:tr h="819150"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Usuários</a:t>
                      </a:r>
                      <a:endParaRPr lang="pt-BR" sz="21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2A0905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p95 das requisições</a:t>
                      </a:r>
                      <a:endParaRPr lang="pt-BR" sz="21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2A0905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Erros</a:t>
                      </a:r>
                      <a:endParaRPr lang="pt-BR" sz="21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2A0905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Critérios por tela</a:t>
                      </a:r>
                      <a:endParaRPr lang="pt-BR" sz="21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2A0905"/>
                    </a:solidFill>
                  </a:tcPr>
                </a:tc>
              </a:tr>
              <a:tr h="819150"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2100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200</a:t>
                      </a:r>
                      <a:endParaRPr lang="pt-BR" sz="21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2100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2.766 ms</a:t>
                      </a:r>
                      <a:endParaRPr lang="pt-BR" sz="21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2100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0%</a:t>
                      </a:r>
                      <a:endParaRPr lang="pt-BR" sz="21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2100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Reprovado</a:t>
                      </a:r>
                      <a:endParaRPr lang="pt-BR" sz="21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</a:tr>
              <a:tr h="819150"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2100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450</a:t>
                      </a:r>
                      <a:endParaRPr lang="pt-BR" sz="21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2100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9.486 ms</a:t>
                      </a:r>
                      <a:endParaRPr lang="pt-BR" sz="21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2100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15,21%</a:t>
                      </a:r>
                      <a:endParaRPr lang="pt-BR" sz="21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2100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Reprovado</a:t>
                      </a:r>
                      <a:endParaRPr lang="pt-BR" sz="21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</a:tr>
              <a:tr h="819150"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2100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900</a:t>
                      </a:r>
                      <a:endParaRPr lang="pt-BR" sz="21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2100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30.001 ms</a:t>
                      </a:r>
                      <a:endParaRPr lang="pt-BR" sz="21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2100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24,80%</a:t>
                      </a:r>
                      <a:endParaRPr lang="pt-BR" sz="21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2100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Reprovado</a:t>
                      </a:r>
                      <a:endParaRPr lang="pt-BR" sz="21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</a:tr>
            </a:tbl>
          </a:graphicData>
        </a:graphic>
      </p:graphicFrame>
      <p:sp>
        <p:nvSpPr>
          <p:cNvPr id="8" name="text 8"/>
          <p:cNvSpPr txBox="1"/>
          <p:nvPr/>
        </p:nvSpPr>
        <p:spPr>
          <a:xfrm>
            <a:off x="609600" y="5181600"/>
            <a:ext cx="10839450" cy="4953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2250" b="1">
                <a:solidFill>
                  <a:srgbClr val="FF1A00"/>
                </a:solidFill>
                <a:latin typeface="Arial"/>
                <a:ea typeface="Arial"/>
                <a:cs typeface="Arial"/>
              </a:rPr>
              <a:t xml:space="preserve">Entre 100 e 200 usuários no ensaio com duas réplicas</a:t>
            </a:r>
            <a:endParaRPr lang="pt-BR" sz="2250"/>
          </a:p>
        </p:txBody>
      </p:sp>
      <p:sp>
        <p:nvSpPr>
          <p:cNvPr id="9" name="text 9"/>
          <p:cNvSpPr txBox="1"/>
          <p:nvPr/>
        </p:nvSpPr>
        <p:spPr>
          <a:xfrm>
            <a:off x="609600" y="5781675"/>
            <a:ext cx="10972800" cy="4286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1425" b="0">
                <a:solidFill>
                  <a:srgbClr val="B9B9BE"/>
                </a:solidFill>
                <a:latin typeface="Arial"/>
                <a:ea typeface="Arial"/>
                <a:cs typeface="Arial"/>
              </a:rPr>
              <a:t xml:space="preserve">21/09: HPA sem metrics-server. A rodada de 24/09 corrigiu as métricas, mas não repetiu a saturação.</a:t>
            </a:r>
            <a:endParaRPr lang="pt-BR" sz="1425"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 name="Resiliência: a segunda réplica fez diferença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 txBox="0"/>
          <p:nvPr/>
        </p:nvSpPr>
        <p:spPr>
          <a:xfrm>
            <a:off x="609600" y="514350"/>
            <a:ext cx="66675" cy="361950"/>
          </a:xfrm>
          <a:prstGeom prst="rect">
            <a:avLst/>
          </a:prstGeom>
          <a:solidFill>
            <a:srgbClr val="FF1A00"/>
          </a:solidFill>
          <a:ln w="9525">
            <a:noFill/>
            <a:prstDash val="solid"/>
          </a:ln>
        </p:spPr>
      </p:sp>
      <p:sp>
        <p:nvSpPr>
          <p:cNvPr id="3" name="text 3"/>
          <p:cNvSpPr txBox="1"/>
          <p:nvPr/>
        </p:nvSpPr>
        <p:spPr>
          <a:xfrm>
            <a:off x="866775" y="438150"/>
            <a:ext cx="10525125" cy="9144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Resiliência: a segunda réplica fez diferença</a:t>
            </a:r>
            <a:endParaRPr lang="pt-BR" sz="3150"/>
          </a:p>
        </p:txBody>
      </p:sp>
      <p:sp>
        <p:nvSpPr>
          <p:cNvPr id="4" name="line 4"/>
          <p:cNvSpPr txBox="0"/>
          <p:nvPr/>
        </p:nvSpPr>
        <p:spPr>
          <a:xfrm>
            <a:off x="609600" y="6315075"/>
            <a:ext cx="10972800" cy="0"/>
          </a:xfrm>
          <a:prstGeom prst="line">
            <a:avLst/>
          </a:prstGeom>
          <a:noFill/>
          <a:ln w="9525">
            <a:solidFill>
              <a:srgbClr val="363638"/>
            </a:solidFill>
            <a:prstDash val="solid"/>
          </a:ln>
        </p:spPr>
      </p:sp>
      <p:sp>
        <p:nvSpPr>
          <p:cNvPr id="5" name="text 5"/>
          <p:cNvSpPr txBox="1"/>
          <p:nvPr/>
        </p:nvSpPr>
        <p:spPr>
          <a:xfrm>
            <a:off x="609600" y="6438900"/>
            <a:ext cx="3810000" cy="2095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1050" b="0">
                <a:solidFill>
                  <a:srgbClr val="B9B9BE"/>
                </a:solidFill>
                <a:latin typeface="Arial"/>
                <a:ea typeface="Arial"/>
                <a:cs typeface="Arial"/>
              </a:rPr>
              <a:t xml:space="preserve">ARGUS  /  G04</a:t>
            </a:r>
            <a:endParaRPr lang="pt-BR" sz="1050"/>
          </a:p>
        </p:txBody>
      </p:sp>
      <p:sp>
        <p:nvSpPr>
          <p:cNvPr id="6" name="text 6"/>
          <p:cNvSpPr txBox="1"/>
          <p:nvPr/>
        </p:nvSpPr>
        <p:spPr>
          <a:xfrm>
            <a:off x="11287125" y="6429375"/>
            <a:ext cx="295275" cy="2381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8000"/>
              </a:lnSpc>
            </a:pPr>
            <a:r>
              <a:rPr lang="pt-BR" sz="1200" b="0">
                <a:solidFill>
                  <a:srgbClr val="B9B9BE"/>
                </a:solidFill>
                <a:latin typeface="Arial"/>
                <a:ea typeface="Arial"/>
                <a:cs typeface="Arial"/>
              </a:rPr>
              <a:t xml:space="preserve">17</a:t>
            </a:r>
            <a:endParaRPr lang="pt-BR" sz="1200"/>
          </a:p>
        </p:txBody>
      </p:sp>
      <p:graphicFrame>
        <p:nvGraphicFramePr>
          <p:cNvPr id="7" name="Tabela 7"/>
          <p:cNvGraphicFramePr/>
          <p:nvPr/>
        </p:nvGraphicFramePr>
        <p:xfrm>
          <a:off x="609600" y="1685925"/>
          <a:ext cx="10972800" cy="3762375"/>
        </p:xfrm>
        <a:graphic>
          <a:graphicData uri="http://schemas.openxmlformats.org/drawingml/2006/main/table">
            <a:tbl>
              <a:tblPr firstRow="1" bandRow="0">
                <a:tableStyleId>{5C22544A-7EE6-4342-B048-85BDC9FD1C3A}</a:tableStyleId>
              </a:tblPr>
              <a:tblGrid>
                <a:gridCol w="2962656"/>
                <a:gridCol w="4608576"/>
                <a:gridCol w="3401568"/>
              </a:tblGrid>
              <a:tr h="752475"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Falha controlada</a:t>
                      </a:r>
                      <a:endParaRPr lang="pt-BR" sz="18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2A0905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Resultado observado</a:t>
                      </a:r>
                      <a:endParaRPr lang="pt-BR" sz="18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2A0905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Leitura</a:t>
                      </a:r>
                      <a:endParaRPr lang="pt-BR" sz="18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2A0905"/>
                    </a:solidFill>
                  </a:tcPr>
                </a:tc>
              </a:tr>
              <a:tr h="752475"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00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Excluir pod, 1 réplica</a:t>
                      </a:r>
                      <a:endParaRPr lang="pt-BR" sz="18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00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8,3 s até Ready, 14,3% de falhas</a:t>
                      </a:r>
                      <a:endParaRPr lang="pt-BR" sz="18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00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Sem capacidade reserva</a:t>
                      </a:r>
                      <a:endParaRPr lang="pt-BR" sz="18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</a:tr>
              <a:tr h="752475"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00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Excluir pod, 2 réplicas</a:t>
                      </a:r>
                      <a:endParaRPr lang="pt-BR" sz="18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00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6,2 s até Ready, zero falhas</a:t>
                      </a:r>
                      <a:endParaRPr lang="pt-BR" sz="18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00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Outra réplica atende</a:t>
                      </a:r>
                      <a:endParaRPr lang="pt-BR" sz="18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</a:tr>
              <a:tr h="752475"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00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Imagem inexistente</a:t>
                      </a:r>
                      <a:endParaRPr lang="pt-BR" sz="18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00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Pods antigos atendem, undo em 3 s</a:t>
                      </a:r>
                      <a:endParaRPr lang="pt-BR" sz="18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00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Rollback manual</a:t>
                      </a:r>
                      <a:endParaRPr lang="pt-BR" sz="18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</a:tr>
              <a:tr h="752475"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00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Banco indisponível</a:t>
                      </a:r>
                      <a:endParaRPr lang="pt-BR" sz="18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00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Readiness retira pod, zero reinício</a:t>
                      </a:r>
                      <a:endParaRPr lang="pt-BR" sz="18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00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Dependência isolada</a:t>
                      </a:r>
                      <a:endParaRPr lang="pt-BR" sz="18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</a:tr>
            </a:tbl>
          </a:graphicData>
        </a:graphic>
      </p:graphicFrame>
      <p:sp>
        <p:nvSpPr>
          <p:cNvPr id="8" name="text 8"/>
          <p:cNvSpPr txBox="1"/>
          <p:nvPr/>
        </p:nvSpPr>
        <p:spPr>
          <a:xfrm>
            <a:off x="609600" y="5781675"/>
            <a:ext cx="10972800" cy="4286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1425" b="0">
                <a:solidFill>
                  <a:srgbClr val="B9B9BE"/>
                </a:solidFill>
                <a:latin typeface="Arial"/>
                <a:ea typeface="Arial"/>
                <a:cs typeface="Arial"/>
              </a:rPr>
              <a:t xml:space="preserve">kind local, um nó, 24/09. Recuperação de nós, zonas e RDS na AWS ainda precisa de ensaio.</a:t>
            </a:r>
            <a:endParaRPr lang="pt-BR" sz="1425"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 name="Gargalos que ainda limitam a solução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 txBox="0"/>
          <p:nvPr/>
        </p:nvSpPr>
        <p:spPr>
          <a:xfrm>
            <a:off x="609600" y="514350"/>
            <a:ext cx="66675" cy="361950"/>
          </a:xfrm>
          <a:prstGeom prst="rect">
            <a:avLst/>
          </a:prstGeom>
          <a:solidFill>
            <a:srgbClr val="FF1A00"/>
          </a:solidFill>
          <a:ln w="9525">
            <a:noFill/>
            <a:prstDash val="solid"/>
          </a:ln>
        </p:spPr>
      </p:sp>
      <p:sp>
        <p:nvSpPr>
          <p:cNvPr id="3" name="text 3"/>
          <p:cNvSpPr txBox="1"/>
          <p:nvPr/>
        </p:nvSpPr>
        <p:spPr>
          <a:xfrm>
            <a:off x="866775" y="438150"/>
            <a:ext cx="10525125" cy="9144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Gargalos que ainda limitam a solução</a:t>
            </a:r>
            <a:endParaRPr lang="pt-BR" sz="3150"/>
          </a:p>
        </p:txBody>
      </p:sp>
      <p:sp>
        <p:nvSpPr>
          <p:cNvPr id="4" name="line 4"/>
          <p:cNvSpPr txBox="0"/>
          <p:nvPr/>
        </p:nvSpPr>
        <p:spPr>
          <a:xfrm>
            <a:off x="609600" y="6315075"/>
            <a:ext cx="10972800" cy="0"/>
          </a:xfrm>
          <a:prstGeom prst="line">
            <a:avLst/>
          </a:prstGeom>
          <a:noFill/>
          <a:ln w="9525">
            <a:solidFill>
              <a:srgbClr val="363638"/>
            </a:solidFill>
            <a:prstDash val="solid"/>
          </a:ln>
        </p:spPr>
      </p:sp>
      <p:sp>
        <p:nvSpPr>
          <p:cNvPr id="5" name="text 5"/>
          <p:cNvSpPr txBox="1"/>
          <p:nvPr/>
        </p:nvSpPr>
        <p:spPr>
          <a:xfrm>
            <a:off x="609600" y="6438900"/>
            <a:ext cx="3810000" cy="2095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1050" b="0">
                <a:solidFill>
                  <a:srgbClr val="B9B9BE"/>
                </a:solidFill>
                <a:latin typeface="Arial"/>
                <a:ea typeface="Arial"/>
                <a:cs typeface="Arial"/>
              </a:rPr>
              <a:t xml:space="preserve">ARGUS  /  G04</a:t>
            </a:r>
            <a:endParaRPr lang="pt-BR" sz="1050"/>
          </a:p>
        </p:txBody>
      </p:sp>
      <p:sp>
        <p:nvSpPr>
          <p:cNvPr id="6" name="text 6"/>
          <p:cNvSpPr txBox="1"/>
          <p:nvPr/>
        </p:nvSpPr>
        <p:spPr>
          <a:xfrm>
            <a:off x="11287125" y="6429375"/>
            <a:ext cx="295275" cy="2381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8000"/>
              </a:lnSpc>
            </a:pPr>
            <a:r>
              <a:rPr lang="pt-BR" sz="1200" b="0">
                <a:solidFill>
                  <a:srgbClr val="B9B9BE"/>
                </a:solidFill>
                <a:latin typeface="Arial"/>
                <a:ea typeface="Arial"/>
                <a:cs typeface="Arial"/>
              </a:rPr>
              <a:t xml:space="preserve">18</a:t>
            </a:r>
            <a:endParaRPr lang="pt-BR" sz="1200"/>
          </a:p>
        </p:txBody>
      </p:sp>
      <p:sp>
        <p:nvSpPr>
          <p:cNvPr id="7" name="text 7"/>
          <p:cNvSpPr txBox="1"/>
          <p:nvPr/>
        </p:nvSpPr>
        <p:spPr>
          <a:xfrm>
            <a:off x="609600" y="1647825"/>
            <a:ext cx="6191250" cy="8953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5400" b="1">
                <a:solidFill>
                  <a:srgbClr val="FF1A00"/>
                </a:solidFill>
                <a:latin typeface="Arial"/>
                <a:ea typeface="Arial"/>
                <a:cs typeface="Arial"/>
              </a:rPr>
              <a:t xml:space="preserve">38 min 32 s</a:t>
            </a:r>
            <a:endParaRPr lang="pt-BR" sz="5400"/>
          </a:p>
        </p:txBody>
      </p:sp>
      <p:sp>
        <p:nvSpPr>
          <p:cNvPr id="8" name="text 8"/>
          <p:cNvSpPr txBox="1"/>
          <p:nvPr/>
        </p:nvSpPr>
        <p:spPr>
          <a:xfrm>
            <a:off x="609600" y="2743200"/>
            <a:ext cx="7315200" cy="8477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até o último evento aparecer na API</a:t>
            </a:r>
            <a:endParaRPr lang="pt-BR" sz="2175"/>
          </a:p>
          <a:p>
            <a:pPr algn="l">
              <a:lnSpc>
                <a:spcPct val="118000"/>
              </a:lnSpc>
            </a:pPr>
            <a:r>
              <a:rPr lang="pt-BR"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Amostra única de um lote de 150 mil</a:t>
            </a:r>
            <a:endParaRPr lang="pt-BR" sz="2175"/>
          </a:p>
        </p:txBody>
      </p:sp>
      <p:sp>
        <p:nvSpPr>
          <p:cNvPr id="9" name="line 9"/>
          <p:cNvSpPr txBox="0"/>
          <p:nvPr/>
        </p:nvSpPr>
        <p:spPr>
          <a:xfrm>
            <a:off x="609600" y="3952875"/>
            <a:ext cx="10972800" cy="0"/>
          </a:xfrm>
          <a:prstGeom prst="line">
            <a:avLst/>
          </a:prstGeom>
          <a:noFill/>
          <a:ln w="9525">
            <a:solidFill>
              <a:srgbClr val="363638"/>
            </a:solidFill>
            <a:prstDash val="solid"/>
          </a:ln>
        </p:spPr>
      </p:sp>
      <p:sp>
        <p:nvSpPr>
          <p:cNvPr id="10" name="text 10"/>
          <p:cNvSpPr txBox="1"/>
          <p:nvPr/>
        </p:nvSpPr>
        <p:spPr>
          <a:xfrm>
            <a:off x="609600" y="4229100"/>
            <a:ext cx="3238500" cy="4286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2100" b="1">
                <a:solidFill>
                  <a:srgbClr val="FF1A00"/>
                </a:solidFill>
                <a:latin typeface="Arial"/>
                <a:ea typeface="Arial"/>
                <a:cs typeface="Arial"/>
              </a:rPr>
              <a:t xml:space="preserve">Frescor</a:t>
            </a:r>
            <a:endParaRPr lang="pt-BR" sz="2100"/>
          </a:p>
        </p:txBody>
      </p:sp>
      <p:sp>
        <p:nvSpPr>
          <p:cNvPr id="11" name="text 11"/>
          <p:cNvSpPr txBox="1"/>
          <p:nvPr/>
        </p:nvSpPr>
        <p:spPr>
          <a:xfrm>
            <a:off x="609600" y="5048250"/>
            <a:ext cx="3238500" cy="10763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Separar o bootstrap histórico do watermark incremental e medir o p95 completo.</a:t>
            </a:r>
            <a:endParaRPr lang="pt-BR" sz="1725"/>
          </a:p>
        </p:txBody>
      </p:sp>
      <p:sp>
        <p:nvSpPr>
          <p:cNvPr id="12" name="text 12"/>
          <p:cNvSpPr txBox="1"/>
          <p:nvPr/>
        </p:nvSpPr>
        <p:spPr>
          <a:xfrm>
            <a:off x="4476750" y="4229100"/>
            <a:ext cx="3238500" cy="4286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2100" b="1">
                <a:solidFill>
                  <a:srgbClr val="FF1A00"/>
                </a:solidFill>
                <a:latin typeface="Arial"/>
                <a:ea typeface="Arial"/>
                <a:cs typeface="Arial"/>
              </a:rPr>
              <a:t xml:space="preserve">Capacidade</a:t>
            </a:r>
            <a:endParaRPr lang="pt-BR" sz="2100"/>
          </a:p>
        </p:txBody>
      </p:sp>
      <p:sp>
        <p:nvSpPr>
          <p:cNvPr id="13" name="text 13"/>
          <p:cNvSpPr txBox="1"/>
          <p:nvPr/>
        </p:nvSpPr>
        <p:spPr>
          <a:xfrm>
            <a:off x="4476750" y="5048250"/>
            <a:ext cx="3238500" cy="10763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Repetir a saturação com HPA ativo e observar aumento real de réplicas.</a:t>
            </a:r>
            <a:endParaRPr lang="pt-BR" sz="1725"/>
          </a:p>
        </p:txBody>
      </p:sp>
      <p:sp>
        <p:nvSpPr>
          <p:cNvPr id="14" name="text 14"/>
          <p:cNvSpPr txBox="1"/>
          <p:nvPr/>
        </p:nvSpPr>
        <p:spPr>
          <a:xfrm>
            <a:off x="8343900" y="4229100"/>
            <a:ext cx="3238500" cy="4286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2100" b="1">
                <a:solidFill>
                  <a:srgbClr val="FF1A00"/>
                </a:solidFill>
                <a:latin typeface="Arial"/>
                <a:ea typeface="Arial"/>
                <a:cs typeface="Arial"/>
              </a:rPr>
              <a:t xml:space="preserve">Disponibilidade</a:t>
            </a:r>
            <a:endParaRPr lang="pt-BR" sz="2100"/>
          </a:p>
        </p:txBody>
      </p:sp>
      <p:sp>
        <p:nvSpPr>
          <p:cNvPr id="15" name="text 15"/>
          <p:cNvSpPr txBox="1"/>
          <p:nvPr/>
        </p:nvSpPr>
        <p:spPr>
          <a:xfrm>
            <a:off x="8343900" y="5048250"/>
            <a:ext cx="3238500" cy="10763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Distribuir pods e nós. Ensaiar RDS, perda de nó e recuperação na AWS.</a:t>
            </a:r>
            <a:endParaRPr lang="pt-BR" sz="1725"/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 name="Custo: US$ 106 não cobre o desenho atual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 txBox="0"/>
          <p:nvPr/>
        </p:nvSpPr>
        <p:spPr>
          <a:xfrm>
            <a:off x="609600" y="514350"/>
            <a:ext cx="66675" cy="361950"/>
          </a:xfrm>
          <a:prstGeom prst="rect">
            <a:avLst/>
          </a:prstGeom>
          <a:solidFill>
            <a:srgbClr val="FF1A00"/>
          </a:solidFill>
          <a:ln w="9525">
            <a:noFill/>
            <a:prstDash val="solid"/>
          </a:ln>
        </p:spPr>
      </p:sp>
      <p:sp>
        <p:nvSpPr>
          <p:cNvPr id="3" name="text 3"/>
          <p:cNvSpPr txBox="1"/>
          <p:nvPr/>
        </p:nvSpPr>
        <p:spPr>
          <a:xfrm>
            <a:off x="866775" y="438150"/>
            <a:ext cx="10525125" cy="9144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Custo: US$ 106 não cobre o desenho atual</a:t>
            </a:r>
            <a:endParaRPr lang="pt-BR" sz="3150"/>
          </a:p>
        </p:txBody>
      </p:sp>
      <p:sp>
        <p:nvSpPr>
          <p:cNvPr id="4" name="line 4"/>
          <p:cNvSpPr txBox="0"/>
          <p:nvPr/>
        </p:nvSpPr>
        <p:spPr>
          <a:xfrm>
            <a:off x="609600" y="6315075"/>
            <a:ext cx="10972800" cy="0"/>
          </a:xfrm>
          <a:prstGeom prst="line">
            <a:avLst/>
          </a:prstGeom>
          <a:noFill/>
          <a:ln w="9525">
            <a:solidFill>
              <a:srgbClr val="363638"/>
            </a:solidFill>
            <a:prstDash val="solid"/>
          </a:ln>
        </p:spPr>
      </p:sp>
      <p:sp>
        <p:nvSpPr>
          <p:cNvPr id="5" name="text 5"/>
          <p:cNvSpPr txBox="1"/>
          <p:nvPr/>
        </p:nvSpPr>
        <p:spPr>
          <a:xfrm>
            <a:off x="609600" y="6438900"/>
            <a:ext cx="3810000" cy="2095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1050" b="0">
                <a:solidFill>
                  <a:srgbClr val="B9B9BE"/>
                </a:solidFill>
                <a:latin typeface="Arial"/>
                <a:ea typeface="Arial"/>
                <a:cs typeface="Arial"/>
              </a:rPr>
              <a:t xml:space="preserve">ARGUS  /  G04</a:t>
            </a:r>
            <a:endParaRPr lang="pt-BR" sz="1050"/>
          </a:p>
        </p:txBody>
      </p:sp>
      <p:sp>
        <p:nvSpPr>
          <p:cNvPr id="6" name="text 6"/>
          <p:cNvSpPr txBox="1"/>
          <p:nvPr/>
        </p:nvSpPr>
        <p:spPr>
          <a:xfrm>
            <a:off x="11287125" y="6429375"/>
            <a:ext cx="295275" cy="2381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8000"/>
              </a:lnSpc>
            </a:pPr>
            <a:r>
              <a:rPr lang="pt-BR" sz="1200" b="0">
                <a:solidFill>
                  <a:srgbClr val="B9B9BE"/>
                </a:solidFill>
                <a:latin typeface="Arial"/>
                <a:ea typeface="Arial"/>
                <a:cs typeface="Arial"/>
              </a:rPr>
              <a:t xml:space="preserve">19</a:t>
            </a:r>
            <a:endParaRPr lang="pt-BR" sz="1200"/>
          </a:p>
        </p:txBody>
      </p:sp>
      <p:graphicFrame>
        <p:nvGraphicFramePr>
          <p:cNvPr id="7" name="Tabela 7"/>
          <p:cNvGraphicFramePr/>
          <p:nvPr/>
        </p:nvGraphicFramePr>
        <p:xfrm>
          <a:off x="609600" y="1590675"/>
          <a:ext cx="10972800" cy="4171950"/>
        </p:xfrm>
        <a:graphic>
          <a:graphicData uri="http://schemas.openxmlformats.org/drawingml/2006/main/table">
            <a:tbl>
              <a:tblPr firstRow="1" bandRow="0">
                <a:tableStyleId>{5C22544A-7EE6-4342-B048-85BDC9FD1C3A}</a:tableStyleId>
              </a:tblPr>
              <a:tblGrid>
                <a:gridCol w="3401568"/>
                <a:gridCol w="5266944"/>
                <a:gridCol w="2304288"/>
              </a:tblGrid>
              <a:tr h="695325"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Componente</a:t>
                      </a:r>
                      <a:endParaRPr lang="pt-BR" sz="18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2A0905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Premissa mensal</a:t>
                      </a:r>
                      <a:endParaRPr lang="pt-BR" sz="18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2A0905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US$ / mês</a:t>
                      </a:r>
                      <a:endParaRPr lang="pt-BR" sz="18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2A0905"/>
                    </a:solidFill>
                  </a:tcPr>
                </a:tc>
              </a:tr>
              <a:tr h="695325"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00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RDS + 100 GB</a:t>
                      </a:r>
                      <a:endParaRPr lang="pt-BR" sz="18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00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Estimativa histórica do repositório</a:t>
                      </a:r>
                      <a:endParaRPr lang="pt-BR" sz="18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00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62,00</a:t>
                      </a:r>
                      <a:endParaRPr lang="pt-BR" sz="18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</a:tr>
              <a:tr h="695325"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00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Fargate ARM</a:t>
                      </a:r>
                      <a:endParaRPr lang="pt-BR" sz="18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00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1,5 vCPU + 3 GB, 730 h</a:t>
                      </a:r>
                      <a:endParaRPr lang="pt-BR" sz="18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00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43,25</a:t>
                      </a:r>
                      <a:endParaRPr lang="pt-BR" sz="18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</a:tr>
              <a:tr h="695325"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00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EKS, plano de controle</a:t>
                      </a:r>
                      <a:endParaRPr lang="pt-BR" sz="18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00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Suporte padrão, US$ 0,10/h</a:t>
                      </a:r>
                      <a:endParaRPr lang="pt-BR" sz="18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00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73,00</a:t>
                      </a:r>
                      <a:endParaRPr lang="pt-BR" sz="18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</a:tr>
              <a:tr h="695325"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00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NAT + ALB + IPv4</a:t>
                      </a:r>
                      <a:endParaRPr lang="pt-BR" sz="18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00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Horas e 3 IPv4, sem uso variável</a:t>
                      </a:r>
                      <a:endParaRPr lang="pt-BR" sz="18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00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60,23</a:t>
                      </a:r>
                      <a:endParaRPr lang="pt-BR" sz="18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</a:tr>
              <a:tr h="695325"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00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Subtotal parcial</a:t>
                      </a:r>
                      <a:endParaRPr lang="pt-BR" sz="18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00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Nós EKS e tráfego ainda por somar</a:t>
                      </a:r>
                      <a:endParaRPr lang="pt-BR" sz="18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00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238,48</a:t>
                      </a:r>
                      <a:endParaRPr lang="pt-BR" sz="18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</a:tr>
            </a:tbl>
          </a:graphicData>
        </a:graphic>
      </p:graphicFrame>
      <p:sp>
        <p:nvSpPr>
          <p:cNvPr id="8" name="text 8"/>
          <p:cNvSpPr txBox="1"/>
          <p:nvPr/>
        </p:nvSpPr>
        <p:spPr>
          <a:xfrm>
            <a:off x="609600" y="5781675"/>
            <a:ext cx="10972800" cy="4286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1425" b="0">
                <a:solidFill>
                  <a:srgbClr val="B9B9BE"/>
                </a:solidFill>
                <a:latin typeface="Arial"/>
                <a:ea typeface="Arial"/>
                <a:cs typeface="Arial"/>
              </a:rPr>
              <a:t xml:space="preserve">Estimativa para 730 h em us-east-1. Inclui uma premissa histórica de RDS e exclui créditos e impostos.</a:t>
            </a:r>
            <a:endParaRPr lang="pt-BR" sz="1425"/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 name="Orçamento ampliado e sensibilidade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 txBox="0"/>
          <p:nvPr/>
        </p:nvSpPr>
        <p:spPr>
          <a:xfrm>
            <a:off x="609600" y="514350"/>
            <a:ext cx="66675" cy="361950"/>
          </a:xfrm>
          <a:prstGeom prst="rect">
            <a:avLst/>
          </a:prstGeom>
          <a:solidFill>
            <a:srgbClr val="FF1A00"/>
          </a:solidFill>
          <a:ln w="9525">
            <a:noFill/>
            <a:prstDash val="solid"/>
          </a:ln>
        </p:spPr>
      </p:sp>
      <p:sp>
        <p:nvSpPr>
          <p:cNvPr id="3" name="text 3"/>
          <p:cNvSpPr txBox="1"/>
          <p:nvPr/>
        </p:nvSpPr>
        <p:spPr>
          <a:xfrm>
            <a:off x="866775" y="438150"/>
            <a:ext cx="10525125" cy="9144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Orçamento ampliado e sensibilidade</a:t>
            </a:r>
            <a:endParaRPr lang="pt-BR" sz="3150"/>
          </a:p>
        </p:txBody>
      </p:sp>
      <p:sp>
        <p:nvSpPr>
          <p:cNvPr id="4" name="line 4"/>
          <p:cNvSpPr txBox="0"/>
          <p:nvPr/>
        </p:nvSpPr>
        <p:spPr>
          <a:xfrm>
            <a:off x="609600" y="6315075"/>
            <a:ext cx="10972800" cy="0"/>
          </a:xfrm>
          <a:prstGeom prst="line">
            <a:avLst/>
          </a:prstGeom>
          <a:noFill/>
          <a:ln w="9525">
            <a:solidFill>
              <a:srgbClr val="363638"/>
            </a:solidFill>
            <a:prstDash val="solid"/>
          </a:ln>
        </p:spPr>
      </p:sp>
      <p:sp>
        <p:nvSpPr>
          <p:cNvPr id="5" name="text 5"/>
          <p:cNvSpPr txBox="1"/>
          <p:nvPr/>
        </p:nvSpPr>
        <p:spPr>
          <a:xfrm>
            <a:off x="609600" y="6438900"/>
            <a:ext cx="3810000" cy="2095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1050" b="0">
                <a:solidFill>
                  <a:srgbClr val="B9B9BE"/>
                </a:solidFill>
                <a:latin typeface="Arial"/>
                <a:ea typeface="Arial"/>
                <a:cs typeface="Arial"/>
              </a:rPr>
              <a:t xml:space="preserve">ARGUS  /  G04</a:t>
            </a:r>
            <a:endParaRPr lang="pt-BR" sz="1050"/>
          </a:p>
        </p:txBody>
      </p:sp>
      <p:sp>
        <p:nvSpPr>
          <p:cNvPr id="6" name="text 6"/>
          <p:cNvSpPr txBox="1"/>
          <p:nvPr/>
        </p:nvSpPr>
        <p:spPr>
          <a:xfrm>
            <a:off x="11287125" y="6429375"/>
            <a:ext cx="295275" cy="2381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8000"/>
              </a:lnSpc>
            </a:pPr>
            <a:r>
              <a:rPr lang="pt-BR" sz="1200" b="0">
                <a:solidFill>
                  <a:srgbClr val="B9B9BE"/>
                </a:solidFill>
                <a:latin typeface="Arial"/>
                <a:ea typeface="Arial"/>
                <a:cs typeface="Arial"/>
              </a:rPr>
              <a:t xml:space="preserve">20</a:t>
            </a:r>
            <a:endParaRPr lang="pt-BR" sz="1200"/>
          </a:p>
        </p:txBody>
      </p:sp>
      <p:graphicFrame>
        <p:nvGraphicFramePr>
          <p:cNvPr id="7" name="Tabela 7"/>
          <p:cNvGraphicFramePr/>
          <p:nvPr/>
        </p:nvGraphicFramePr>
        <p:xfrm>
          <a:off x="609600" y="1571625"/>
          <a:ext cx="10972800" cy="4171950"/>
        </p:xfrm>
        <a:graphic>
          <a:graphicData uri="http://schemas.openxmlformats.org/drawingml/2006/main/table">
            <a:tbl>
              <a:tblPr firstRow="1" bandRow="0">
                <a:tableStyleId>{5C22544A-7EE6-4342-B048-85BDC9FD1C3A}</a:tableStyleId>
              </a:tblPr>
              <a:tblGrid>
                <a:gridCol w="5705856"/>
                <a:gridCol w="2633472"/>
                <a:gridCol w="2633472"/>
              </a:tblGrid>
              <a:tr h="695325"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Item</a:t>
                      </a:r>
                      <a:endParaRPr lang="pt-BR" sz="18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2A0905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Base, 2 nós</a:t>
                      </a:r>
                      <a:endParaRPr lang="pt-BR" sz="18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2A0905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Ampliado, 4 nós</a:t>
                      </a:r>
                      <a:endParaRPr lang="pt-BR" sz="18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2A0905"/>
                    </a:solidFill>
                  </a:tcPr>
                </a:tc>
              </a:tr>
              <a:tr h="695325"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00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Subtotal parcial</a:t>
                      </a:r>
                      <a:endParaRPr lang="pt-BR" sz="18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00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238,48</a:t>
                      </a:r>
                      <a:endParaRPr lang="pt-BR" sz="18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00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238,48</a:t>
                      </a:r>
                      <a:endParaRPr lang="pt-BR" sz="18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</a:tr>
              <a:tr h="695325"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00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Nós EKS + Auto Mode, premissa</a:t>
                      </a:r>
                      <a:endParaRPr lang="pt-BR" sz="18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00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73,00</a:t>
                      </a:r>
                      <a:endParaRPr lang="pt-BR" sz="18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00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146,00</a:t>
                      </a:r>
                      <a:endParaRPr lang="pt-BR" sz="18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</a:tr>
              <a:tr h="695325"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00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Reserva de serviços auxiliares</a:t>
                      </a:r>
                      <a:endParaRPr lang="pt-BR" sz="18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00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30,00</a:t>
                      </a:r>
                      <a:endParaRPr lang="pt-BR" sz="18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00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60,00</a:t>
                      </a:r>
                      <a:endParaRPr lang="pt-BR" sz="18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</a:tr>
              <a:tr h="695325"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00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Reserva de uso variável</a:t>
                      </a:r>
                      <a:endParaRPr lang="pt-BR" sz="18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00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10,00</a:t>
                      </a:r>
                      <a:endParaRPr lang="pt-BR" sz="18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00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50,00</a:t>
                      </a:r>
                      <a:endParaRPr lang="pt-BR" sz="18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</a:tr>
              <a:tr h="695325"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00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Orçamento mensal, US$</a:t>
                      </a:r>
                      <a:endParaRPr lang="pt-BR" sz="18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00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351,48</a:t>
                      </a:r>
                      <a:endParaRPr lang="pt-BR" sz="18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00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494,48</a:t>
                      </a:r>
                      <a:endParaRPr lang="pt-BR" sz="1800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</a:tr>
            </a:tbl>
          </a:graphicData>
        </a:graphic>
      </p:graphicFrame>
      <p:sp>
        <p:nvSpPr>
          <p:cNvPr id="8" name="text 8"/>
          <p:cNvSpPr txBox="1"/>
          <p:nvPr/>
        </p:nvSpPr>
        <p:spPr>
          <a:xfrm>
            <a:off x="609600" y="5781675"/>
            <a:ext cx="10972800" cy="4286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1425" b="0">
                <a:solidFill>
                  <a:srgbClr val="B9B9BE"/>
                </a:solidFill>
                <a:latin typeface="Arial"/>
                <a:ea typeface="Arial"/>
                <a:cs typeface="Arial"/>
              </a:rPr>
              <a:t xml:space="preserve">Nós: provisão de US$ 0,05 por nó-hora, ainda a cotar. Segundo NAT + IPv4: +US$ 36,50/mês, antes do tráfego.</a:t>
            </a:r>
            <a:endParaRPr lang="pt-BR" sz="1425"/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 name="Custo por evento e valor operacional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 txBox="0"/>
          <p:nvPr/>
        </p:nvSpPr>
        <p:spPr>
          <a:xfrm>
            <a:off x="609600" y="514350"/>
            <a:ext cx="66675" cy="361950"/>
          </a:xfrm>
          <a:prstGeom prst="rect">
            <a:avLst/>
          </a:prstGeom>
          <a:solidFill>
            <a:srgbClr val="FF1A00"/>
          </a:solidFill>
          <a:ln w="9525">
            <a:noFill/>
            <a:prstDash val="solid"/>
          </a:ln>
        </p:spPr>
      </p:sp>
      <p:sp>
        <p:nvSpPr>
          <p:cNvPr id="3" name="text 3"/>
          <p:cNvSpPr txBox="1"/>
          <p:nvPr/>
        </p:nvSpPr>
        <p:spPr>
          <a:xfrm>
            <a:off x="866775" y="438150"/>
            <a:ext cx="10525125" cy="9144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Custo por evento e valor operacional</a:t>
            </a:r>
            <a:endParaRPr lang="pt-BR" sz="3150"/>
          </a:p>
        </p:txBody>
      </p:sp>
      <p:sp>
        <p:nvSpPr>
          <p:cNvPr id="4" name="line 4"/>
          <p:cNvSpPr txBox="0"/>
          <p:nvPr/>
        </p:nvSpPr>
        <p:spPr>
          <a:xfrm>
            <a:off x="609600" y="6315075"/>
            <a:ext cx="10972800" cy="0"/>
          </a:xfrm>
          <a:prstGeom prst="line">
            <a:avLst/>
          </a:prstGeom>
          <a:noFill/>
          <a:ln w="9525">
            <a:solidFill>
              <a:srgbClr val="363638"/>
            </a:solidFill>
            <a:prstDash val="solid"/>
          </a:ln>
        </p:spPr>
      </p:sp>
      <p:sp>
        <p:nvSpPr>
          <p:cNvPr id="5" name="text 5"/>
          <p:cNvSpPr txBox="1"/>
          <p:nvPr/>
        </p:nvSpPr>
        <p:spPr>
          <a:xfrm>
            <a:off x="609600" y="6438900"/>
            <a:ext cx="3810000" cy="2095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1050" b="0">
                <a:solidFill>
                  <a:srgbClr val="B9B9BE"/>
                </a:solidFill>
                <a:latin typeface="Arial"/>
                <a:ea typeface="Arial"/>
                <a:cs typeface="Arial"/>
              </a:rPr>
              <a:t xml:space="preserve">ARGUS  /  G04</a:t>
            </a:r>
            <a:endParaRPr lang="pt-BR" sz="1050"/>
          </a:p>
        </p:txBody>
      </p:sp>
      <p:sp>
        <p:nvSpPr>
          <p:cNvPr id="6" name="text 6"/>
          <p:cNvSpPr txBox="1"/>
          <p:nvPr/>
        </p:nvSpPr>
        <p:spPr>
          <a:xfrm>
            <a:off x="11287125" y="6429375"/>
            <a:ext cx="295275" cy="2381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8000"/>
              </a:lnSpc>
            </a:pPr>
            <a:r>
              <a:rPr lang="pt-BR" sz="1200" b="0">
                <a:solidFill>
                  <a:srgbClr val="B9B9BE"/>
                </a:solidFill>
                <a:latin typeface="Arial"/>
                <a:ea typeface="Arial"/>
                <a:cs typeface="Arial"/>
              </a:rPr>
              <a:t xml:space="preserve">21</a:t>
            </a:r>
            <a:endParaRPr lang="pt-BR" sz="1200"/>
          </a:p>
        </p:txBody>
      </p:sp>
      <p:sp>
        <p:nvSpPr>
          <p:cNvPr id="7" name="text 7"/>
          <p:cNvSpPr txBox="1"/>
          <p:nvPr/>
        </p:nvSpPr>
        <p:spPr>
          <a:xfrm>
            <a:off x="609600" y="1657350"/>
            <a:ext cx="6096000" cy="762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4575" b="1">
                <a:solidFill>
                  <a:srgbClr val="FF1A00"/>
                </a:solidFill>
                <a:latin typeface="Arial"/>
                <a:ea typeface="Arial"/>
                <a:cs typeface="Arial"/>
              </a:rPr>
              <a:t xml:space="preserve">US$ 351,48</a:t>
            </a:r>
            <a:endParaRPr lang="pt-BR" sz="4575"/>
          </a:p>
        </p:txBody>
      </p:sp>
      <p:sp>
        <p:nvSpPr>
          <p:cNvPr id="8" name="text 8"/>
          <p:cNvSpPr txBox="1"/>
          <p:nvPr/>
        </p:nvSpPr>
        <p:spPr>
          <a:xfrm>
            <a:off x="609600" y="2571750"/>
            <a:ext cx="7258050" cy="8572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por milhão, se o mês tiver 1 milhão</a:t>
            </a:r>
            <a:endParaRPr lang="pt-BR" sz="2175"/>
          </a:p>
          <a:p>
            <a:pPr algn="l">
              <a:lnSpc>
                <a:spcPct val="118000"/>
              </a:lnSpc>
            </a:pPr>
            <a:r>
              <a:rPr lang="pt-BR"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de eventos válidos persistidos</a:t>
            </a:r>
            <a:endParaRPr lang="pt-BR" sz="2175"/>
          </a:p>
        </p:txBody>
      </p:sp>
      <p:sp>
        <p:nvSpPr>
          <p:cNvPr id="9" name="text 9"/>
          <p:cNvSpPr txBox="1"/>
          <p:nvPr/>
        </p:nvSpPr>
        <p:spPr>
          <a:xfrm>
            <a:off x="8448675" y="1657350"/>
            <a:ext cx="3095625" cy="762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3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US$ 35,15</a:t>
            </a:r>
            <a:endParaRPr lang="pt-BR" sz="3825"/>
          </a:p>
        </p:txBody>
      </p:sp>
      <p:sp>
        <p:nvSpPr>
          <p:cNvPr id="10" name="text 10"/>
          <p:cNvSpPr txBox="1"/>
          <p:nvPr/>
        </p:nvSpPr>
        <p:spPr>
          <a:xfrm>
            <a:off x="8448675" y="2628900"/>
            <a:ext cx="3095625" cy="10953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por milhão com 10 milhões</a:t>
            </a:r>
            <a:endParaRPr lang="pt-BR" sz="2025"/>
          </a:p>
          <a:p>
            <a:pPr algn="l">
              <a:lnSpc>
                <a:spcPct val="118000"/>
              </a:lnSpc>
            </a:pPr>
            <a:r>
              <a:rPr lang="pt-BR"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e o mesmo orçamento</a:t>
            </a:r>
            <a:endParaRPr lang="pt-BR" sz="2025"/>
          </a:p>
        </p:txBody>
      </p:sp>
      <p:sp>
        <p:nvSpPr>
          <p:cNvPr id="11" name="line 11"/>
          <p:cNvSpPr txBox="0"/>
          <p:nvPr/>
        </p:nvSpPr>
        <p:spPr>
          <a:xfrm>
            <a:off x="609600" y="4029075"/>
            <a:ext cx="10972800" cy="0"/>
          </a:xfrm>
          <a:prstGeom prst="line">
            <a:avLst/>
          </a:prstGeom>
          <a:noFill/>
          <a:ln w="9525">
            <a:solidFill>
              <a:srgbClr val="363638"/>
            </a:solidFill>
            <a:prstDash val="solid"/>
          </a:ln>
        </p:spPr>
      </p:sp>
      <p:sp>
        <p:nvSpPr>
          <p:cNvPr id="12" name="text 12"/>
          <p:cNvSpPr txBox="1"/>
          <p:nvPr/>
        </p:nvSpPr>
        <p:spPr>
          <a:xfrm>
            <a:off x="609600" y="4324350"/>
            <a:ext cx="2714625" cy="4286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2250" b="1">
                <a:solidFill>
                  <a:srgbClr val="FF1A00"/>
                </a:solidFill>
                <a:latin typeface="Arial"/>
                <a:ea typeface="Arial"/>
                <a:cs typeface="Arial"/>
              </a:rPr>
              <a:t xml:space="preserve">Retenção</a:t>
            </a:r>
            <a:endParaRPr lang="pt-BR" sz="2250"/>
          </a:p>
        </p:txBody>
      </p:sp>
      <p:sp>
        <p:nvSpPr>
          <p:cNvPr id="13" name="text 13"/>
          <p:cNvSpPr txBox="1"/>
          <p:nvPr/>
        </p:nvSpPr>
        <p:spPr>
          <a:xfrm>
            <a:off x="609600" y="4905375"/>
            <a:ext cx="7334250" cy="8382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10 milhões × 1 kB = 10 GB/mês</a:t>
            </a:r>
            <a:endParaRPr lang="pt-BR" sz="1950"/>
          </a:p>
          <a:p>
            <a:pPr algn="l">
              <a:lnSpc>
                <a:spcPct val="118000"/>
              </a:lnSpc>
            </a:pPr>
            <a:r>
              <a:rPr lang="pt-BR"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90 dias = 30 GB, antes de índices e WAL</a:t>
            </a:r>
            <a:endParaRPr lang="pt-BR" sz="1950"/>
          </a:p>
        </p:txBody>
      </p:sp>
      <p:sp>
        <p:nvSpPr>
          <p:cNvPr id="14" name="text 14"/>
          <p:cNvSpPr txBox="1"/>
          <p:nvPr/>
        </p:nvSpPr>
        <p:spPr>
          <a:xfrm>
            <a:off x="8448675" y="4305300"/>
            <a:ext cx="3143250" cy="5715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33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302 h/ano</a:t>
            </a:r>
            <a:endParaRPr lang="pt-BR" sz="3375"/>
          </a:p>
        </p:txBody>
      </p:sp>
      <p:sp>
        <p:nvSpPr>
          <p:cNvPr id="15" name="text 15"/>
          <p:cNvSpPr txBox="1"/>
          <p:nvPr/>
        </p:nvSpPr>
        <p:spPr>
          <a:xfrm>
            <a:off x="8448675" y="4933950"/>
            <a:ext cx="3086100" cy="8001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potencial de economia de plantão</a:t>
            </a:r>
            <a:endParaRPr lang="pt-BR" sz="1725"/>
          </a:p>
          <a:p>
            <a:pPr algn="l">
              <a:lnSpc>
                <a:spcPct val="118000"/>
              </a:lnSpc>
            </a:pPr>
            <a:r>
              <a:rPr lang="pt-BR"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Hipótese: redução de 35%</a:t>
            </a:r>
            <a:endParaRPr lang="pt-BR" sz="1725"/>
          </a:p>
        </p:txBody>
      </p:sp>
      <p:sp>
        <p:nvSpPr>
          <p:cNvPr id="16" name="text 16"/>
          <p:cNvSpPr txBox="1"/>
          <p:nvPr/>
        </p:nvSpPr>
        <p:spPr>
          <a:xfrm>
            <a:off x="609600" y="5781675"/>
            <a:ext cx="10972800" cy="4286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1425" b="0">
                <a:solidFill>
                  <a:srgbClr val="B9B9BE"/>
                </a:solidFill>
                <a:latin typeface="Arial"/>
                <a:ea typeface="Arial"/>
                <a:cs typeface="Arial"/>
              </a:rPr>
              <a:t xml:space="preserve">Capacidade para 10 milhões/mês e economia de plantão são hipóteses. LLM, pessoal e impostos ficam fora do orçamento cloud.</a:t>
            </a:r>
            <a:endParaRPr lang="pt-BR" sz="1425"/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 name="TCO: a viabilidade depende da adoção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 txBox="0"/>
          <p:nvPr/>
        </p:nvSpPr>
        <p:spPr>
          <a:xfrm>
            <a:off x="609600" y="514350"/>
            <a:ext cx="66675" cy="361950"/>
          </a:xfrm>
          <a:prstGeom prst="rect">
            <a:avLst/>
          </a:prstGeom>
          <a:solidFill>
            <a:srgbClr val="FF1A00"/>
          </a:solidFill>
          <a:ln w="9525">
            <a:noFill/>
            <a:prstDash val="solid"/>
          </a:ln>
        </p:spPr>
      </p:sp>
      <p:sp>
        <p:nvSpPr>
          <p:cNvPr id="3" name="text 3"/>
          <p:cNvSpPr txBox="1"/>
          <p:nvPr/>
        </p:nvSpPr>
        <p:spPr>
          <a:xfrm>
            <a:off x="866775" y="438150"/>
            <a:ext cx="10525125" cy="9144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TCO: a viabilidade depende da adoção</a:t>
            </a:r>
            <a:endParaRPr lang="pt-BR" sz="3150"/>
          </a:p>
        </p:txBody>
      </p:sp>
      <p:sp>
        <p:nvSpPr>
          <p:cNvPr id="4" name="line 4"/>
          <p:cNvSpPr txBox="0"/>
          <p:nvPr/>
        </p:nvSpPr>
        <p:spPr>
          <a:xfrm>
            <a:off x="609600" y="6315075"/>
            <a:ext cx="10972800" cy="0"/>
          </a:xfrm>
          <a:prstGeom prst="line">
            <a:avLst/>
          </a:prstGeom>
          <a:noFill/>
          <a:ln w="9525">
            <a:solidFill>
              <a:srgbClr val="363638"/>
            </a:solidFill>
            <a:prstDash val="solid"/>
          </a:ln>
        </p:spPr>
      </p:sp>
      <p:sp>
        <p:nvSpPr>
          <p:cNvPr id="5" name="text 5"/>
          <p:cNvSpPr txBox="1"/>
          <p:nvPr/>
        </p:nvSpPr>
        <p:spPr>
          <a:xfrm>
            <a:off x="609600" y="6438900"/>
            <a:ext cx="3810000" cy="2095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1050" b="0">
                <a:solidFill>
                  <a:srgbClr val="B9B9BE"/>
                </a:solidFill>
                <a:latin typeface="Arial"/>
                <a:ea typeface="Arial"/>
                <a:cs typeface="Arial"/>
              </a:rPr>
              <a:t xml:space="preserve">ARGUS  /  G04</a:t>
            </a:r>
            <a:endParaRPr lang="pt-BR" sz="1050"/>
          </a:p>
        </p:txBody>
      </p:sp>
      <p:sp>
        <p:nvSpPr>
          <p:cNvPr id="6" name="text 6"/>
          <p:cNvSpPr txBox="1"/>
          <p:nvPr/>
        </p:nvSpPr>
        <p:spPr>
          <a:xfrm>
            <a:off x="11287125" y="6429375"/>
            <a:ext cx="295275" cy="2381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8000"/>
              </a:lnSpc>
            </a:pPr>
            <a:r>
              <a:rPr lang="pt-BR" sz="1200" b="0">
                <a:solidFill>
                  <a:srgbClr val="B9B9BE"/>
                </a:solidFill>
                <a:latin typeface="Arial"/>
                <a:ea typeface="Arial"/>
                <a:cs typeface="Arial"/>
              </a:rPr>
              <a:t xml:space="preserve">22</a:t>
            </a:r>
            <a:endParaRPr lang="pt-BR" sz="1200"/>
          </a:p>
        </p:txBody>
      </p:sp>
      <p:graphicFrame>
        <p:nvGraphicFramePr>
          <p:cNvPr id="7" name="Tabela 7"/>
          <p:cNvGraphicFramePr/>
          <p:nvPr/>
        </p:nvGraphicFramePr>
        <p:xfrm>
          <a:off x="609600" y="1676400"/>
          <a:ext cx="10972800" cy="3314700"/>
        </p:xfrm>
        <a:graphic>
          <a:graphicData uri="http://schemas.openxmlformats.org/drawingml/2006/main/table">
            <a:tbl>
              <a:tblPr firstRow="1" bandRow="0">
                <a:tableStyleId>{5C22544A-7EE6-4342-B048-85BDC9FD1C3A}</a:tableStyleId>
              </a:tblPr>
              <a:tblGrid>
                <a:gridCol w="5486400"/>
                <a:gridCol w="2743200"/>
                <a:gridCol w="2743200"/>
              </a:tblGrid>
              <a:tr h="828675"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TCO em 3 anos, R$ milhões</a:t>
                      </a:r>
                      <a:endParaRPr lang="pt-BR" sz="2025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2A0905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Base acadêmica</a:t>
                      </a:r>
                      <a:endParaRPr lang="pt-BR" sz="2025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2A0905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Cenário pessimista</a:t>
                      </a:r>
                      <a:endParaRPr lang="pt-BR" sz="2025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2A0905"/>
                    </a:solidFill>
                  </a:tcPr>
                </a:tc>
              </a:tr>
              <a:tr h="828675"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2025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Manter o contrato assumido</a:t>
                      </a:r>
                      <a:endParaRPr lang="pt-BR" sz="2025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2025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12,192</a:t>
                      </a:r>
                      <a:endParaRPr lang="pt-BR" sz="2025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2025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12,192</a:t>
                      </a:r>
                      <a:endParaRPr lang="pt-BR" sz="2025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</a:tr>
              <a:tr h="828675"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2025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Construir + operar + residual</a:t>
                      </a:r>
                      <a:endParaRPr lang="pt-BR" sz="2025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2025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11,365</a:t>
                      </a:r>
                      <a:endParaRPr lang="pt-BR" sz="2025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2025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13,562</a:t>
                      </a:r>
                      <a:endParaRPr lang="pt-BR" sz="2025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</a:tr>
              <a:tr h="828675"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2025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Economia estimada</a:t>
                      </a:r>
                      <a:endParaRPr lang="pt-BR" sz="2025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2025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0,827</a:t>
                      </a:r>
                      <a:endParaRPr lang="pt-BR" sz="2025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2025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-1,370</a:t>
                      </a:r>
                      <a:endParaRPr lang="pt-BR" sz="2025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</a:tr>
            </a:tbl>
          </a:graphicData>
        </a:graphic>
      </p:graphicFrame>
      <p:sp>
        <p:nvSpPr>
          <p:cNvPr id="8" name="text 8"/>
          <p:cNvSpPr txBox="1"/>
          <p:nvPr/>
        </p:nvSpPr>
        <p:spPr>
          <a:xfrm>
            <a:off x="609600" y="5048250"/>
            <a:ext cx="2076450" cy="6191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3900" b="1">
                <a:solidFill>
                  <a:srgbClr val="FF1A00"/>
                </a:solidFill>
                <a:latin typeface="Arial"/>
                <a:ea typeface="Arial"/>
                <a:cs typeface="Arial"/>
              </a:rPr>
              <a:t xml:space="preserve">6,8%</a:t>
            </a:r>
            <a:endParaRPr lang="pt-BR" sz="3900"/>
          </a:p>
        </p:txBody>
      </p:sp>
      <p:sp>
        <p:nvSpPr>
          <p:cNvPr id="9" name="text 9"/>
          <p:cNvSpPr txBox="1"/>
          <p:nvPr/>
        </p:nvSpPr>
        <p:spPr>
          <a:xfrm>
            <a:off x="2952750" y="4991100"/>
            <a:ext cx="8601075" cy="6858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economia no cenário base</a:t>
            </a:r>
            <a:endParaRPr lang="pt-BR" sz="2175"/>
          </a:p>
          <a:p>
            <a:pPr algn="l">
              <a:lnSpc>
                <a:spcPct val="118000"/>
              </a:lnSpc>
            </a:pPr>
            <a:r>
              <a:rPr lang="pt-BR"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Virada acumulada perto do mês 25</a:t>
            </a:r>
            <a:endParaRPr lang="pt-BR" sz="2175"/>
          </a:p>
        </p:txBody>
      </p:sp>
      <p:sp>
        <p:nvSpPr>
          <p:cNvPr id="10" name="text 10"/>
          <p:cNvSpPr txBox="1"/>
          <p:nvPr/>
        </p:nvSpPr>
        <p:spPr>
          <a:xfrm>
            <a:off x="609600" y="5781675"/>
            <a:ext cx="10972800" cy="4286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1425" b="0">
                <a:solidFill>
                  <a:srgbClr val="B9B9BE"/>
                </a:solidFill>
                <a:latin typeface="Arial"/>
                <a:ea typeface="Arial"/>
                <a:cs typeface="Arial"/>
              </a:rPr>
              <a:t xml:space="preserve">Premissas sem validação do parceiro: contrato de R$ 4,064 mi/ano, substituição de 50% e rollout de 40% / 80% / 100%.</a:t>
            </a:r>
            <a:endParaRPr lang="pt-BR" sz="1425"/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 name="Conclusão: MVP funcional, evolução condicionada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 txBox="0"/>
          <p:nvPr/>
        </p:nvSpPr>
        <p:spPr>
          <a:xfrm>
            <a:off x="609600" y="514350"/>
            <a:ext cx="66675" cy="361950"/>
          </a:xfrm>
          <a:prstGeom prst="rect">
            <a:avLst/>
          </a:prstGeom>
          <a:solidFill>
            <a:srgbClr val="FF1A00"/>
          </a:solidFill>
          <a:ln w="9525">
            <a:noFill/>
            <a:prstDash val="solid"/>
          </a:ln>
        </p:spPr>
      </p:sp>
      <p:sp>
        <p:nvSpPr>
          <p:cNvPr id="3" name="text 3"/>
          <p:cNvSpPr txBox="1"/>
          <p:nvPr/>
        </p:nvSpPr>
        <p:spPr>
          <a:xfrm>
            <a:off x="866775" y="438150"/>
            <a:ext cx="10525125" cy="9144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Conclusão: MVP funcional, evolução condicionada</a:t>
            </a:r>
            <a:endParaRPr lang="pt-BR" sz="3150"/>
          </a:p>
        </p:txBody>
      </p:sp>
      <p:sp>
        <p:nvSpPr>
          <p:cNvPr id="4" name="line 4"/>
          <p:cNvSpPr txBox="0"/>
          <p:nvPr/>
        </p:nvSpPr>
        <p:spPr>
          <a:xfrm>
            <a:off x="609600" y="6315075"/>
            <a:ext cx="10972800" cy="0"/>
          </a:xfrm>
          <a:prstGeom prst="line">
            <a:avLst/>
          </a:prstGeom>
          <a:noFill/>
          <a:ln w="9525">
            <a:solidFill>
              <a:srgbClr val="363638"/>
            </a:solidFill>
            <a:prstDash val="solid"/>
          </a:ln>
        </p:spPr>
      </p:sp>
      <p:sp>
        <p:nvSpPr>
          <p:cNvPr id="5" name="text 5"/>
          <p:cNvSpPr txBox="1"/>
          <p:nvPr/>
        </p:nvSpPr>
        <p:spPr>
          <a:xfrm>
            <a:off x="609600" y="6438900"/>
            <a:ext cx="3810000" cy="2095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1050" b="0">
                <a:solidFill>
                  <a:srgbClr val="B9B9BE"/>
                </a:solidFill>
                <a:latin typeface="Arial"/>
                <a:ea typeface="Arial"/>
                <a:cs typeface="Arial"/>
              </a:rPr>
              <a:t xml:space="preserve">ARGUS  /  G04</a:t>
            </a:r>
            <a:endParaRPr lang="pt-BR" sz="1050"/>
          </a:p>
        </p:txBody>
      </p:sp>
      <p:sp>
        <p:nvSpPr>
          <p:cNvPr id="6" name="text 6"/>
          <p:cNvSpPr txBox="1"/>
          <p:nvPr/>
        </p:nvSpPr>
        <p:spPr>
          <a:xfrm>
            <a:off x="11287125" y="6429375"/>
            <a:ext cx="295275" cy="2381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8000"/>
              </a:lnSpc>
            </a:pPr>
            <a:r>
              <a:rPr lang="pt-BR" sz="1200" b="0">
                <a:solidFill>
                  <a:srgbClr val="B9B9BE"/>
                </a:solidFill>
                <a:latin typeface="Arial"/>
                <a:ea typeface="Arial"/>
                <a:cs typeface="Arial"/>
              </a:rPr>
              <a:t xml:space="preserve">23</a:t>
            </a:r>
            <a:endParaRPr lang="pt-BR" sz="1200"/>
          </a:p>
        </p:txBody>
      </p:sp>
      <p:sp>
        <p:nvSpPr>
          <p:cNvPr id="7" name="text 7"/>
          <p:cNvSpPr txBox="1"/>
          <p:nvPr/>
        </p:nvSpPr>
        <p:spPr>
          <a:xfrm>
            <a:off x="609600" y="1581150"/>
            <a:ext cx="10668000" cy="1143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O Argus reúne sinais e apresenta</a:t>
            </a:r>
            <a:endParaRPr lang="pt-BR" sz="3225"/>
          </a:p>
          <a:p>
            <a:pPr algn="l">
              <a:lnSpc>
                <a:spcPct val="118000"/>
              </a:lnSpc>
            </a:pPr>
            <a:r>
              <a:rPr lang="pt-BR"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causas candidatas verificáveis.</a:t>
            </a:r>
            <a:endParaRPr lang="pt-BR" sz="3225"/>
          </a:p>
        </p:txBody>
      </p:sp>
      <p:sp>
        <p:nvSpPr>
          <p:cNvPr id="8" name="text 8"/>
          <p:cNvSpPr txBox="1"/>
          <p:nvPr/>
        </p:nvSpPr>
        <p:spPr>
          <a:xfrm>
            <a:off x="609600" y="3276600"/>
            <a:ext cx="3619500" cy="4381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2400" b="1">
                <a:solidFill>
                  <a:srgbClr val="FF1A00"/>
                </a:solidFill>
                <a:latin typeface="Arial"/>
                <a:ea typeface="Arial"/>
                <a:cs typeface="Arial"/>
              </a:rPr>
              <a:t xml:space="preserve">Comprovado</a:t>
            </a:r>
            <a:endParaRPr lang="pt-BR" sz="2400"/>
          </a:p>
        </p:txBody>
      </p:sp>
      <p:sp>
        <p:nvSpPr>
          <p:cNvPr id="9" name="text 9"/>
          <p:cNvSpPr txBox="1"/>
          <p:nvPr/>
        </p:nvSpPr>
        <p:spPr>
          <a:xfrm>
            <a:off x="609600" y="3886200"/>
            <a:ext cx="4857750" cy="14097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Ingestão e leitura sob carga</a:t>
            </a:r>
            <a:endParaRPr lang="pt-BR" sz="2100"/>
          </a:p>
          <a:p>
            <a:pPr algn="l">
              <a:lnSpc>
                <a:spcPct val="118000"/>
              </a:lnSpc>
            </a:pPr>
            <a:r>
              <a:rPr lang="pt-BR"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Motor determinístico testado</a:t>
            </a:r>
            <a:endParaRPr lang="pt-BR" sz="2100"/>
          </a:p>
          <a:p>
            <a:pPr algn="l">
              <a:lnSpc>
                <a:spcPct val="118000"/>
              </a:lnSpc>
            </a:pPr>
            <a:r>
              <a:rPr lang="pt-BR"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Upload validado localmente</a:t>
            </a:r>
            <a:endParaRPr lang="pt-BR" sz="2100"/>
          </a:p>
        </p:txBody>
      </p:sp>
      <p:sp>
        <p:nvSpPr>
          <p:cNvPr id="10" name="text 10"/>
          <p:cNvSpPr txBox="1"/>
          <p:nvPr/>
        </p:nvSpPr>
        <p:spPr>
          <a:xfrm>
            <a:off x="6477000" y="3276600"/>
            <a:ext cx="4762500" cy="4381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2400" b="1">
                <a:solidFill>
                  <a:srgbClr val="FF1A00"/>
                </a:solidFill>
                <a:latin typeface="Arial"/>
                <a:ea typeface="Arial"/>
                <a:cs typeface="Arial"/>
              </a:rPr>
              <a:t xml:space="preserve">Próximo aceite</a:t>
            </a:r>
            <a:endParaRPr lang="pt-BR" sz="2400"/>
          </a:p>
        </p:txBody>
      </p:sp>
      <p:sp>
        <p:nvSpPr>
          <p:cNvPr id="11" name="text 11"/>
          <p:cNvSpPr txBox="1"/>
          <p:nvPr/>
        </p:nvSpPr>
        <p:spPr>
          <a:xfrm>
            <a:off x="6477000" y="3886200"/>
            <a:ext cx="5067300" cy="14097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Frescor medido ponta a ponta</a:t>
            </a:r>
            <a:endParaRPr lang="pt-BR" sz="2100"/>
          </a:p>
          <a:p>
            <a:pPr algn="l">
              <a:lnSpc>
                <a:spcPct val="118000"/>
              </a:lnSpc>
            </a:pPr>
            <a:r>
              <a:rPr lang="pt-BR"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Escala e recuperação na AWS</a:t>
            </a:r>
            <a:endParaRPr lang="pt-BR" sz="2100"/>
          </a:p>
          <a:p>
            <a:pPr algn="l">
              <a:lnSpc>
                <a:spcPct val="118000"/>
              </a:lnSpc>
            </a:pPr>
            <a:r>
              <a:rPr lang="pt-BR"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Custo e valor com dados do parceiro</a:t>
            </a:r>
            <a:endParaRPr lang="pt-BR" sz="2100"/>
          </a:p>
        </p:txBody>
      </p:sp>
      <p:sp>
        <p:nvSpPr>
          <p:cNvPr id="12" name="text 12"/>
          <p:cNvSpPr txBox="1"/>
          <p:nvPr/>
        </p:nvSpPr>
        <p:spPr>
          <a:xfrm>
            <a:off x="609600" y="5781675"/>
            <a:ext cx="10972800" cy="4286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1425" b="0">
                <a:solidFill>
                  <a:srgbClr val="B9B9BE"/>
                </a:solidFill>
                <a:latin typeface="Arial"/>
                <a:ea typeface="Arial"/>
                <a:cs typeface="Arial"/>
              </a:rPr>
              <a:t xml:space="preserve">O piloto deve medir tempo até hipótese útil, evidência correta e custo por evento persistido.</a:t>
            </a:r>
            <a:endParaRPr lang="pt-BR" sz="1425"/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 name="Obrigado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 txBox="0"/>
          <p:nvPr/>
        </p:nvSpPr>
        <p:spPr>
          <a:xfrm>
            <a:off x="7810500" y="1209675"/>
            <a:ext cx="3467100" cy="3467100"/>
          </a:xfrm>
          <a:prstGeom prst="ellipse">
            <a:avLst/>
          </a:prstGeom>
          <a:solidFill>
            <a:srgbClr val="440600"/>
          </a:solidFill>
          <a:ln w="9525">
            <a:noFill/>
            <a:prstDash val="solid"/>
          </a:ln>
        </p:spPr>
      </p:sp>
      <p:sp>
        <p:nvSpPr>
          <p:cNvPr id="3" name="ellipse 3"/>
          <p:cNvSpPr txBox="0"/>
          <p:nvPr/>
        </p:nvSpPr>
        <p:spPr>
          <a:xfrm>
            <a:off x="8096250" y="1495425"/>
            <a:ext cx="2895600" cy="2895600"/>
          </a:xfrm>
          <a:prstGeom prst="ellipse">
            <a:avLst/>
          </a:prstGeom>
          <a:solidFill>
            <a:srgbClr val="FF1A00"/>
          </a:solidFill>
          <a:ln w="9525">
            <a:noFill/>
            <a:prstDash val="solid"/>
          </a:ln>
        </p:spPr>
      </p:sp>
      <p:sp>
        <p:nvSpPr>
          <p:cNvPr id="4" name="ellipse 4"/>
          <p:cNvSpPr txBox="0"/>
          <p:nvPr/>
        </p:nvSpPr>
        <p:spPr>
          <a:xfrm>
            <a:off x="8448675" y="1847850"/>
            <a:ext cx="2190750" cy="2190750"/>
          </a:xfrm>
          <a:prstGeom prst="ellipse">
            <a:avLst/>
          </a:prstGeom>
          <a:solidFill>
            <a:srgbClr val="720600"/>
          </a:solidFill>
          <a:ln w="9525">
            <a:noFill/>
            <a:prstDash val="solid"/>
          </a:ln>
        </p:spPr>
      </p:sp>
      <p:sp>
        <p:nvSpPr>
          <p:cNvPr id="5" name="triangle 5"/>
          <p:cNvSpPr txBox="0"/>
          <p:nvPr/>
        </p:nvSpPr>
        <p:spPr>
          <a:xfrm>
            <a:off x="9191625" y="2381250"/>
            <a:ext cx="666750" cy="1057275"/>
          </a:xfrm>
          <a:custGeom>
            <a:avLst/>
            <a:gdLst/>
            <a:ahLst/>
            <a:cxnLst/>
            <a:rect l="0" t="0" r="w" b="h"/>
            <a:pathLst>
              <a:path w="100" h="100">
                <a:moveTo>
                  <a:pt x="0" y="0"/>
                </a:moveTo>
                <a:lnTo>
                  <a:pt x="100" y="50"/>
                </a:lnTo>
                <a:lnTo>
                  <a:pt x="0" y="100"/>
                </a:lnTo>
                <a:close/>
              </a:path>
            </a:pathLst>
          </a:custGeom>
          <a:solidFill>
            <a:srgbClr val="FF1A00"/>
          </a:solidFill>
          <a:ln w="9525">
            <a:noFill/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609600" y="542925"/>
            <a:ext cx="5715000" cy="8382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4950" b="1">
                <a:solidFill>
                  <a:srgbClr val="FF1A00"/>
                </a:solidFill>
                <a:latin typeface="Arial"/>
                <a:ea typeface="Arial"/>
                <a:cs typeface="Arial"/>
              </a:rPr>
              <a:t xml:space="preserve">ARGUS</a:t>
            </a:r>
            <a:endParaRPr lang="pt-BR" sz="4950"/>
          </a:p>
        </p:txBody>
      </p:sp>
      <p:sp>
        <p:nvSpPr>
          <p:cNvPr id="7" name="text 7"/>
          <p:cNvSpPr txBox="1"/>
          <p:nvPr/>
        </p:nvSpPr>
        <p:spPr>
          <a:xfrm>
            <a:off x="609600" y="2514600"/>
            <a:ext cx="11049000" cy="13716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8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OBRIGADO!</a:t>
            </a:r>
            <a:endParaRPr lang="pt-BR" sz="8250"/>
          </a:p>
        </p:txBody>
      </p:sp>
      <p:sp>
        <p:nvSpPr>
          <p:cNvPr id="8" name="text 8"/>
          <p:cNvSpPr txBox="1"/>
          <p:nvPr/>
        </p:nvSpPr>
        <p:spPr>
          <a:xfrm>
            <a:off x="657225" y="4667250"/>
            <a:ext cx="10477500" cy="5810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27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Vale a Pena Ver de Novo</a:t>
            </a:r>
            <a:endParaRPr lang="pt-BR" sz="2775"/>
          </a:p>
        </p:txBody>
      </p:sp>
      <p:sp>
        <p:nvSpPr>
          <p:cNvPr id="9" name="text 9"/>
          <p:cNvSpPr txBox="1"/>
          <p:nvPr/>
        </p:nvSpPr>
        <p:spPr>
          <a:xfrm>
            <a:off x="657225" y="5838825"/>
            <a:ext cx="10477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1800" b="0">
                <a:solidFill>
                  <a:srgbClr val="B9B9BE"/>
                </a:solidFill>
                <a:latin typeface="Arial"/>
                <a:ea typeface="Arial"/>
                <a:cs typeface="Arial"/>
              </a:rPr>
              <a:t xml:space="preserve">G04    /    Grupo Globo + Inteli</a:t>
            </a:r>
            <a:endParaRPr lang="pt-BR" sz="1800"/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 name="Apêndice: rastreabilidade dos resultados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 txBox="0"/>
          <p:nvPr/>
        </p:nvSpPr>
        <p:spPr>
          <a:xfrm>
            <a:off x="609600" y="514350"/>
            <a:ext cx="66675" cy="361950"/>
          </a:xfrm>
          <a:prstGeom prst="rect">
            <a:avLst/>
          </a:prstGeom>
          <a:solidFill>
            <a:srgbClr val="FF1A00"/>
          </a:solidFill>
          <a:ln w="9525">
            <a:noFill/>
            <a:prstDash val="solid"/>
          </a:ln>
        </p:spPr>
      </p:sp>
      <p:sp>
        <p:nvSpPr>
          <p:cNvPr id="3" name="text 3"/>
          <p:cNvSpPr txBox="1"/>
          <p:nvPr/>
        </p:nvSpPr>
        <p:spPr>
          <a:xfrm>
            <a:off x="866775" y="438150"/>
            <a:ext cx="10525125" cy="9144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Apêndice: rastreabilidade dos resultados</a:t>
            </a:r>
            <a:endParaRPr lang="pt-BR" sz="3150"/>
          </a:p>
        </p:txBody>
      </p:sp>
      <p:sp>
        <p:nvSpPr>
          <p:cNvPr id="4" name="line 4"/>
          <p:cNvSpPr txBox="0"/>
          <p:nvPr/>
        </p:nvSpPr>
        <p:spPr>
          <a:xfrm>
            <a:off x="609600" y="6315075"/>
            <a:ext cx="10972800" cy="0"/>
          </a:xfrm>
          <a:prstGeom prst="line">
            <a:avLst/>
          </a:prstGeom>
          <a:noFill/>
          <a:ln w="9525">
            <a:solidFill>
              <a:srgbClr val="363638"/>
            </a:solidFill>
            <a:prstDash val="solid"/>
          </a:ln>
        </p:spPr>
      </p:sp>
      <p:sp>
        <p:nvSpPr>
          <p:cNvPr id="5" name="text 5"/>
          <p:cNvSpPr txBox="1"/>
          <p:nvPr/>
        </p:nvSpPr>
        <p:spPr>
          <a:xfrm>
            <a:off x="609600" y="6438900"/>
            <a:ext cx="3810000" cy="2095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1050" b="0">
                <a:solidFill>
                  <a:srgbClr val="B9B9BE"/>
                </a:solidFill>
                <a:latin typeface="Arial"/>
                <a:ea typeface="Arial"/>
                <a:cs typeface="Arial"/>
              </a:rPr>
              <a:t xml:space="preserve">ARGUS  /  G04</a:t>
            </a:r>
            <a:endParaRPr lang="pt-BR" sz="1050"/>
          </a:p>
        </p:txBody>
      </p:sp>
      <p:sp>
        <p:nvSpPr>
          <p:cNvPr id="6" name="text 6"/>
          <p:cNvSpPr txBox="1"/>
          <p:nvPr/>
        </p:nvSpPr>
        <p:spPr>
          <a:xfrm>
            <a:off x="11287125" y="6429375"/>
            <a:ext cx="295275" cy="2381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8000"/>
              </a:lnSpc>
            </a:pPr>
            <a:r>
              <a:rPr lang="pt-BR" sz="1200" b="0">
                <a:solidFill>
                  <a:srgbClr val="B9B9BE"/>
                </a:solidFill>
                <a:latin typeface="Arial"/>
                <a:ea typeface="Arial"/>
                <a:cs typeface="Arial"/>
              </a:rPr>
              <a:t xml:space="preserve">25</a:t>
            </a:r>
            <a:endParaRPr lang="pt-BR" sz="1200"/>
          </a:p>
        </p:txBody>
      </p:sp>
      <p:graphicFrame>
        <p:nvGraphicFramePr>
          <p:cNvPr id="7" name="Tabela 7"/>
          <p:cNvGraphicFramePr/>
          <p:nvPr/>
        </p:nvGraphicFramePr>
        <p:xfrm>
          <a:off x="609600" y="1581150"/>
          <a:ext cx="10972800" cy="4057650"/>
        </p:xfrm>
        <a:graphic>
          <a:graphicData uri="http://schemas.openxmlformats.org/drawingml/2006/main/table">
            <a:tbl>
              <a:tblPr firstRow="1" bandRow="0">
                <a:tableStyleId>{5C22544A-7EE6-4342-B048-85BDC9FD1C3A}</a:tableStyleId>
              </a:tblPr>
              <a:tblGrid>
                <a:gridCol w="3730752"/>
                <a:gridCol w="7242048"/>
              </a:tblGrid>
              <a:tr h="676275"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Tema</a:t>
                      </a:r>
                      <a:endParaRPr lang="pt-BR" sz="1875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2A0905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Documento no repositório</a:t>
                      </a:r>
                      <a:endParaRPr lang="pt-BR" sz="1875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2A0905"/>
                    </a:solidFill>
                  </a:tcPr>
                </a:tc>
              </a:tr>
              <a:tr h="676275"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75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Arquitetura e recuperação</a:t>
                      </a:r>
                      <a:endParaRPr lang="pt-BR" sz="1875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75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artefatos/arquitetura-final.md</a:t>
                      </a:r>
                      <a:endParaRPr lang="pt-BR" sz="1875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</a:tr>
              <a:tr h="676275"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75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Carga e Kubernetes</a:t>
                      </a:r>
                      <a:endParaRPr lang="pt-BR" sz="1875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75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artefatos/testes-funcionais.md</a:t>
                      </a:r>
                      <a:endParaRPr lang="pt-BR" sz="1875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</a:tr>
              <a:tr h="676275"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75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Lotes e frescor</a:t>
                      </a:r>
                      <a:endParaRPr lang="pt-BR" sz="1875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75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artefatos/testes-carga-inicial.md</a:t>
                      </a:r>
                      <a:endParaRPr lang="pt-BR" sz="1875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</a:tr>
              <a:tr h="676275"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75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Upload, corte 05/10</a:t>
                      </a:r>
                      <a:endParaRPr lang="pt-BR" sz="1875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75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artefatos/plano-ingestao-arquivos.md</a:t>
                      </a:r>
                      <a:endParaRPr lang="pt-BR" sz="1875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</a:tr>
              <a:tr h="676275"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75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Premissas de TCO</a:t>
                      </a:r>
                      <a:endParaRPr lang="pt-BR" sz="1875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 wrap="square" lIns="0" tIns="0" rIns="0" bIns="0" anchor="t">
                      <a:no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lang="pt-BR" sz="1875" b="0">
                          <a:solidFill>
                            <a:srgbClr val="B9B9BE"/>
                          </a:solidFill>
                          <a:latin typeface="Arial"/>
                          <a:ea typeface="Arial"/>
                          <a:cs typeface="Arial"/>
                        </a:rPr>
                        <a:t xml:space="preserve">artefatos/entendimento_negocio.md</a:t>
                      </a:r>
                      <a:endParaRPr lang="pt-BR" sz="1875"/>
                    </a:p>
                  </a:txBody>
                  <a:tcPr marL="95250" marR="95250" marT="95250" marB="9525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363638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</a:tr>
            </a:tbl>
          </a:graphicData>
        </a:graphic>
      </p:graphicFrame>
      <p:sp>
        <p:nvSpPr>
          <p:cNvPr id="8" name="text 8"/>
          <p:cNvSpPr txBox="1"/>
          <p:nvPr/>
        </p:nvSpPr>
        <p:spPr>
          <a:xfrm>
            <a:off x="609600" y="5781675"/>
            <a:ext cx="10972800" cy="4286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pt-BR" sz="1425" b="0">
                <a:solidFill>
                  <a:srgbClr val="B9B9BE"/>
                </a:solidFill>
                <a:latin typeface="Arial"/>
                <a:ea typeface="Arial"/>
                <a:cs typeface="Arial"/>
              </a:rPr>
              <a:t xml:space="preserve">Preços oficiais AWS e fontes por slide nas notas. Corte do projeto: 06/10/2026, base f3c498e.</a:t>
            </a:r>
            <a:endParaRPr lang="pt-BR" sz="1425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gus">
  <a:themeElements>
    <a:clrScheme name="Argus">
      <a:dk1>
        <a:srgbClr val="0A0A0A"/>
      </a:dk1>
      <a:lt1>
        <a:srgbClr val="FFFFFF"/>
      </a:lt1>
      <a:dk2>
        <a:srgbClr val="171719"/>
      </a:dk2>
      <a:lt2>
        <a:srgbClr val="B9B9BE"/>
      </a:lt2>
      <a:accent1>
        <a:srgbClr val="FF1A00"/>
      </a:accent1>
      <a:accent2>
        <a:srgbClr val="820000"/>
      </a:accent2>
      <a:accent3>
        <a:srgbClr val="C0C0C0"/>
      </a:accent3>
      <a:accent4>
        <a:srgbClr val="808080"/>
      </a:accent4>
      <a:accent5>
        <a:srgbClr val="555555"/>
      </a:accent5>
      <a:accent6>
        <a:srgbClr val="AAAAAA"/>
      </a:accent6>
      <a:hlink>
        <a:srgbClr val="FF1A00"/>
      </a:hlink>
      <a:folHlink>
        <a:srgbClr val="CC1100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Argus">
      <a:fillStyleLst>
        <a:solidFill>
          <a:srgbClr val="FFFFFF"/>
        </a:solidFill>
        <a:solidFill>
          <a:srgbClr val="FFFFFF"/>
        </a:solidFill>
        <a:solidFill>
          <a:srgbClr val="FFFFFF"/>
        </a:solidFill>
      </a:fillStyleLst>
      <a:lnStyleLst>
        <a:ln w="9525">
          <a:solidFill>
            <a:srgbClr val="363638"/>
          </a:solidFill>
          <a:prstDash val="solid"/>
        </a:ln>
        <a:ln w="9525">
          <a:solidFill>
            <a:srgbClr val="363638"/>
          </a:solidFill>
          <a:prstDash val="solid"/>
        </a:ln>
        <a:ln w="9525">
          <a:solidFill>
            <a:srgbClr val="363638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rgbClr val="0A0A0A"/>
        </a:solidFill>
        <a:solidFill>
          <a:srgbClr val="0A0A0A"/>
        </a:solidFill>
        <a:solidFill>
          <a:srgbClr val="0A0A0A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Argus presentation builder</Application>
  <PresentationFormat>On-screen Show (16:9)</PresentationFormat>
  <Slides>25</Slides>
  <Notes>25</Notes>
</Properties>
</file>

<file path=docProps/core.xml><?xml version="1.0" encoding="utf-8"?>
<cp:coreProperties xmlns:cp="http://schemas.openxmlformats.org/package/2006/metadata/core-properties" xmlns:dc="http://purl.org/dc/elements/1.1/">
  <dc:title>Argus — Sprint 05</dc:title>
  <dc:creator>G04 — Vale a Pena Ver de Novo</dc:creator>
  <dc:description>Telemetria para diagnóstico de degradação de streaming. Corte 06/10/2026.</dc:description>
</cp:coreProperties>
</file>